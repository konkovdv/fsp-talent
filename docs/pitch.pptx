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  <p:sldId id="267" r:id="rId9"/>
    <p:sldId id="268" r:id="rId8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99290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556945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02.10.2026</a:t>
            </a:fld>
            <a:endParaRPr lang="ru-RU"/>
          </a:p>
        </p:txBody>
      </p:sp>
      <p:sp>
        <p:nvSpPr>
          <p:cNvPr id="1019053895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87910314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0961550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788486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Публичный стенд https://89-124-65-102.sslip.io. Аккаунты jury1…jury10, пароль demo12345. Инструкция запуска — docs/INSTALL.md. Стенд каждую ночь возвращается в исходное состояние.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P@10 0,632 против 0,559 у сортировки по резюме. Спирмен внутри категории 0,236 против 0,011. nDCG@10 0,649 против 0,620. Честно: строка без теста и без ФСП даёт nDCG@10 0,669, на этой разметке доказательства nDCG не поднимают. Их вклад — порядок внутри категории и меньше завышенных грейдов.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9,1 % — пар свежих заданий на код с тем же ответом (construction_check). 91,5 % — верные решения вдали от границы грейда, 2000 кандидатов. 0,0 % — сдача middle после 20 чужих сессий.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принятия имени и контактов нет ни в карточке, ни в ответе API. Вилка обязательна и подписана «до вычета НДФЛ».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Пробный тест: 15 заданий за 5 минут, итог с вероятностью, грейд не ставится. Ключ чужого экземпляра сдаёт 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Работодатель приглашает первым. Грейд даёт только тест. ФСП — отдельная ось. Контакты после согласия.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Название задачи уже на слайде. Название команды владелец впишет, если оно отличается от названия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074B4B-39AB-047E-79EB-88938F14CF3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Суть и уникальность говорим своими словами. Блок «О команде» владелец заполняет перед сдачей.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31E09D-B2C4-9940-0FE0-3B440CEBB76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8023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690548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Пять карточек без имён: роли на месте, имена и контакты присылает владелец.</a:t>
            </a:r>
          </a:p>
        </p:txBody>
      </p:sp>
      <p:sp>
        <p:nvSpPr>
          <p:cNvPr id="3163908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791495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03133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Историю команды заполняет владелец. Почему эта задача и какие были сложности — уже вписаны.</a:t>
            </a:r>
          </a:p>
        </p:txBody>
      </p:sp>
      <p:sp>
        <p:nvSpPr>
          <p:cNvPr id="164448636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Техническая суть слева, пилот с Федерацией справа. На защите этот слайд — последние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584F63-B638-7EF1-E9BE-D1C0CD4B492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— приложение для ответов на вопросы, его на защите не показываем.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84 % — то же решение повторного теста вдали от порога; каппа Коэна по всем парам 0,47. 65,8 % — точный грейд после пути по правилам продукта, в пределах ступени 98,8 %.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Спирмен нижней границы 0,752. Разряд — справка реестра. Ферма из 40 участий равна пустой истории: участие не прибавляет и не отнимает.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Чужие идентификаторы: 240 запросов, 0 ответов 2xx. Больше 1000 юнит-тестов, покрытие приложения 74,7 %.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Подключить ФСП ID и реестр по готовому контракту. Калибровка весов — на исходах приглашений.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460415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80466426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937953139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2272957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8166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245764098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9598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05.10.2026</a:t>
            </a:fld>
            <a:endParaRPr lang="ru-RU"/>
          </a:p>
        </p:txBody>
      </p:sp>
      <p:sp>
        <p:nvSpPr>
          <p:cNvPr id="79546961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9989875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153599928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925020604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82715869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34051461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10716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2161653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50783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05.10.2026</a:t>
            </a:fld>
            <a:endParaRPr lang="ru-RU"/>
          </a:p>
        </p:txBody>
      </p:sp>
      <p:sp>
        <p:nvSpPr>
          <p:cNvPr id="86943581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01170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78501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092851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05.10.2026</a:t>
            </a:fld>
            <a:endParaRPr lang="ru-RU"/>
          </a:p>
        </p:txBody>
      </p:sp>
      <p:sp>
        <p:nvSpPr>
          <p:cNvPr id="2056183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802207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2657798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135156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2282431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6944878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05.10.2026</a:t>
            </a:fld>
            <a:endParaRPr lang="ru-RU"/>
          </a:p>
        </p:txBody>
      </p:sp>
      <p:sp>
        <p:nvSpPr>
          <p:cNvPr id="52732886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3381782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1013785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0833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88063005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2143312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307577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27006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05.10.2026</a:t>
            </a:fld>
            <a:endParaRPr lang="ru-RU"/>
          </a:p>
        </p:txBody>
      </p:sp>
      <p:sp>
        <p:nvSpPr>
          <p:cNvPr id="132366595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0471725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4230138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3367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05.10.2026</a:t>
            </a:fld>
            <a:endParaRPr lang="ru-RU"/>
          </a:p>
        </p:txBody>
      </p:sp>
      <p:sp>
        <p:nvSpPr>
          <p:cNvPr id="16377889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63835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1613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31302632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3103486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8676776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05.10.2026</a:t>
            </a:fld>
            <a:endParaRPr lang="ru-RU"/>
          </a:p>
        </p:txBody>
      </p:sp>
      <p:sp>
        <p:nvSpPr>
          <p:cNvPr id="20252607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0222963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24206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05.10.2026</a:t>
            </a:fld>
            <a:endParaRPr lang="ru-RU"/>
          </a:p>
        </p:txBody>
      </p:sp>
      <p:sp>
        <p:nvSpPr>
          <p:cNvPr id="37286342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203331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8362177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5436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05.10.2026</a:t>
            </a:fld>
            <a:endParaRPr lang="ru-RU"/>
          </a:p>
        </p:txBody>
      </p:sp>
      <p:sp>
        <p:nvSpPr>
          <p:cNvPr id="151906129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220481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867907182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2267748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1411581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2872458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882112151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79249639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357097779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464183237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70129294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049212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943724108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531476919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70961313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21685722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07477206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027152132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263743197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116537544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498846460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9877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05.10.2026</a:t>
            </a:fld>
            <a:endParaRPr lang="ru-RU"/>
          </a:p>
        </p:txBody>
      </p:sp>
      <p:sp>
        <p:nvSpPr>
          <p:cNvPr id="1923957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05950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80736178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02629280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090613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78796208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6126613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88142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05.10.2026</a:t>
            </a:fld>
            <a:endParaRPr lang="ru-RU"/>
          </a:p>
        </p:txBody>
      </p:sp>
      <p:sp>
        <p:nvSpPr>
          <p:cNvPr id="14356194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345419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62825912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756439191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1679997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397924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9999065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87849421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3209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05.10.2026</a:t>
            </a:fld>
            <a:endParaRPr lang="ru-RU"/>
          </a:p>
        </p:txBody>
      </p:sp>
      <p:sp>
        <p:nvSpPr>
          <p:cNvPr id="1335110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728941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0530582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7719521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924963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2503980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249998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660292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79576996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24569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05.10.2026</a:t>
            </a:fld>
            <a:endParaRPr lang="ru-RU"/>
          </a:p>
        </p:txBody>
      </p:sp>
      <p:sp>
        <p:nvSpPr>
          <p:cNvPr id="19468041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855161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072640671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9047263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10037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590069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4141224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1458525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7951155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4654130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5361461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1651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05.10.2026</a:t>
            </a:fld>
            <a:endParaRPr lang="ru-RU"/>
          </a:p>
        </p:txBody>
      </p:sp>
      <p:sp>
        <p:nvSpPr>
          <p:cNvPr id="21284985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535416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387158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477997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247405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475738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43070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544833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788073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8030577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89054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158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05.10.2026</a:t>
            </a:fld>
            <a:endParaRPr lang="ru-RU"/>
          </a:p>
        </p:txBody>
      </p:sp>
      <p:sp>
        <p:nvSpPr>
          <p:cNvPr id="106260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700874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1593846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427893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20855630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93569355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3366629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530496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48981309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41664286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9837960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46102152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147538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12589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05.10.2026</a:t>
            </a:fld>
            <a:endParaRPr lang="ru-RU"/>
          </a:p>
        </p:txBody>
      </p:sp>
      <p:sp>
        <p:nvSpPr>
          <p:cNvPr id="168949620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97697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546844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3705040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20831291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04272510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212413278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2076895940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82475163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47976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71742865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05.10.2026</a:t>
            </a:fld>
            <a:endParaRPr lang="ru-RU"/>
          </a:p>
        </p:txBody>
      </p:sp>
      <p:sp>
        <p:nvSpPr>
          <p:cNvPr id="11811031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316308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87547075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4344117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501016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15915603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04206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05.10.2026</a:t>
            </a:fld>
            <a:endParaRPr lang="ru-RU"/>
          </a:p>
        </p:txBody>
      </p:sp>
      <p:sp>
        <p:nvSpPr>
          <p:cNvPr id="122758356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462670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10891859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6703192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29539246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7527894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427463960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1612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27863615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79101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6119832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9012501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4852642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715845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583780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3523849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342752159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697287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1379775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705281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897851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8919831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728011595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8110987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4223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31844001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00626453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4400694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761553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05.10.2026</a:t>
            </a:fld>
            <a:endParaRPr lang="ru-RU"/>
          </a:p>
        </p:txBody>
      </p:sp>
      <p:sp>
        <p:nvSpPr>
          <p:cNvPr id="70105334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8009931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49483550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11771125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122708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1670323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959811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9666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607455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90710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13457737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770526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t>ФСП Талант</a:t>
            </a:r>
            <a:endParaRPr lang="ru-RU" sz="4800"/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/>
              <a:t>Цифровая платформа-агрегатор ИТ-вакансий </a:t>
            </a:r>
            <a:br>
              <a:rPr lang="ru-RU"/>
            </a:br>
            <a:r>
              <a:rPr lang="ru-RU"/>
              <a:t>с верифицированным профилем достижений </a:t>
            </a:r>
            <a:br>
              <a:rPr lang="ru-RU"/>
            </a:br>
            <a:r>
              <a:rPr lang="ru-RU"/>
              <a:t>участника Федерации спортивного программирования (ФСП)</a:t>
            </a:r>
            <a:endParaRPr/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63902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791075830" name="Рисунок 1"/>
          <p:cNvSpPr>
            <a:spLocks noGrp="1"/>
          </p:cNvSpPr>
          <p:nvPr>
            <p:ph type="pic" sz="quarter" idx="10"/>
          </p:nvPr>
        </p:nvSpPr>
        <p:spPr bwMode="auto"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1898203353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391829878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Тест каждый раз с новыми числами. ФСП не меняет грейд. У каждой цифры есть команда проверки.</a:t>
            </a:r>
            <a:endParaRPr/>
          </a:p>
        </p:txBody>
      </p:sp>
      <p:sp>
        <p:nvSpPr>
          <p:cNvPr id="574213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Кол-во участников: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Краткое описание: 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заполнит владелец</a:t>
            </a:r>
            <a:endParaRPr/>
          </a:p>
        </p:txBody>
      </p:sp>
      <p:sp>
        <p:nvSpPr>
          <p:cNvPr id="2060098203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632337005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22515995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91418568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79138183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22160079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269694680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Работодатель сам находит человека и зовёт его с вилкой. Грейд подтверждает только тест.</a:t>
            </a:r>
            <a:endParaRPr/>
          </a:p>
        </p:txBody>
      </p:sp>
      <p:sp>
        <p:nvSpPr>
          <p:cNvPr id="1542776484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52881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82647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455614498" name="Текст 8"/>
          <p:cNvSpPr txBox="1"/>
          <p:nvPr/>
        </p:nvSpPr>
        <p:spPr bwMode="auto"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308009014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3970231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877699214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795216931" name="Скругленный прямоугольник 61"/>
          <p:cNvSpPr/>
          <p:nvPr/>
        </p:nvSpPr>
        <p:spPr bwMode="auto"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23892789" name="Текст 8"/>
          <p:cNvSpPr txBox="1"/>
          <p:nvPr/>
        </p:nvSpPr>
        <p:spPr bwMode="auto"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2137481810" name="Текст 8"/>
          <p:cNvSpPr txBox="1"/>
          <p:nvPr/>
        </p:nvSpPr>
        <p:spPr bwMode="auto"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495704989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86114225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314564340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107455172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6037873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837037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45448399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1949760256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1900966283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939672998" name="Рисунок 4"/>
          <p:cNvSpPr>
            <a:spLocks noGrp="1"/>
          </p:cNvSpPr>
          <p:nvPr>
            <p:ph type="pic" sz="quarter" idx="4294967295"/>
          </p:nvPr>
        </p:nvSpPr>
        <p:spPr bwMode="auto"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864865159" name="Рисунок 5"/>
          <p:cNvSpPr>
            <a:spLocks noGrp="1"/>
          </p:cNvSpPr>
          <p:nvPr>
            <p:ph type="pic" sz="quarter" idx="4294967295"/>
          </p:nvPr>
        </p:nvSpPr>
        <p:spPr bwMode="auto"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1739125768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Команда</a:t>
            </a:r>
            <a:endParaRPr lang="ru-RU">
              <a:latin typeface="Montserrat"/>
            </a:endParaRPr>
          </a:p>
        </p:txBody>
      </p:sp>
      <p:sp>
        <p:nvSpPr>
          <p:cNvPr id="212385793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/>
          </a:p>
        </p:txBody>
      </p:sp>
      <p:sp>
        <p:nvSpPr>
          <p:cNvPr id="8505129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036882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601970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3807029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Как шла работа</a:t>
            </a:r>
            <a:endParaRPr lang="ru-RU">
              <a:latin typeface="Montserrat"/>
            </a:endParaRPr>
          </a:p>
        </p:txBody>
      </p:sp>
      <p:sp>
        <p:nvSpPr>
          <p:cNvPr id="93808379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</p:txBody>
      </p:sp>
      <p:sp>
        <p:nvSpPr>
          <p:cNvPr id="1276612218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076718560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Одинаковые задания расходятся, поэтому числа в задаче каждый раз новые.</a:t>
            </a:r>
            <a:br>
              <a:rPr lang="ru-RU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>Разряд — факт реестра, а не расчёт по месту. Цифры печатает команда.</a:t>
            </a:r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/>
            </a:r>
            <a:r>
              <a:rPr lang="en-US">
                <a:solidFill>
                  <a:schemeClr val="tx1"/>
                </a:solidFill>
              </a:rPr>
              <a:t/>
            </a:r>
            <a:br>
              <a:rPr lang="en-US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/>
            </a:r>
            <a:endParaRPr/>
          </a:p>
        </p:txBody>
      </p:sp>
      <p:sp>
        <p:nvSpPr>
          <p:cNvPr id="1297905439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780692596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Резюме не подтверждает навык, а протокол ФСП подтверждает. Обратный найм убирает ленту случайных откликов.</a:t>
            </a:r>
            <a:endParaRPr/>
          </a:p>
        </p:txBody>
      </p:sp>
      <p:sp>
        <p:nvSpPr>
          <p:cNvPr id="183082336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86140990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8182128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62073617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535908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594510368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341763016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62119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0006283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15600012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62394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88100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Адаптивный тест на IRT 3PL останавливается, когда грейд ясен.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Задания параметрические: числа новые, сложность общая.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Подбор раскладывается на навыки, грейд, тест и ось ФСП.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Вход через ФСП ID: OpenID Connect с PKCE.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Строка протокола — подписанное удостоверение.</a:t>
            </a:r>
          </a:p>
        </p:txBody>
      </p:sp>
      <p:sp>
        <p:nvSpPr>
          <p:cNvPr id="55149428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Работодатель зовёт подходящих, а не читает ленту откликов.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Вилка известна до начала общения.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Спортивный результат виден как подтверждение, не как грейд.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Нет истории ФСП — человек не теряет место.</a:t>
            </a:r>
          </a:p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Дальше пилот с Федерацией: настоящий ФСП ID и реестр.</a:t>
            </a:r>
          </a:p>
        </p:txBody>
      </p:sp>
      <p:sp>
        <p:nvSpPr>
          <p:cNvPr id="20910734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198805850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202608740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зюме обещает, тест подтверждае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бный тест: шкала уверенности и нейтральный итог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иглашение с вилкой: имя и контакты открываются после согласи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ыученный ответ не подход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Карточка подборки: вклад теста и результатов ФСП в баллах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Жюри проходит тот же пут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опросы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шение о грейде держитс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Соревнования не поднимают грейд, статус не вес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веряется в CI и на стенд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илот с Федерацией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(16:9)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creator>Konkov Dmitrij</dc:creator>
  <cp:lastModifiedBy>Konkov Dmitrij</cp:lastModifiedBy>
  <cp:revision>98</cp:revision>
  <dcterms:created xsi:type="dcterms:W3CDTF">2023-05-15T07:36:23Z</dcterms:created>
  <dcterms:modified xsi:type="dcterms:W3CDTF">2026-10-10T21:59:11Z</dcterms:modified>
  <dc:subject>ЛЦТ 2026, трек Федерации спортивного программирования</dc:subject>
  <cp:category/>
  <cp:keywords/>
  <dc:description>pitch-html-sha256=ff854ec84a6e1d0fe11711bd5ccb8e8e70e3b2d1699eec819e4b0ca41e1e423e</dc:description>
</cp:coreProperties>
</file>