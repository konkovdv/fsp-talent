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1"/>
  </p:notesMasterIdLst>
  <p:sldIdLst>
    <p:sldId id="262" r:id="rId10"/>
    <p:sldId id="263" r:id="rId11"/>
    <p:sldId id="264" r:id="rId12"/>
    <p:sldId id="265" r:id="rId13"/>
    <p:sldId id="266" r:id="rId14"/>
    <p:sldId id="267" r:id="rId9"/>
    <p:sldId id="268" r:id="rId8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8" Type="http://schemas.openxmlformats.org/officeDocument/2006/relationships/slide" Target="slides/slide7.xml"/><Relationship Id="rId9" Type="http://schemas.openxmlformats.org/officeDocument/2006/relationships/slide" Target="slides/slide6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99290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35569455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02.10.2026</a:t>
            </a:fld>
            <a:endParaRPr lang="ru-RU"/>
          </a:p>
        </p:txBody>
      </p:sp>
      <p:sp>
        <p:nvSpPr>
          <p:cNvPr id="1019053895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87910314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09615501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27884862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Аккаунты jury1…jury10, пароль demo12345. Инструкция запуска — docs/INSTALL.md. Стенд каждую ночь возвращается в исходное состояние.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P@10 0,632 против 0,559 у сортировки по резюме. Спирмен внутри категории 0,240 против 0,011. nDCG@10 0,652 против 0,620.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0 % — ключ от другого экземпляра того же семейства. 91,5 % — верные решения вдали от границы грейда, 2000 кандидатов. 0,0 % — сдача middle после 20 чужих сессий.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 принятия имени и контактов нет ни в карточке, ни в ответе API. Вилка обязательна и подписана «до вычета НДФЛ».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Пробный тест: 15 заданий за 5 минут, итог с вероятностью, грейд не ставится. Ключ чужого экземпляра сдаёт 0 %.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Работодатель приглашает первым. Грейд даёт только тест. ФСП — отдельная ось. Контакты после согласия.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Название задачи уже на слайде. Название команды владелец впишет, если оно отличается от названия решения.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074B4B-39AB-047E-79EB-88938F14CF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Суть и уникальность говорим своими словами. Блок «О команде» владелец заполняет перед сдачей.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31E09D-B2C4-9940-0FE0-3B440CEBB7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28023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690548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Пять карточек без имён: роли на месте, имена и контакты присылает владелец.</a:t>
            </a:r>
          </a:p>
        </p:txBody>
      </p:sp>
      <p:sp>
        <p:nvSpPr>
          <p:cNvPr id="31639087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791495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031330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Историю команды заполняет владелец. Почему эта задача и какие были сложности — уже вписаны.</a:t>
            </a:r>
          </a:p>
        </p:txBody>
      </p:sp>
      <p:sp>
        <p:nvSpPr>
          <p:cNvPr id="1644486365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Техническая суть слева, пилот с Федерацией справа. На защите этот слайд — последние секунды.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584F63-B638-7EF1-E9BE-D1C0CD4B49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Дальше — приложение для ответов на вопросы, его на защите не показываем.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84 % — то же решение повторного теста вдали от порога. 65,1 % — точный грейд после пути по правилам продукта, в пределах ступени 98,6 %.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Спирмен нижней границы 0,707. Разряд — справка реестра. Ферма из 40 участий ниже двух побед.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Чужие идентификаторы: 124 запроса, 0 ответов 2xx. 810 тестов, покрытие приложения 73,9 %.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Подключить ФСП ID и реестр по готовому контракту. Калибровка весов — на исходах приглашений.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460415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1804664269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1937953139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222729575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68166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245764098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39598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05.10.2026</a:t>
            </a:fld>
            <a:endParaRPr lang="ru-RU"/>
          </a:p>
        </p:txBody>
      </p:sp>
      <p:sp>
        <p:nvSpPr>
          <p:cNvPr id="79546961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9989875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4</a:t>
            </a:fld>
            <a:endParaRPr lang="ru-RU"/>
          </a:p>
        </p:txBody>
      </p:sp>
      <p:sp>
        <p:nvSpPr>
          <p:cNvPr id="1535999287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925020604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827158692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34051461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41071641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321616532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50783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05.10.2026</a:t>
            </a:fld>
            <a:endParaRPr lang="ru-RU"/>
          </a:p>
        </p:txBody>
      </p:sp>
      <p:sp>
        <p:nvSpPr>
          <p:cNvPr id="86943581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011702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6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278501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092851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05.10.2026</a:t>
            </a:fld>
            <a:endParaRPr lang="ru-RU"/>
          </a:p>
        </p:txBody>
      </p:sp>
      <p:sp>
        <p:nvSpPr>
          <p:cNvPr id="205618330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8022073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726577981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135156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92282431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6944878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05.10.2026</a:t>
            </a:fld>
            <a:endParaRPr lang="ru-RU"/>
          </a:p>
        </p:txBody>
      </p:sp>
      <p:sp>
        <p:nvSpPr>
          <p:cNvPr id="52732886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3381782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2101378566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208333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88063005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2143312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3075779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2270063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05.10.2026</a:t>
            </a:fld>
            <a:endParaRPr lang="ru-RU"/>
          </a:p>
        </p:txBody>
      </p:sp>
      <p:sp>
        <p:nvSpPr>
          <p:cNvPr id="132366595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0471725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4230138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33675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05.10.2026</a:t>
            </a:fld>
            <a:endParaRPr lang="ru-RU"/>
          </a:p>
        </p:txBody>
      </p:sp>
      <p:sp>
        <p:nvSpPr>
          <p:cNvPr id="163778893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363835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161325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31302632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63103486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8676776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05.10.2026</a:t>
            </a:fld>
            <a:endParaRPr lang="ru-RU"/>
          </a:p>
        </p:txBody>
      </p:sp>
      <p:sp>
        <p:nvSpPr>
          <p:cNvPr id="20252607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0222963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242066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05.10.2026</a:t>
            </a:fld>
            <a:endParaRPr lang="ru-RU"/>
          </a:p>
        </p:txBody>
      </p:sp>
      <p:sp>
        <p:nvSpPr>
          <p:cNvPr id="37286342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1203331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8362177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5436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05.10.2026</a:t>
            </a:fld>
            <a:endParaRPr lang="ru-RU"/>
          </a:p>
        </p:txBody>
      </p:sp>
      <p:sp>
        <p:nvSpPr>
          <p:cNvPr id="151906129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2204815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867907182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2267748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114115814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702872458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882112151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792496394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357097779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464183237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701292942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04921295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943724108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531476919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709613132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21685722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07477206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027152132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263743197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116537544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498846460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98771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05.10.2026</a:t>
            </a:fld>
            <a:endParaRPr lang="ru-RU"/>
          </a:p>
        </p:txBody>
      </p:sp>
      <p:sp>
        <p:nvSpPr>
          <p:cNvPr id="1923957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205950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080736178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02629280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3090613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78796208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86126613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88142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05.10.2026</a:t>
            </a:fld>
            <a:endParaRPr lang="ru-RU"/>
          </a:p>
        </p:txBody>
      </p:sp>
      <p:sp>
        <p:nvSpPr>
          <p:cNvPr id="14356194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345419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62825912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1756439191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1679997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397924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9999065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87849421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32091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05.10.2026</a:t>
            </a:fld>
            <a:endParaRPr lang="ru-RU"/>
          </a:p>
        </p:txBody>
      </p:sp>
      <p:sp>
        <p:nvSpPr>
          <p:cNvPr id="1335110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9728941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70530582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77195215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9249637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25039807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42499985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4660292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79576996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24569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05.10.2026</a:t>
            </a:fld>
            <a:endParaRPr lang="ru-RU"/>
          </a:p>
        </p:txBody>
      </p:sp>
      <p:sp>
        <p:nvSpPr>
          <p:cNvPr id="19468041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855161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2072640671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90472635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10037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5900691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41412244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14585252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79511559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4654130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5361461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1651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05.10.2026</a:t>
            </a:fld>
            <a:endParaRPr lang="ru-RU"/>
          </a:p>
        </p:txBody>
      </p:sp>
      <p:sp>
        <p:nvSpPr>
          <p:cNvPr id="212849856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5354169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03871587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4779978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2474055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475738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4307044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8544833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7880738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8030577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889054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31588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05.10.2026</a:t>
            </a:fld>
            <a:endParaRPr lang="ru-RU"/>
          </a:p>
        </p:txBody>
      </p:sp>
      <p:sp>
        <p:nvSpPr>
          <p:cNvPr id="1062604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7008745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15938464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4278939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20855630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93569355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3366629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530496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48981309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41664286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98379602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46102152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1475389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312589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05.10.2026</a:t>
            </a:fld>
            <a:endParaRPr lang="ru-RU"/>
          </a:p>
        </p:txBody>
      </p:sp>
      <p:sp>
        <p:nvSpPr>
          <p:cNvPr id="168949620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6976971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54684492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37050408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20831291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042725103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212413278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2076895940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824751634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479762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71742865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05.10.2026</a:t>
            </a:fld>
            <a:endParaRPr lang="ru-RU"/>
          </a:p>
        </p:txBody>
      </p:sp>
      <p:sp>
        <p:nvSpPr>
          <p:cNvPr id="11811031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2316308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875470756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43441176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0501016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15915603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04206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05.10.2026</a:t>
            </a:fld>
            <a:endParaRPr lang="ru-RU"/>
          </a:p>
        </p:txBody>
      </p:sp>
      <p:sp>
        <p:nvSpPr>
          <p:cNvPr id="122758356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462670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510891859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67031928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29539246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75278949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427463960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21612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278636159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791019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61198320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9012501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48526428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87158458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583780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35238497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342752159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5697287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1379775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7052810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897851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89198313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05.10.2026</a:t>
            </a:fld>
            <a:endParaRPr lang="ru-RU"/>
          </a:p>
        </p:txBody>
      </p:sp>
      <p:sp>
        <p:nvSpPr>
          <p:cNvPr id="728011595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58110987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4223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31844001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00626453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4400694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7615536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05.10.2026</a:t>
            </a:fld>
            <a:endParaRPr lang="ru-RU"/>
          </a:p>
        </p:txBody>
      </p:sp>
      <p:sp>
        <p:nvSpPr>
          <p:cNvPr id="70105334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8009931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549483550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11771125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1227089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21670323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9598113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9666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26074559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3907107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05.10.2026</a:t>
            </a:fld>
            <a:endParaRPr lang="ru-RU"/>
          </a:p>
        </p:txBody>
      </p:sp>
      <p:sp>
        <p:nvSpPr>
          <p:cNvPr id="134577373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7705269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6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78752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t>ФСП Талант</a:t>
            </a:r>
            <a:endParaRPr lang="ru-RU" sz="4800"/>
          </a:p>
        </p:txBody>
      </p:sp>
      <p:sp>
        <p:nvSpPr>
          <p:cNvPr id="1436879255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463" indent="-3175">
              <a:defRPr/>
            </a:pPr>
            <a:r>
              <a:rPr lang="ru-RU"/>
              <a:t>Цифровая платформа-агрегатор ИТ-вакансий </a:t>
            </a:r>
            <a:br>
              <a:rPr lang="ru-RU"/>
            </a:br>
            <a:r>
              <a:rPr lang="ru-RU"/>
              <a:t>с верифицированным профилем достижений </a:t>
            </a:r>
            <a:br>
              <a:rPr lang="ru-RU"/>
            </a:br>
            <a:r>
              <a:rPr lang="ru-RU"/>
              <a:t>участника Федерации спортивного программирования (ФСП)</a:t>
            </a:r>
            <a:endParaRPr/>
          </a:p>
        </p:txBody>
      </p:sp>
      <p:sp>
        <p:nvSpPr>
          <p:cNvPr id="277087899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1955825710" name="Рисунок 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46075" y="631174"/>
            <a:ext cx="4905194" cy="6200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63902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791075830" name="Рисунок 1"/>
          <p:cNvSpPr>
            <a:spLocks noGrp="1"/>
          </p:cNvSpPr>
          <p:nvPr>
            <p:ph type="pic" sz="quarter" idx="10"/>
          </p:nvPr>
        </p:nvSpPr>
        <p:spPr bwMode="auto">
          <a:xfrm>
            <a:off x="0" y="335267"/>
            <a:ext cx="6456363" cy="2971784"/>
          </a:xfrm>
        </p:spPr>
        <p:txBody>
          <a:bodyPr/>
          <a:p/>
        </p:txBody>
      </p:sp>
      <p:sp>
        <p:nvSpPr>
          <p:cNvPr id="1898203353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391829878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Тест каждый раз с новыми числами. ФСП не меняет грейд. У каждой цифры есть команда проверки.</a:t>
            </a:r>
            <a:endParaRPr/>
          </a:p>
        </p:txBody>
      </p:sp>
      <p:sp>
        <p:nvSpPr>
          <p:cNvPr id="57421302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Капитан: </a:t>
            </a:r>
            <a:r>
              <a:rPr lang="ru-RU">
                <a:solidFill>
                  <a:schemeClr val="tx1"/>
                </a:solidFill>
              </a:rPr>
              <a:t>заполнит владелец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Кол-во участников: </a:t>
            </a:r>
            <a:r>
              <a:rPr lang="ru-RU">
                <a:solidFill>
                  <a:schemeClr val="tx1"/>
                </a:solidFill>
              </a:rPr>
              <a:t>заполнит владелец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Краткое описание: заполнит владелец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Город и регион: заполнит владелец</a:t>
            </a:r>
            <a:endParaRPr/>
          </a:p>
        </p:txBody>
      </p:sp>
      <p:sp>
        <p:nvSpPr>
          <p:cNvPr id="2060098203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1632337005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endParaRPr lang="ru-RU" sz="240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22515995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91418568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79138183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2160079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269694680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Работодатель сам находит человека и зовёт его с вилкой. Грейд подтверждает только тест.</a:t>
            </a:r>
            <a:endParaRPr/>
          </a:p>
        </p:txBody>
      </p:sp>
      <p:sp>
        <p:nvSpPr>
          <p:cNvPr id="1542776484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8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52881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2782647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455614498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заполнит владелец</a:t>
            </a:r>
            <a:endParaRPr/>
          </a:p>
        </p:txBody>
      </p:sp>
      <p:sp>
        <p:nvSpPr>
          <p:cNvPr id="308009014" name="Скругленный прямоугольник 58"/>
          <p:cNvSpPr/>
          <p:nvPr/>
        </p:nvSpPr>
        <p:spPr bwMode="auto"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53970231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877699214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заполнит владелец</a:t>
            </a:r>
            <a:endParaRPr/>
          </a:p>
        </p:txBody>
      </p:sp>
      <p:sp>
        <p:nvSpPr>
          <p:cNvPr id="795216931" name="Скругленный прямоугольник 61"/>
          <p:cNvSpPr/>
          <p:nvPr/>
        </p:nvSpPr>
        <p:spPr bwMode="auto">
          <a:xfrm>
            <a:off x="726203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23892789" name="Текст 8"/>
          <p:cNvSpPr txBox="1"/>
          <p:nvPr/>
        </p:nvSpPr>
        <p:spPr bwMode="auto"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2137481810" name="Текст 8"/>
          <p:cNvSpPr txBox="1"/>
          <p:nvPr/>
        </p:nvSpPr>
        <p:spPr bwMode="auto"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заполнит владелец</a:t>
            </a:r>
            <a:endParaRPr/>
          </a:p>
        </p:txBody>
      </p:sp>
      <p:sp>
        <p:nvSpPr>
          <p:cNvPr id="495704989" name="Скругленный прямоугольник 64"/>
          <p:cNvSpPr/>
          <p:nvPr/>
        </p:nvSpPr>
        <p:spPr bwMode="auto">
          <a:xfrm>
            <a:off x="9567349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86114225" name="Текст 8"/>
          <p:cNvSpPr txBox="1"/>
          <p:nvPr/>
        </p:nvSpPr>
        <p:spPr bwMode="auto"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314564340" name="Текст 8"/>
          <p:cNvSpPr txBox="1"/>
          <p:nvPr/>
        </p:nvSpPr>
        <p:spPr bwMode="auto"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заполнит владелец</a:t>
            </a:r>
            <a:endParaRPr/>
          </a:p>
        </p:txBody>
      </p:sp>
      <p:sp>
        <p:nvSpPr>
          <p:cNvPr id="1074551726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56037873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83703756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445448399" name="Рисунок 1"/>
          <p:cNvSpPr>
            <a:spLocks noGrp="1"/>
          </p:cNvSpPr>
          <p:nvPr>
            <p:ph type="pic" sz="quarter" idx="4294967295"/>
          </p:nvPr>
        </p:nvSpPr>
        <p:spPr bwMode="auto">
          <a:xfrm>
            <a:off x="581397" y="1816054"/>
            <a:ext cx="1722566" cy="1552901"/>
          </a:xfrm>
        </p:spPr>
        <p:txBody>
          <a:bodyPr/>
          <a:p/>
        </p:txBody>
      </p:sp>
      <p:sp>
        <p:nvSpPr>
          <p:cNvPr id="1949760256" name="Рисунок 2"/>
          <p:cNvSpPr>
            <a:spLocks noGrp="1"/>
          </p:cNvSpPr>
          <p:nvPr>
            <p:ph type="pic" sz="quarter" idx="4294967295"/>
          </p:nvPr>
        </p:nvSpPr>
        <p:spPr bwMode="auto">
          <a:xfrm>
            <a:off x="2886467" y="1826554"/>
            <a:ext cx="1722566" cy="1542401"/>
          </a:xfrm>
        </p:spPr>
        <p:txBody>
          <a:bodyPr/>
          <a:p/>
        </p:txBody>
      </p:sp>
      <p:sp>
        <p:nvSpPr>
          <p:cNvPr id="1900966283" name="Рисунок 3"/>
          <p:cNvSpPr>
            <a:spLocks noGrp="1"/>
          </p:cNvSpPr>
          <p:nvPr>
            <p:ph type="pic" sz="quarter" idx="4294967295"/>
          </p:nvPr>
        </p:nvSpPr>
        <p:spPr bwMode="auto">
          <a:xfrm>
            <a:off x="5191784" y="1809238"/>
            <a:ext cx="1722567" cy="1559717"/>
          </a:xfrm>
        </p:spPr>
        <p:txBody>
          <a:bodyPr/>
          <a:p/>
        </p:txBody>
      </p:sp>
      <p:sp>
        <p:nvSpPr>
          <p:cNvPr id="939672998" name="Рисунок 4"/>
          <p:cNvSpPr>
            <a:spLocks noGrp="1"/>
          </p:cNvSpPr>
          <p:nvPr>
            <p:ph type="pic" sz="quarter" idx="4294967295"/>
          </p:nvPr>
        </p:nvSpPr>
        <p:spPr bwMode="auto">
          <a:xfrm>
            <a:off x="7520208" y="1809238"/>
            <a:ext cx="1722567" cy="1559717"/>
          </a:xfrm>
        </p:spPr>
        <p:txBody>
          <a:bodyPr/>
          <a:p/>
        </p:txBody>
      </p:sp>
      <p:sp>
        <p:nvSpPr>
          <p:cNvPr id="864865159" name="Рисунок 5"/>
          <p:cNvSpPr>
            <a:spLocks noGrp="1"/>
          </p:cNvSpPr>
          <p:nvPr>
            <p:ph type="pic" sz="quarter" idx="4294967295"/>
          </p:nvPr>
        </p:nvSpPr>
        <p:spPr bwMode="auto">
          <a:xfrm>
            <a:off x="9802422" y="1809238"/>
            <a:ext cx="1722566" cy="1559717"/>
          </a:xfrm>
        </p:spPr>
        <p:txBody>
          <a:bodyPr/>
          <a:p/>
        </p:txBody>
      </p:sp>
      <p:sp>
        <p:nvSpPr>
          <p:cNvPr id="1739125768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t>Команда</a:t>
            </a:r>
            <a:endParaRPr lang="ru-RU">
              <a:latin typeface="Montserrat"/>
            </a:endParaRPr>
          </a:p>
        </p:txBody>
      </p:sp>
      <p:sp>
        <p:nvSpPr>
          <p:cNvPr id="2123857935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/>
          </a:p>
        </p:txBody>
      </p:sp>
      <p:sp>
        <p:nvSpPr>
          <p:cNvPr id="850512963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заполнит владелец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5036882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60197056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203807029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t>Как шла работа</a:t>
            </a:r>
            <a:endParaRPr lang="ru-RU">
              <a:latin typeface="Montserrat"/>
            </a:endParaRPr>
          </a:p>
        </p:txBody>
      </p:sp>
      <p:sp>
        <p:nvSpPr>
          <p:cNvPr id="938083795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заполнит владелец</a:t>
            </a:r>
            <a:endParaRPr/>
          </a:p>
        </p:txBody>
      </p:sp>
      <p:sp>
        <p:nvSpPr>
          <p:cNvPr id="1276612218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076718560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Одинаковые задания расходятся, поэтому числа в задаче каждый раз новые.</a:t>
            </a:r>
            <a:br>
              <a:rPr lang="ru-RU">
                <a:solidFill>
                  <a:schemeClr val="tx1"/>
                </a:solidFill>
              </a:rPr>
            </a:br>
            <a:r>
              <a:rPr lang="ru-RU">
                <a:solidFill>
                  <a:schemeClr val="tx1"/>
                </a:solidFill>
              </a:rPr>
              <a:t>Разряд — факт реестра, а не расчёт по месту. Цифры печатает команда.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/>
            </a:r>
            <a:r>
              <a:rPr lang="en-US">
                <a:solidFill>
                  <a:schemeClr val="tx1"/>
                </a:solidFill>
              </a:rPr>
              <a:t/>
            </a:r>
            <a:br>
              <a:rPr lang="en-US">
                <a:solidFill>
                  <a:schemeClr val="tx1"/>
                </a:solidFill>
              </a:rPr>
            </a:br>
            <a:r>
              <a:rPr lang="ru-RU">
                <a:solidFill>
                  <a:schemeClr val="tx1"/>
                </a:solidFill>
              </a:rPr>
              <a:t/>
            </a:r>
            <a:endParaRPr/>
          </a:p>
        </p:txBody>
      </p:sp>
      <p:sp>
        <p:nvSpPr>
          <p:cNvPr id="1297905439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780692596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Резюме не подтверждает навык, а протокол ФСП подтверждает. Обратный найм убирает ленту случайных откликов.</a:t>
            </a:r>
            <a:endParaRPr/>
          </a:p>
        </p:txBody>
      </p:sp>
      <p:sp>
        <p:nvSpPr>
          <p:cNvPr id="1830823363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861409908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8182128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62073617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5359089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594510368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341763016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621191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00062839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15600012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1623946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3988100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 wrap="square"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Адаптивный тест на IRT 3PL останавливается, когда грейд ясен.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Задания параметрические: числа новые, сложность общая.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Подбор раскладывается на навыки, грейд, тест и ось ФСП.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Вход через ФСП ID: OpenID Connect с PKCE.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Строка протокола — подписанное удостоверение.</a:t>
            </a:r>
          </a:p>
        </p:txBody>
      </p:sp>
      <p:sp>
        <p:nvSpPr>
          <p:cNvPr id="551494281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 wrap="square"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Работодатель зовёт подходящих, а не читает ленту откликов.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Вилка известна до начала общения.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Спортивный результат виден как подтверждение, не как грейд.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Нет истории ФСП — человек не теряет место.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Дальше пилот с Федерацией: настоящий ФСП ID и реестр.</a:t>
            </a:r>
          </a:p>
        </p:txBody>
      </p:sp>
      <p:sp>
        <p:nvSpPr>
          <p:cNvPr id="20910734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1988058502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202608740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Резюме обещает, тест подтверждае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Пробный тест: шкала уверенности и нейтральный итог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Приглашение с вилкой: имя и контакты открываются после согласи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Выученный ответ не подходи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Карточка подборки: вклад теста и результатов ФСП в баллах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Жюри проходит тот же путь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Вопросы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Решение о грейде держитс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Соревнования не поднимают грейд, статус не веси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Проверяется в CI и на стенд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Пилот с Федерацией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(16:9)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ФСП Талант — обратный найм</dc:title>
  <dc:creator>Konkov Dmitrij</dc:creator>
  <cp:lastModifiedBy>Konkov Dmitrij</cp:lastModifiedBy>
  <cp:revision>98</cp:revision>
  <dcterms:created xsi:type="dcterms:W3CDTF">2023-05-15T07:36:23Z</dcterms:created>
  <dcterms:modified xsi:type="dcterms:W3CDTF">2026-10-09T17:45:41Z</dcterms:modified>
  <dc:subject>ЛЦТ 2026, трек Федерации спортивного программирования</dc:subject>
  <cp:category/>
  <cp:keywords/>
  <dc:description>pitch-html-sha256=760081ed5bc3b354b725ac3240e23969f855280c9879f565b22479208d85092c</dc:description>
</cp:coreProperties>
</file>