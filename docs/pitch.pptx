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B1C2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402FFF"/>
          </a:solidFill>
          <a:ln/>
        </p:spPr>
      </p:sp>
      <p:sp>
        <p:nvSpPr>
          <p:cNvPr id="3" name="Shape 1"/>
          <p:cNvSpPr/>
          <p:nvPr/>
        </p:nvSpPr>
        <p:spPr>
          <a:xfrm>
            <a:off x="109728" y="0"/>
            <a:ext cx="54864" cy="6858000"/>
          </a:xfrm>
          <a:prstGeom prst="rect">
            <a:avLst/>
          </a:prstGeom>
          <a:solidFill>
            <a:srgbClr val="EC1D35"/>
          </a:solidFill>
          <a:ln/>
        </p:spPr>
      </p:sp>
      <p:sp>
        <p:nvSpPr>
          <p:cNvPr id="4" name="Text 2"/>
          <p:cNvSpPr/>
          <p:nvPr/>
        </p:nvSpPr>
        <p:spPr>
          <a:xfrm>
            <a:off x="502920" y="1554480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spc="200" kern="0" dirty="0">
                <a:solidFill>
                  <a:srgbClr val="C8C9C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ЛЦТ 2026 · ФЕДЕРАЦИЯ СПОРТИВНОГО ПРОГРАММИРОВАНИЯ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502920" y="1874520"/>
            <a:ext cx="111556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ФСП Талант: работодатель находит человека, а не наоборот</a:t>
            </a:r>
            <a:endParaRPr lang="en-US" sz="3000" dirty="0"/>
          </a:p>
        </p:txBody>
      </p:sp>
      <p:sp>
        <p:nvSpPr>
          <p:cNvPr id="6" name="Text 4"/>
          <p:cNvSpPr/>
          <p:nvPr/>
        </p:nvSpPr>
        <p:spPr>
          <a:xfrm>
            <a:off x="502920" y="3017520"/>
            <a:ext cx="10058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EDEDE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Подтверждённый тестом грейд, объяснимая подборка и контакты только после согласия кандидата.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10881360" y="630936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C5E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/ 10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7F7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402FFF"/>
          </a:solidFill>
          <a:ln/>
        </p:spPr>
      </p:sp>
      <p:sp>
        <p:nvSpPr>
          <p:cNvPr id="3" name="Shape 1"/>
          <p:cNvSpPr/>
          <p:nvPr/>
        </p:nvSpPr>
        <p:spPr>
          <a:xfrm>
            <a:off x="109728" y="0"/>
            <a:ext cx="54864" cy="6858000"/>
          </a:xfrm>
          <a:prstGeom prst="rect">
            <a:avLst/>
          </a:prstGeom>
          <a:solidFill>
            <a:srgbClr val="EC1D35"/>
          </a:solidFill>
          <a:ln/>
        </p:spPr>
      </p:sp>
      <p:sp>
        <p:nvSpPr>
          <p:cNvPr id="4" name="Text 2"/>
          <p:cNvSpPr/>
          <p:nvPr/>
        </p:nvSpPr>
        <p:spPr>
          <a:xfrm>
            <a:off x="502920" y="457200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spc="200" kern="0" dirty="0">
                <a:solidFill>
                  <a:srgbClr val="402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ПРОБЛЕМА И ОТВЕТ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502920" y="777240"/>
            <a:ext cx="111556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B1C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Резюме обещает, тест подтверждает</a:t>
            </a:r>
            <a:endParaRPr lang="en-US" sz="3000" dirty="0"/>
          </a:p>
        </p:txBody>
      </p:sp>
      <p:sp>
        <p:nvSpPr>
          <p:cNvPr id="6" name="Shape 4"/>
          <p:cNvSpPr/>
          <p:nvPr/>
        </p:nvSpPr>
        <p:spPr>
          <a:xfrm>
            <a:off x="502920" y="1737360"/>
            <a:ext cx="11155680" cy="1234440"/>
          </a:xfrm>
          <a:prstGeom prst="roundRect">
            <a:avLst>
              <a:gd name="adj" fmla="val 5926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31520" y="1874520"/>
            <a:ext cx="106984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B1C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Проблема. </a:t>
            </a:r>
            <a:pPr indent="0" marL="0">
              <a:buNone/>
            </a:pPr>
            <a:r>
              <a:rPr lang="en-US" sz="1700" dirty="0">
                <a:solidFill>
                  <a:srgbClr val="1B1C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Работодатель видит заявленный грейд и список технологий. Сортировка по резюме ставит в первую десятку 28 % людей с завышенным грейдом.</a:t>
            </a:r>
            <a:endParaRPr lang="en-US" sz="1700" dirty="0"/>
          </a:p>
        </p:txBody>
      </p:sp>
      <p:sp>
        <p:nvSpPr>
          <p:cNvPr id="8" name="Shape 6"/>
          <p:cNvSpPr/>
          <p:nvPr/>
        </p:nvSpPr>
        <p:spPr>
          <a:xfrm>
            <a:off x="502920" y="3200400"/>
            <a:ext cx="11155680" cy="1234440"/>
          </a:xfrm>
          <a:prstGeom prst="roundRect">
            <a:avLst>
              <a:gd name="adj" fmla="val 5926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31520" y="3337560"/>
            <a:ext cx="106984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B1C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Ответ. </a:t>
            </a:r>
            <a:pPr indent="0" marL="0">
              <a:buNone/>
            </a:pPr>
            <a:r>
              <a:rPr lang="en-US" sz="1700" dirty="0">
                <a:solidFill>
                  <a:srgbClr val="1B1C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Грейд даёт только адаптивный тест специализации. Результаты ФСП — отдельная подтверждённая ось, без неё человек не теряет место.</a:t>
            </a:r>
            <a:endParaRPr lang="en-US" sz="1700" dirty="0"/>
          </a:p>
        </p:txBody>
      </p:sp>
      <p:sp>
        <p:nvSpPr>
          <p:cNvPr id="10" name="Shape 8"/>
          <p:cNvSpPr/>
          <p:nvPr/>
        </p:nvSpPr>
        <p:spPr>
          <a:xfrm>
            <a:off x="502920" y="4663440"/>
            <a:ext cx="11155680" cy="1234440"/>
          </a:xfrm>
          <a:prstGeom prst="roundRect">
            <a:avLst>
              <a:gd name="adj" fmla="val 5926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731520" y="4800600"/>
            <a:ext cx="106984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B1C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Механика. </a:t>
            </a:r>
            <a:pPr indent="0" marL="0">
              <a:buNone/>
            </a:pPr>
            <a:r>
              <a:rPr lang="en-US" sz="1700" dirty="0">
                <a:solidFill>
                  <a:srgbClr val="1B1C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Работодатель описывает потребность, получает подборку с разбором каждого места и приглашает первым, сразу с вилкой.</a:t>
            </a:r>
            <a:endParaRPr lang="en-US" sz="1700" dirty="0"/>
          </a:p>
        </p:txBody>
      </p:sp>
      <p:sp>
        <p:nvSpPr>
          <p:cNvPr id="12" name="Text 10"/>
          <p:cNvSpPr/>
          <p:nvPr/>
        </p:nvSpPr>
        <p:spPr>
          <a:xfrm>
            <a:off x="502920" y="626364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C5E6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cd backend &amp;&amp; python -m app.validation.matching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10881360" y="630936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C5E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/ 10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7F7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402FFF"/>
          </a:solidFill>
          <a:ln/>
        </p:spPr>
      </p:sp>
      <p:sp>
        <p:nvSpPr>
          <p:cNvPr id="3" name="Shape 1"/>
          <p:cNvSpPr/>
          <p:nvPr/>
        </p:nvSpPr>
        <p:spPr>
          <a:xfrm>
            <a:off x="109728" y="0"/>
            <a:ext cx="54864" cy="6858000"/>
          </a:xfrm>
          <a:prstGeom prst="rect">
            <a:avLst/>
          </a:prstGeom>
          <a:solidFill>
            <a:srgbClr val="EC1D35"/>
          </a:solidFill>
          <a:ln/>
        </p:spPr>
      </p:sp>
      <p:sp>
        <p:nvSpPr>
          <p:cNvPr id="4" name="Text 2"/>
          <p:cNvSpPr/>
          <p:nvPr/>
        </p:nvSpPr>
        <p:spPr>
          <a:xfrm>
            <a:off x="502920" y="457200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spc="200" kern="0" dirty="0">
                <a:solidFill>
                  <a:srgbClr val="402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ПУТЬ ЗА ТРИ МИНУТЫ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502920" y="777240"/>
            <a:ext cx="111556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B1C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Опрос, пробный тест, категория</a:t>
            </a:r>
            <a:endParaRPr lang="en-US" sz="3000" dirty="0"/>
          </a:p>
        </p:txBody>
      </p:sp>
      <p:pic>
        <p:nvPicPr>
          <p:cNvPr id="6" name="Image 0" descr="Пробный тест: шкала уверенности и нейтральный итог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1600200"/>
            <a:ext cx="6949440" cy="434340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7726680" y="1600200"/>
            <a:ext cx="4023360" cy="4343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1B1C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Кандидат выбирает специализацию и грейд, стаж только подсказывает.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1B1C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Пробный тест: 15 заданий за 5 минут и нейтральный итог с вероятностью уровня.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1B1C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Проверить самим: jury1…jury10, пароль demo12345.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1B1C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Репозиторий: github.com/KonkovDV/fsp-talent</a:t>
            </a:r>
            <a:endParaRPr lang="en-US" sz="1600" dirty="0"/>
          </a:p>
        </p:txBody>
      </p:sp>
      <p:sp>
        <p:nvSpPr>
          <p:cNvPr id="8" name="Text 5"/>
          <p:cNvSpPr/>
          <p:nvPr/>
        </p:nvSpPr>
        <p:spPr>
          <a:xfrm>
            <a:off x="10881360" y="630936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C5E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 / 10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7F7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402FFF"/>
          </a:solidFill>
          <a:ln/>
        </p:spPr>
      </p:sp>
      <p:sp>
        <p:nvSpPr>
          <p:cNvPr id="3" name="Shape 1"/>
          <p:cNvSpPr/>
          <p:nvPr/>
        </p:nvSpPr>
        <p:spPr>
          <a:xfrm>
            <a:off x="109728" y="0"/>
            <a:ext cx="54864" cy="6858000"/>
          </a:xfrm>
          <a:prstGeom prst="rect">
            <a:avLst/>
          </a:prstGeom>
          <a:solidFill>
            <a:srgbClr val="EC1D35"/>
          </a:solidFill>
          <a:ln/>
        </p:spPr>
      </p:sp>
      <p:sp>
        <p:nvSpPr>
          <p:cNvPr id="4" name="Text 2"/>
          <p:cNvSpPr/>
          <p:nvPr/>
        </p:nvSpPr>
        <p:spPr>
          <a:xfrm>
            <a:off x="502920" y="457200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spc="200" kern="0" dirty="0">
                <a:solidFill>
                  <a:srgbClr val="402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МЕХАНИКА КОНТАКТА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502920" y="777240"/>
            <a:ext cx="111556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B1C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Приглашение с вилкой, контакты после согласия</a:t>
            </a:r>
            <a:endParaRPr lang="en-US" sz="3000" dirty="0"/>
          </a:p>
        </p:txBody>
      </p:sp>
      <p:pic>
        <p:nvPicPr>
          <p:cNvPr id="6" name="Image 0" descr="Приглашение с вилкой: имя и контакты открываются после согласия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1600200"/>
            <a:ext cx="6949440" cy="434340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7726680" y="1600200"/>
            <a:ext cx="4023360" cy="4343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1B1C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Карточки анонимны: имя и контакты открываются, только когда кандидат принял приглашение.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1B1C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Не больше 50 приглашений в день от компании, срок ответа 14 дней.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1B1C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После отказа та же компания ждёт 30 дней. Кандидат может закрыть контакты для одной компании.</a:t>
            </a:r>
            <a:endParaRPr lang="en-US" sz="1600" dirty="0"/>
          </a:p>
        </p:txBody>
      </p:sp>
      <p:sp>
        <p:nvSpPr>
          <p:cNvPr id="8" name="Text 5"/>
          <p:cNvSpPr/>
          <p:nvPr/>
        </p:nvSpPr>
        <p:spPr>
          <a:xfrm>
            <a:off x="10881360" y="630936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C5E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 / 10</a:t>
            </a:r>
            <a:endParaRPr lang="en-US" sz="1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7F7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402FFF"/>
          </a:solidFill>
          <a:ln/>
        </p:spPr>
      </p:sp>
      <p:sp>
        <p:nvSpPr>
          <p:cNvPr id="3" name="Shape 1"/>
          <p:cNvSpPr/>
          <p:nvPr/>
        </p:nvSpPr>
        <p:spPr>
          <a:xfrm>
            <a:off x="109728" y="0"/>
            <a:ext cx="54864" cy="6858000"/>
          </a:xfrm>
          <a:prstGeom prst="rect">
            <a:avLst/>
          </a:prstGeom>
          <a:solidFill>
            <a:srgbClr val="EC1D35"/>
          </a:solidFill>
          <a:ln/>
        </p:spPr>
      </p:sp>
      <p:sp>
        <p:nvSpPr>
          <p:cNvPr id="4" name="Text 2"/>
          <p:cNvSpPr/>
          <p:nvPr/>
        </p:nvSpPr>
        <p:spPr>
          <a:xfrm>
            <a:off x="502920" y="457200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spc="200" kern="0" dirty="0">
                <a:solidFill>
                  <a:srgbClr val="402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ТЕСТ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502920" y="777240"/>
            <a:ext cx="111556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B1C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Выученный ответ не подходит</a:t>
            </a:r>
            <a:endParaRPr lang="en-US" sz="3000" dirty="0"/>
          </a:p>
        </p:txBody>
      </p:sp>
      <p:sp>
        <p:nvSpPr>
          <p:cNvPr id="6" name="Shape 4"/>
          <p:cNvSpPr/>
          <p:nvPr/>
        </p:nvSpPr>
        <p:spPr>
          <a:xfrm>
            <a:off x="502920" y="1920240"/>
            <a:ext cx="3593592" cy="2926080"/>
          </a:xfrm>
          <a:prstGeom prst="roundRect">
            <a:avLst>
              <a:gd name="adj" fmla="val 25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31520" y="2148840"/>
            <a:ext cx="31546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402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0 %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731520" y="3063240"/>
            <a:ext cx="31546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B1C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сдают с ключом от другого экземпляра того же семейства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4279392" y="1920240"/>
            <a:ext cx="3593592" cy="2926080"/>
          </a:xfrm>
          <a:prstGeom prst="roundRect">
            <a:avLst>
              <a:gd name="adj" fmla="val 25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507992" y="2148840"/>
            <a:ext cx="31546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402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100 %</a:t>
            </a:r>
            <a:endParaRPr lang="en-US" sz="3000" dirty="0"/>
          </a:p>
        </p:txBody>
      </p:sp>
      <p:sp>
        <p:nvSpPr>
          <p:cNvPr id="11" name="Text 9"/>
          <p:cNvSpPr/>
          <p:nvPr/>
        </p:nvSpPr>
        <p:spPr>
          <a:xfrm>
            <a:off x="4507992" y="3063240"/>
            <a:ext cx="31546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B1C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сдали бы с ключом фиксированного банка вопросов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8055864" y="1920240"/>
            <a:ext cx="3593592" cy="2926080"/>
          </a:xfrm>
          <a:prstGeom prst="roundRect">
            <a:avLst>
              <a:gd name="adj" fmla="val 25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284464" y="2148840"/>
            <a:ext cx="31546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402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0,0 %</a:t>
            </a:r>
            <a:endParaRPr lang="en-US" sz="3000" dirty="0"/>
          </a:p>
        </p:txBody>
      </p:sp>
      <p:sp>
        <p:nvSpPr>
          <p:cNvPr id="14" name="Text 12"/>
          <p:cNvSpPr/>
          <p:nvPr/>
        </p:nvSpPr>
        <p:spPr>
          <a:xfrm>
            <a:off x="8284464" y="3063240"/>
            <a:ext cx="31546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B1C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сдают middle после 20 чужих сессий; честная сдача тех же людей 6,2 %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502920" y="626364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C5E6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cd backend &amp;&amp; python -m app.validation.assessment --n 2000 --seed 7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10881360" y="630936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C5E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 / 10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7F7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402FFF"/>
          </a:solidFill>
          <a:ln/>
        </p:spPr>
      </p:sp>
      <p:sp>
        <p:nvSpPr>
          <p:cNvPr id="3" name="Shape 1"/>
          <p:cNvSpPr/>
          <p:nvPr/>
        </p:nvSpPr>
        <p:spPr>
          <a:xfrm>
            <a:off x="109728" y="0"/>
            <a:ext cx="54864" cy="6858000"/>
          </a:xfrm>
          <a:prstGeom prst="rect">
            <a:avLst/>
          </a:prstGeom>
          <a:solidFill>
            <a:srgbClr val="EC1D35"/>
          </a:solidFill>
          <a:ln/>
        </p:spPr>
      </p:sp>
      <p:sp>
        <p:nvSpPr>
          <p:cNvPr id="4" name="Text 2"/>
          <p:cNvSpPr/>
          <p:nvPr/>
        </p:nvSpPr>
        <p:spPr>
          <a:xfrm>
            <a:off x="502920" y="457200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spc="200" kern="0" dirty="0">
                <a:solidFill>
                  <a:srgbClr val="402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ТОЧНОСТЬ И УСТОЙЧИВОСТЬ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502920" y="777240"/>
            <a:ext cx="111556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B1C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Решение о грейде держится</a:t>
            </a:r>
            <a:endParaRPr lang="en-US" sz="3000" dirty="0"/>
          </a:p>
        </p:txBody>
      </p:sp>
      <p:sp>
        <p:nvSpPr>
          <p:cNvPr id="6" name="Shape 4"/>
          <p:cNvSpPr/>
          <p:nvPr/>
        </p:nvSpPr>
        <p:spPr>
          <a:xfrm>
            <a:off x="502920" y="1920240"/>
            <a:ext cx="3593592" cy="2926080"/>
          </a:xfrm>
          <a:prstGeom prst="roundRect">
            <a:avLst>
              <a:gd name="adj" fmla="val 25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31520" y="2148840"/>
            <a:ext cx="31546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402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91,5 %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731520" y="3063240"/>
            <a:ext cx="31546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B1C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верных решений вдали от границы грейда, 2000 кандидатов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4279392" y="1920240"/>
            <a:ext cx="3593592" cy="2926080"/>
          </a:xfrm>
          <a:prstGeom prst="roundRect">
            <a:avLst>
              <a:gd name="adj" fmla="val 25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507992" y="2148840"/>
            <a:ext cx="31546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402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84 %</a:t>
            </a:r>
            <a:endParaRPr lang="en-US" sz="3000" dirty="0"/>
          </a:p>
        </p:txBody>
      </p:sp>
      <p:sp>
        <p:nvSpPr>
          <p:cNvPr id="11" name="Text 9"/>
          <p:cNvSpPr/>
          <p:nvPr/>
        </p:nvSpPr>
        <p:spPr>
          <a:xfrm>
            <a:off x="4507992" y="3063240"/>
            <a:ext cx="31546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B1C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то же решение повторного теста вдали от порога; корреляция θ 0,86, взвешенная каппа 0,58. Руднер 83,5 % и 79,0 %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8055864" y="1920240"/>
            <a:ext cx="3593592" cy="2926080"/>
          </a:xfrm>
          <a:prstGeom prst="roundRect">
            <a:avLst>
              <a:gd name="adj" fmla="val 25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284464" y="2148840"/>
            <a:ext cx="31546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402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65,1 %</a:t>
            </a:r>
            <a:endParaRPr lang="en-US" sz="3000" dirty="0"/>
          </a:p>
        </p:txBody>
      </p:sp>
      <p:sp>
        <p:nvSpPr>
          <p:cNvPr id="14" name="Text 12"/>
          <p:cNvSpPr/>
          <p:nvPr/>
        </p:nvSpPr>
        <p:spPr>
          <a:xfrm>
            <a:off x="8284464" y="3063240"/>
            <a:ext cx="31546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B1C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точный итоговый грейд после пути по правилам продукта; в пределах ступени 98,6 %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502920" y="626364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C5E6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cd backend &amp;&amp; python -m app.validation.assessment --n 2000 --seed 7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10881360" y="630936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C5E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 / 10</a:t>
            </a:r>
            <a:endParaRPr lang="en-US" sz="11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7F7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402FFF"/>
          </a:solidFill>
          <a:ln/>
        </p:spPr>
      </p:sp>
      <p:sp>
        <p:nvSpPr>
          <p:cNvPr id="3" name="Shape 1"/>
          <p:cNvSpPr/>
          <p:nvPr/>
        </p:nvSpPr>
        <p:spPr>
          <a:xfrm>
            <a:off x="109728" y="0"/>
            <a:ext cx="54864" cy="6858000"/>
          </a:xfrm>
          <a:prstGeom prst="rect">
            <a:avLst/>
          </a:prstGeom>
          <a:solidFill>
            <a:srgbClr val="EC1D35"/>
          </a:solidFill>
          <a:ln/>
        </p:spPr>
      </p:sp>
      <p:sp>
        <p:nvSpPr>
          <p:cNvPr id="4" name="Text 2"/>
          <p:cNvSpPr/>
          <p:nvPr/>
        </p:nvSpPr>
        <p:spPr>
          <a:xfrm>
            <a:off x="502920" y="457200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spc="200" kern="0" dirty="0">
                <a:solidFill>
                  <a:srgbClr val="402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ПОДБОР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502920" y="777240"/>
            <a:ext cx="111556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B1C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Место в списке можно разобрать</a:t>
            </a:r>
            <a:endParaRPr lang="en-US" sz="3000" dirty="0"/>
          </a:p>
        </p:txBody>
      </p:sp>
      <p:pic>
        <p:nvPicPr>
          <p:cNvPr id="6" name="Image 0" descr="Карточка подборки: вклад теста и результатов ФСП в баллах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1600200"/>
            <a:ext cx="6949440" cy="434340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7726680" y="1600200"/>
            <a:ext cx="4023360" cy="4343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1B1C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P@10 0,632 против 0,559 у сортировки по резюме: доля подходящих в первой десятке.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1B1C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Спирмен 0,240 против 0,011: насколько порядок совпадает с настоящей силой.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1B1C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nDCG@10 0,652 против 0,620. Завышенный грейд 19,8 % против 28,1 %.</a:t>
            </a:r>
            <a:endParaRPr lang="en-US" sz="1600" dirty="0"/>
          </a:p>
        </p:txBody>
      </p:sp>
      <p:sp>
        <p:nvSpPr>
          <p:cNvPr id="8" name="Text 5"/>
          <p:cNvSpPr/>
          <p:nvPr/>
        </p:nvSpPr>
        <p:spPr>
          <a:xfrm>
            <a:off x="502920" y="626364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C5E6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cd backend &amp;&amp; python -m app.validation.matching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10881360" y="630936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C5E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 / 10</a:t>
            </a:r>
            <a:endParaRPr lang="en-US" sz="11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7F7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402FFF"/>
          </a:solidFill>
          <a:ln/>
        </p:spPr>
      </p:sp>
      <p:sp>
        <p:nvSpPr>
          <p:cNvPr id="3" name="Shape 1"/>
          <p:cNvSpPr/>
          <p:nvPr/>
        </p:nvSpPr>
        <p:spPr>
          <a:xfrm>
            <a:off x="109728" y="0"/>
            <a:ext cx="54864" cy="6858000"/>
          </a:xfrm>
          <a:prstGeom prst="rect">
            <a:avLst/>
          </a:prstGeom>
          <a:solidFill>
            <a:srgbClr val="EC1D35"/>
          </a:solidFill>
          <a:ln/>
        </p:spPr>
      </p:sp>
      <p:sp>
        <p:nvSpPr>
          <p:cNvPr id="4" name="Text 2"/>
          <p:cNvSpPr/>
          <p:nvPr/>
        </p:nvSpPr>
        <p:spPr>
          <a:xfrm>
            <a:off x="502920" y="457200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spc="200" kern="0" dirty="0">
                <a:solidFill>
                  <a:srgbClr val="402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ОСЬ ФСП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502920" y="777240"/>
            <a:ext cx="111556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B1C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Соревнования не поднимают грейд, статус не весит</a:t>
            </a:r>
            <a:endParaRPr lang="en-US" sz="3000" dirty="0"/>
          </a:p>
        </p:txBody>
      </p:sp>
      <p:sp>
        <p:nvSpPr>
          <p:cNvPr id="6" name="Shape 4"/>
          <p:cNvSpPr/>
          <p:nvPr/>
        </p:nvSpPr>
        <p:spPr>
          <a:xfrm>
            <a:off x="502920" y="1920240"/>
            <a:ext cx="3593592" cy="2926080"/>
          </a:xfrm>
          <a:prstGeom prst="roundRect">
            <a:avLst>
              <a:gd name="adj" fmla="val 25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31520" y="2148840"/>
            <a:ext cx="31546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402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0,707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731520" y="3063240"/>
            <a:ext cx="31546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B1C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Спирмен нижней границы оси со скрытой силой. Разряд — справка из реестра, не расчёт по месту.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4279392" y="1920240"/>
            <a:ext cx="3593592" cy="2926080"/>
          </a:xfrm>
          <a:prstGeom prst="roundRect">
            <a:avLst>
              <a:gd name="adj" fmla="val 25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507992" y="2148840"/>
            <a:ext cx="31546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402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0,127</a:t>
            </a:r>
            <a:endParaRPr lang="en-US" sz="3000" dirty="0"/>
          </a:p>
        </p:txBody>
      </p:sp>
      <p:sp>
        <p:nvSpPr>
          <p:cNvPr id="11" name="Text 9"/>
          <p:cNvSpPr/>
          <p:nvPr/>
        </p:nvSpPr>
        <p:spPr>
          <a:xfrm>
            <a:off x="4507992" y="3063240"/>
            <a:ext cx="31546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B1C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Спирмен числа участий: нижняя граница угадывает силу лучше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8055864" y="1920240"/>
            <a:ext cx="3593592" cy="2926080"/>
          </a:xfrm>
          <a:prstGeom prst="roundRect">
            <a:avLst>
              <a:gd name="adj" fmla="val 25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284464" y="2148840"/>
            <a:ext cx="31546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402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0,01 → 0,54</a:t>
            </a:r>
            <a:endParaRPr lang="en-US" sz="3000" dirty="0"/>
          </a:p>
        </p:txBody>
      </p:sp>
      <p:sp>
        <p:nvSpPr>
          <p:cNvPr id="14" name="Text 12"/>
          <p:cNvSpPr/>
          <p:nvPr/>
        </p:nvSpPr>
        <p:spPr>
          <a:xfrm>
            <a:off x="8284464" y="3063240"/>
            <a:ext cx="31546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B1C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нижняя граница фермы из 40 онлайн-участий и двух побед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502920" y="626364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C5E6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cd backend &amp;&amp; python -m app.validation.fsp_axis --seeds 3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10881360" y="630936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C5E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 / 10</a:t>
            </a:r>
            <a:endParaRPr lang="en-US" sz="11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7F7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402FFF"/>
          </a:solidFill>
          <a:ln/>
        </p:spPr>
      </p:sp>
      <p:sp>
        <p:nvSpPr>
          <p:cNvPr id="3" name="Shape 1"/>
          <p:cNvSpPr/>
          <p:nvPr/>
        </p:nvSpPr>
        <p:spPr>
          <a:xfrm>
            <a:off x="109728" y="0"/>
            <a:ext cx="54864" cy="6858000"/>
          </a:xfrm>
          <a:prstGeom prst="rect">
            <a:avLst/>
          </a:prstGeom>
          <a:solidFill>
            <a:srgbClr val="EC1D35"/>
          </a:solidFill>
          <a:ln/>
        </p:spPr>
      </p:sp>
      <p:sp>
        <p:nvSpPr>
          <p:cNvPr id="4" name="Text 2"/>
          <p:cNvSpPr/>
          <p:nvPr/>
        </p:nvSpPr>
        <p:spPr>
          <a:xfrm>
            <a:off x="502920" y="457200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spc="200" kern="0" dirty="0">
                <a:solidFill>
                  <a:srgbClr val="402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НАДЁЖНОСТЬ И ЗАКОН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502920" y="777240"/>
            <a:ext cx="111556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B1C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Проверяется в CI и на стенде</a:t>
            </a:r>
            <a:endParaRPr lang="en-US" sz="3000" dirty="0"/>
          </a:p>
        </p:txBody>
      </p:sp>
      <p:sp>
        <p:nvSpPr>
          <p:cNvPr id="6" name="Shape 4"/>
          <p:cNvSpPr/>
          <p:nvPr/>
        </p:nvSpPr>
        <p:spPr>
          <a:xfrm>
            <a:off x="502920" y="1737360"/>
            <a:ext cx="11155680" cy="1234440"/>
          </a:xfrm>
          <a:prstGeom prst="roundRect">
            <a:avLst>
              <a:gd name="adj" fmla="val 5926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31520" y="1874520"/>
            <a:ext cx="106984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B1C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Данные. </a:t>
            </a:r>
            <a:pPr indent="0" marL="0">
              <a:buNone/>
            </a:pPr>
            <a:r>
              <a:rPr lang="en-US" sz="1700" dirty="0">
                <a:solidFill>
                  <a:srgbClr val="1B1C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Политики строк в PostgreSQL, обход всех маршрутов с чужим идентификатором: 0 ответов 2xx из 124 запросов (tests/smoke_api.py).</a:t>
            </a:r>
            <a:endParaRPr lang="en-US" sz="1700" dirty="0"/>
          </a:p>
        </p:txBody>
      </p:sp>
      <p:sp>
        <p:nvSpPr>
          <p:cNvPr id="8" name="Shape 6"/>
          <p:cNvSpPr/>
          <p:nvPr/>
        </p:nvSpPr>
        <p:spPr>
          <a:xfrm>
            <a:off x="502920" y="3200400"/>
            <a:ext cx="11155680" cy="1234440"/>
          </a:xfrm>
          <a:prstGeom prst="roundRect">
            <a:avLst>
              <a:gd name="adj" fmla="val 5926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31520" y="3337560"/>
            <a:ext cx="106984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B1C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152-ФЗ. </a:t>
            </a:r>
            <a:pPr indent="0" marL="0">
              <a:buNone/>
            </a:pPr>
            <a:r>
              <a:rPr lang="en-US" sz="1700" dirty="0">
                <a:solidFill>
                  <a:srgbClr val="1B1C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Отдельные согласия с версией текста. Регистрация с 15 лет, для 15–17 — согласие представителя по ссылке. В GigaChat — только обезличенный текст и только по флагу.</a:t>
            </a:r>
            <a:endParaRPr lang="en-US" sz="1700" dirty="0"/>
          </a:p>
        </p:txBody>
      </p:sp>
      <p:sp>
        <p:nvSpPr>
          <p:cNvPr id="10" name="Shape 8"/>
          <p:cNvSpPr/>
          <p:nvPr/>
        </p:nvSpPr>
        <p:spPr>
          <a:xfrm>
            <a:off x="502920" y="4663440"/>
            <a:ext cx="11155680" cy="1234440"/>
          </a:xfrm>
          <a:prstGeom prst="roundRect">
            <a:avLst>
              <a:gd name="adj" fmla="val 5926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731520" y="4800600"/>
            <a:ext cx="106984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B1C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Сборка. </a:t>
            </a:r>
            <a:pPr indent="0" marL="0">
              <a:buNone/>
            </a:pPr>
            <a:r>
              <a:rPr lang="en-US" sz="1700" dirty="0">
                <a:solidFill>
                  <a:srgbClr val="1B1C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692 юнит-теста, покрытие приложения 66,1 %, сервисы 71 % и API 39 %, шесть сквозных сценариев в браузере. Демо-стенд сбрасывается каждую ночь.</a:t>
            </a:r>
            <a:endParaRPr lang="en-US" sz="1700" dirty="0"/>
          </a:p>
        </p:txBody>
      </p:sp>
      <p:sp>
        <p:nvSpPr>
          <p:cNvPr id="12" name="Text 10"/>
          <p:cNvSpPr/>
          <p:nvPr/>
        </p:nvSpPr>
        <p:spPr>
          <a:xfrm>
            <a:off x="10881360" y="630936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C5E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 / 10</a:t>
            </a:r>
            <a:endParaRPr lang="en-US" sz="11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B1C2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402FFF"/>
          </a:solidFill>
          <a:ln/>
        </p:spPr>
      </p:sp>
      <p:sp>
        <p:nvSpPr>
          <p:cNvPr id="3" name="Shape 1"/>
          <p:cNvSpPr/>
          <p:nvPr/>
        </p:nvSpPr>
        <p:spPr>
          <a:xfrm>
            <a:off x="109728" y="0"/>
            <a:ext cx="54864" cy="6858000"/>
          </a:xfrm>
          <a:prstGeom prst="rect">
            <a:avLst/>
          </a:prstGeom>
          <a:solidFill>
            <a:srgbClr val="EC1D35"/>
          </a:solidFill>
          <a:ln/>
        </p:spPr>
      </p:sp>
      <p:sp>
        <p:nvSpPr>
          <p:cNvPr id="4" name="Text 2"/>
          <p:cNvSpPr/>
          <p:nvPr/>
        </p:nvSpPr>
        <p:spPr>
          <a:xfrm>
            <a:off x="502920" y="457200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spc="200" kern="0" dirty="0">
                <a:solidFill>
                  <a:srgbClr val="C8C9C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ЧТО ДАЛЬШЕ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502920" y="777240"/>
            <a:ext cx="111556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Пилот с Федерацией</a:t>
            </a:r>
            <a:endParaRPr lang="en-US" sz="3000" dirty="0"/>
          </a:p>
        </p:txBody>
      </p:sp>
      <p:sp>
        <p:nvSpPr>
          <p:cNvPr id="6" name="Text 4"/>
          <p:cNvSpPr/>
          <p:nvPr/>
        </p:nvSpPr>
        <p:spPr>
          <a:xfrm>
            <a:off x="502920" y="1828800"/>
            <a:ext cx="10972800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Проверьте сами: jury1…jury10, пароль demo12345.</a:t>
            </a:r>
            <a:endParaRPr lang="en-US" sz="20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Подключить ФСП ID и реестр протоколов по готовому контракту OIDC.</a:t>
            </a:r>
            <a:endParaRPr lang="en-US" sz="20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Откалибровать веса подбора на исходах приглашений и найма.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10881360" y="630936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C5E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 / 10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ФСП Талант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ФСП Талант — обратный найм</dc:title>
  <dc:subject>Десять слайдов для жюри ЛЦТ 2026</dc:subject>
  <dc:creator>Konkov Dmitrij</dc:creator>
  <cp:lastModifiedBy>Konkov Dmitrij</cp:lastModifiedBy>
  <cp:revision>1</cp:revision>
  <dcterms:created xsi:type="dcterms:W3CDTF">2026-10-08T18:44:28Z</dcterms:created>
  <dcterms:modified xsi:type="dcterms:W3CDTF">2026-10-08T18:44:28Z</dcterms:modified>
</cp:coreProperties>
</file>