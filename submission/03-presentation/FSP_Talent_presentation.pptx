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5.xml" ContentType="application/vnd.openxmlformats-officedocument.drawingml.chart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2" r:id="rId2"/>
    <p:sldId id="263" r:id="rId3"/>
    <p:sldId id="264" r:id="rId4"/>
    <p:sldId id="265" r:id="rId5"/>
    <p:sldId id="266" r:id="rId6"/>
    <p:sldId id="259" r:id="rId7"/>
    <p:sldId id="276" r:id="rId8"/>
    <p:sldId id="279" r:id="rId9"/>
    <p:sldId id="295" r:id="rId10"/>
    <p:sldId id="283" r:id="rId11"/>
    <p:sldId id="272" r:id="rId12"/>
    <p:sldId id="294" r:id="rId13"/>
    <p:sldId id="301" r:id="rId14"/>
    <p:sldId id="293" r:id="rId15"/>
    <p:sldId id="300" r:id="rId16"/>
    <p:sldId id="282" r:id="rId17"/>
    <p:sldId id="277" r:id="rId18"/>
    <p:sldId id="275" r:id="rId19"/>
    <p:sldId id="298" r:id="rId20"/>
    <p:sldId id="284" r:id="rId21"/>
    <p:sldId id="296" r:id="rId22"/>
    <p:sldId id="297" r:id="rId23"/>
    <p:sldId id="268" r:id="rId24"/>
    <p:sldId id="299" r:id="rId25"/>
    <p:sldId id="271" r:id="rId26"/>
    <p:sldId id="270" r:id="rId27"/>
    <p:sldId id="273" r:id="rId28"/>
    <p:sldId id="269" r:id="rId29"/>
    <p:sldId id="292" r:id="rId30"/>
    <p:sldId id="278" r:id="rId31"/>
    <p:sldId id="302" r:id="rId32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1-EF55-4E35-9538-67059AE0821C}"/>
              </c:ext>
            </c:extLst>
          </c:dPt>
          <c:dPt>
            <c:idx val="1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3-EF55-4E35-9538-67059AE082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EF55-4E35-9538-67059AE082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EF55-4E35-9538-67059AE0821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EF55-4E35-9538-67059AE0821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B4B5-402E-AF7D-B883FF82B59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4B5-402E-AF7D-B883FF82B59B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4B5-402E-AF7D-B883FF82B59B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4B5-402E-AF7D-B883FF82B59B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4B5-402E-AF7D-B883FF82B59B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76.099999999999994</c:v>
                </c:pt>
                <c:pt idx="1">
                  <c:v>74.400000000000006</c:v>
                </c:pt>
                <c:pt idx="2">
                  <c:v>80.099999999999994</c:v>
                </c:pt>
                <c:pt idx="3">
                  <c:v>91.7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5-B4B5-402E-AF7D-B883FF82B59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56C6-48A3-A74F-DDEA728CA10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56C6-48A3-A74F-DDEA728CA10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0,410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56C6-48A3-A74F-DDEA728CA10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0.63200000000000001</c:v>
                </c:pt>
                <c:pt idx="1">
                  <c:v>0.65800000000000003</c:v>
                </c:pt>
                <c:pt idx="2">
                  <c:v>0.41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56C6-48A3-A74F-DDEA728CA1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6C6-48A3-A74F-DDEA728CA10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6C6-48A3-A74F-DDEA728CA10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6C6-48A3-A74F-DDEA728CA10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0.55900000000000005</c:v>
                </c:pt>
                <c:pt idx="1">
                  <c:v>0.62</c:v>
                </c:pt>
                <c:pt idx="2">
                  <c:v>1.0999999999999999E-2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7-56C6-48A3-A74F-DDEA728CA1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2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77E0-49D1-9288-9C30376F471F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7E0-49D1-9288-9C30376F47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7E0-49D1-9288-9C30376F47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7E0-49D1-9288-9C30376F471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0.68100000000000005</c:v>
                </c:pt>
                <c:pt idx="2">
                  <c:v>0.76800000000000002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77E0-49D1-9288-9C30376F471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3564-43B5-8684-2A006C2354F7}"/>
              </c:ext>
            </c:extLst>
          </c:dPt>
          <c:dPt>
            <c:idx val="1"/>
            <c:bubble3D val="0"/>
            <c:spPr>
              <a:solidFill>
                <a:srgbClr val="520978"/>
              </a:solidFill>
            </c:spPr>
            <c:extLst>
              <c:ext xmlns:c16="http://schemas.microsoft.com/office/drawing/2014/chart" uri="{C3380CC4-5D6E-409C-BE32-E72D297353CC}">
                <c16:uniqueId val="{00000003-3564-43B5-8684-2A006C2354F7}"/>
              </c:ext>
            </c:extLst>
          </c:dPt>
          <c:dPt>
            <c:idx val="2"/>
            <c:bubble3D val="0"/>
            <c:spPr>
              <a:solidFill>
                <a:srgbClr val="8A83D1"/>
              </a:solidFill>
            </c:spPr>
            <c:extLst>
              <c:ext xmlns:c16="http://schemas.microsoft.com/office/drawing/2014/chart" uri="{C3380CC4-5D6E-409C-BE32-E72D297353CC}">
                <c16:uniqueId val="{00000005-3564-43B5-8684-2A006C2354F7}"/>
              </c:ext>
            </c:extLst>
          </c:dPt>
          <c:dPt>
            <c:idx val="3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7-3564-43B5-8684-2A006C2354F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3564-43B5-8684-2A006C2354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564-43B5-8684-2A006C2354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3564-43B5-8684-2A006C2354F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3564-43B5-8684-2A006C2354F7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564-43B5-8684-2A006C2354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ru-RU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 Число тестов: [финальное число тестов после заморозки в 23:30].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все 1875 ключей заданий проверены запуском,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генераторы: у каждого свои числа и код. Слив двадцати сессий почти не помогает: 5,7 % против 5,3 % у честных на 2400 человек, интервалы перекрываются. Сигналы честности ловят 90 % сессий с утечкой половины ключей при 0,7 % ложных; грейд они не меняют, а зовут человека.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0,85,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3:59–4:29. В первой десятке у нас 63 % подходящих людей против 56 % у поиска по резюме. Внутри категории сильный стоит выше слабого: связь с настоящей силой 0,410 против 0,011. Слепая разметка 200 пар двумя независимыми автоматическими оценщиками показывает то же самое. На сопоставимых данных цифры выше: на внешнем открытом наборе 0,835, на наших данных без шума 0,863, но основной остаётся строгая 0,658.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независимых автоматических 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6:39–7:04. Для бизнеса это значит: в первой десятке на 13 %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в хакатоне нет. Качество теста измерено на синтетике: у уверенных решений, а это около 72 % кандидатов, повторный тест даёт тот же итог в 80,3 % случаев на отложенных выборках, цель на пилоте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После хакатона продукт не умирает.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28</a:t>
            </a:fld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8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500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 sz="1500"/>
              <a:t>ФСП Талант — команда Дмитрия Конькова · ЛЦТ 2026, спецтрек ФСП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Капитан: </a:t>
            </a:r>
            <a:r>
              <a:rPr lang="ru-RU" sz="1300" b="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Кол-во участников: </a:t>
            </a:r>
            <a:r>
              <a:rPr lang="ru-RU" sz="1300" b="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Краткое описание: </a:t>
            </a:r>
            <a:r>
              <a:rPr lang="ru-RU" sz="1300" b="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Город и регион: </a:t>
            </a:r>
            <a:r>
              <a:rPr lang="ru-RU" sz="1300" b="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marL="0" indent="0" rtl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docker compose up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На ЛЦТ 2026 параллельно решали задачу Мосгосстройнадзора.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22 семейства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1875 из 1875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ключей заданий проверены запуском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−56 %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22,1 %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Сигналы честности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Ловят 90,0 % сессий с утечкой половины ключей при 0,7 % ложных срабатываний. Грейд не меняют, только зовут человека.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5,3 % (2400 человек, 6 зёрен): атака в пределах шума.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5,7 %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 · python -m app.validation.assessment --stolen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путей, на всех шести зёрнах 0,85–0,86. При старом порядке шкалы 0,76.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0,85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14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0,45, грейд 0,30, роль 0,25, описание, отрасль и условия по 0,05. Тест и ФСП добавляются с весом 0,3.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Два независимых автоматических оценщика. 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  <p:sp>
        <p:nvSpPr>
          <p:cNvPr id="2116633262" name="Протоколы"/>
          <p:cNvSpPr txBox="1"/>
          <p:nvPr/>
        </p:nvSpPr>
        <p:spPr>
          <a:xfrm>
            <a:off x="530352" y="5440680"/>
            <a:ext cx="557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50" b="0">
                <a:solidFill>
                  <a:srgbClr val="FFD6E4"/>
                </a:solidFill>
                <a:latin typeface="Arial"/>
              </a:rPr>
              <a:t>По протоколам опубликованных методов: nDCG@10 0,621 и 0,684; поиск BM25 на той же разметке 0,399</a:t>
            </a:r>
          </a:p>
          <a:p>
            <a:pPr algn="l">
              <a:spcAft>
                <a:spcPts val="400"/>
              </a:spcAft>
            </a:pPr>
            <a:r>
              <a:rPr lang="ru-RU" sz="1050" b="0">
                <a:solidFill>
                  <a:srgbClr val="FFD6E4"/>
                </a:solidFill>
                <a:latin typeface="Arial"/>
              </a:rPr>
              <a:t>На сопоставимых данных: внешний открытый набор 0,835 [0,802–0,864]; наши данные без шума 0,863 (строгий) и 0,936 (протокол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независимыми автоматическими оценщиками, согласие κw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localhost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localhost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20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0,632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13,6 %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22,1 %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Время для 95 % запросов, 40 пользователей одновременно.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+13 %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−56 %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−21 %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вебхуки, API-ключи для ATS и выгрузка работают. Коннектор к Хантфлоу — первый шаг пилота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 со скрытой правдой. Уверенные решения повторяются в 80,3 % случаев на отложенных выборках; калибруем до 85 % на пилоте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26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80,3 % у уверенных решений на отложенных выборках. Банк заданий пополняем: экспозиция 50–65 % → цель 40 %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ПОСЛЕ ХАКАТОНА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localhost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Лицензия: </a:t>
            </a:r>
            <a:r>
              <a:rPr lang="ru-RU" sz="1300" b="0">
                <a:solidFill>
                  <a:srgbClr val="1C1D22"/>
                </a:solidFill>
              </a:rPr>
              <a:t>MIT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Жюри: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Запуск: </a:t>
            </a:r>
            <a:r>
              <a:rPr lang="ru-RU" sz="1300" b="0">
                <a:solidFill>
                  <a:srgbClr val="1C1D22"/>
                </a:solidFill>
              </a:rPr>
              <a:t>docker compose up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Режим жюри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ФСП Талант — команда Дмитрия Конькова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30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22 семейства заданий,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режим жюри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238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Ключи заданий проверены запуском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1875 из 1875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Атака «20 сессий», сдают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5,7 % [4,8–6,7]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честно 5,3 % [4,5–6,3], 2400 человек, 6 зёрен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все 6 зёрен 0,85–0,86; старый порядок шкалы 0,76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0,410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13,6 %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23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независимых автоматических 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4290</Words>
  <Application>Microsoft Office PowerPoint</Application>
  <PresentationFormat>Широкоэкранный</PresentationFormat>
  <Paragraphs>510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5" baseType="lpstr">
      <vt:lpstr>Arial</vt:lpstr>
      <vt:lpstr>Courier New</vt:lpstr>
      <vt:lpstr>Wingdings</vt:lpstr>
      <vt:lpstr>Для Академия инноваторов 16_9</vt:lpstr>
      <vt:lpstr>ФСП ТАЛАНТ</vt:lpstr>
      <vt:lpstr>ФСП ТАЛАНТ</vt:lpstr>
      <vt:lpstr>КОМАНДА</vt:lpstr>
      <vt:lpstr>ИСТОРИЯ КОМАНДЫ</vt:lpstr>
      <vt:lpstr>КОРОТКО О РЕШЕНИИ</vt:lpstr>
      <vt:lpstr>Презентация PowerPoint</vt:lpstr>
      <vt:lpstr>НА ВАКАНСИЮ ВДВОЕ БОЛЬШЕ РЕЗЮМЕ</vt:lpstr>
      <vt:lpstr>ЧТО МЫ МЕНЯЕМ</vt:lpstr>
      <vt:lpstr>ДЛЯ РЕКРУТЕРА: ЧЕТЫРЕ ШАГА</vt:lpstr>
      <vt:lpstr>ПУТЬ КАНДИДАТА</vt:lpstr>
      <vt:lpstr>ВЫУЧЕННЫЙ ОТВЕТ НЕ ПОМОЖЕТ</vt:lpstr>
      <vt:lpstr>ТЕСТ ТОЧНО РАЗЛИЧАЕТ ГРЕЙДЫ</vt:lpstr>
      <vt:lpstr>АДАПТИВНОСТЬ ОКУПАЕТСЯ</vt:lpstr>
      <vt:lpstr>В ТОПЕ ТЕ, КТО НУЖЕН</vt:lpstr>
      <vt:lpstr>КАК МЫ ПРОВЕРЯЕМ</vt:lpstr>
      <vt:lpstr>ЭКРАНЫ СО СТЕНДА</vt:lpstr>
      <vt:lpstr>ПОБЕДЫ ФСП ТОЛЬКО ПОДНИМАЮТ</vt:lpstr>
      <vt:lpstr>КОНТАКТ ПОСЛЕ СОГЛАСИЯ</vt:lpstr>
      <vt:lpstr>СВЕРХ ОБЯЗАТЕЛЬНОГО</vt:lpstr>
      <vt:lpstr>С ТЕЛЕФОНА ТОЖЕ УДОБНО</vt:lpstr>
      <vt:lpstr>КОМУ ЭТО НУЖНО</vt:lpstr>
      <vt:lpstr>ЭФФЕКТ ДЛЯ РАБОТОДАТЕЛЯ</vt:lpstr>
      <vt:lpstr>ГОТОВО К ПИЛОТУ</vt:lpstr>
      <vt:lpstr>ЧТО НАСТОЯЩЕЕ, ЧТО ИМИТАЦИЯ</vt:lpstr>
      <vt:lpstr>ТЕСТЫ, НАГРУЗКА, ДОСТУПНОСТЬ</vt:lpstr>
      <vt:lpstr>ЧЕМ МЫ ОТЛИЧАЕМСЯ</vt:lpstr>
      <vt:lpstr>ПОСЛЕ ХАКАТОНА</vt:lpstr>
      <vt:lpstr>ПРОВЕРЬТЕ САМИ</vt:lpstr>
      <vt:lpstr>СПАСИБО!</vt:lpstr>
      <vt:lpstr>ПРИЛОЖЕНИЕ · КРИТЕРИИ ТЗ</vt:lpstr>
      <vt:lpstr>ПРИЛОЖЕНИЕ · СВОД МЕТРИК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питч ЛЦТ 2026</dc:title>
  <dc:creator>Команда «ФСП Талант»</dc:creator>
  <cp:lastModifiedBy>Ivan Ivanov</cp:lastModifiedBy>
  <cp:revision>100</cp:revision>
  <dcterms:created xsi:type="dcterms:W3CDTF">2023-05-15T07:36:23Z</dcterms:created>
  <dcterms:modified xsi:type="dcterms:W3CDTF">2026-10-11T19:47:57Z</dcterms:modified>
</cp:coreProperties>
</file>