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62" r:id="rId8"/>
    <p:sldId id="263" r:id="rId9"/>
    <p:sldId id="264" r:id="rId10"/>
    <p:sldId id="265" r:id="rId11"/>
    <p:sldId id="266" r:id="rId12"/>
    <p:sldId id="259" r:id="rId5"/>
    <p:sldId id="276" r:id="rId22"/>
    <p:sldId id="279" r:id="rId25"/>
    <p:sldId id="295" r:id="rId46"/>
    <p:sldId id="283" r:id="rId29"/>
    <p:sldId id="272" r:id="rId18"/>
    <p:sldId id="294" r:id="rId45"/>
    <p:sldId id="301" r:id="rId52"/>
    <p:sldId id="293" r:id="rId44"/>
    <p:sldId id="300" r:id="rId51"/>
    <p:sldId id="282" r:id="rId28"/>
    <p:sldId id="277" r:id="rId23"/>
    <p:sldId id="275" r:id="rId21"/>
    <p:sldId id="298" r:id="rId49"/>
    <p:sldId id="284" r:id="rId30"/>
    <p:sldId id="296" r:id="rId47"/>
    <p:sldId id="297" r:id="rId48"/>
    <p:sldId id="268" r:id="rId14"/>
    <p:sldId id="299" r:id="rId50"/>
    <p:sldId id="271" r:id="rId17"/>
    <p:sldId id="270" r:id="rId16"/>
    <p:sldId id="273" r:id="rId19"/>
    <p:sldId id="269" r:id="rId15"/>
    <p:sldId id="292" r:id="rId43"/>
    <p:sldId id="278" r:id="rId24"/>
    <p:sldId id="302" r:id="rId5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23.xml"/><Relationship Id="rId15" Type="http://schemas.openxmlformats.org/officeDocument/2006/relationships/slide" Target="slides/slide28.xml"/><Relationship Id="rId16" Type="http://schemas.openxmlformats.org/officeDocument/2006/relationships/slide" Target="slides/slide26.xml"/><Relationship Id="rId17" Type="http://schemas.openxmlformats.org/officeDocument/2006/relationships/slide" Target="slides/slide25.xml"/><Relationship Id="rId18" Type="http://schemas.openxmlformats.org/officeDocument/2006/relationships/slide" Target="slides/slide11.xml"/><Relationship Id="rId19" Type="http://schemas.openxmlformats.org/officeDocument/2006/relationships/slide" Target="slides/slide27.xml"/><Relationship Id="rId21" Type="http://schemas.openxmlformats.org/officeDocument/2006/relationships/slide" Target="slides/slide18.xml"/><Relationship Id="rId22" Type="http://schemas.openxmlformats.org/officeDocument/2006/relationships/slide" Target="slides/slide7.xml"/><Relationship Id="rId23" Type="http://schemas.openxmlformats.org/officeDocument/2006/relationships/slide" Target="slides/slide17.xml"/><Relationship Id="rId24" Type="http://schemas.openxmlformats.org/officeDocument/2006/relationships/slide" Target="slides/slide30.xml"/><Relationship Id="rId25" Type="http://schemas.openxmlformats.org/officeDocument/2006/relationships/slide" Target="slides/slide8.xml"/><Relationship Id="rId28" Type="http://schemas.openxmlformats.org/officeDocument/2006/relationships/slide" Target="slides/slide16.xml"/><Relationship Id="rId29" Type="http://schemas.openxmlformats.org/officeDocument/2006/relationships/slide" Target="slides/slide10.xml"/><Relationship Id="rId30" Type="http://schemas.openxmlformats.org/officeDocument/2006/relationships/slide" Target="slides/slide20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9.xml"/><Relationship Id="rId44" Type="http://schemas.openxmlformats.org/officeDocument/2006/relationships/slide" Target="slides/slide14.xml"/><Relationship Id="rId45" Type="http://schemas.openxmlformats.org/officeDocument/2006/relationships/slide" Target="slides/slide12.xml"/><Relationship Id="rId46" Type="http://schemas.openxmlformats.org/officeDocument/2006/relationships/slide" Target="slides/slide9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19.xml"/><Relationship Id="rId50" Type="http://schemas.openxmlformats.org/officeDocument/2006/relationships/slide" Target="slides/slide24.xml"/><Relationship Id="rId51" Type="http://schemas.openxmlformats.org/officeDocument/2006/relationships/slide" Target="slides/slide15.xml"/><Relationship Id="rId52" Type="http://schemas.openxmlformats.org/officeDocument/2006/relationships/slide" Target="slides/slide13.xml"/><Relationship Id="rId53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22-48DA-A017-D5AAA2FF34E0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F22-48DA-A017-D5AAA2FF34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1E-2"/>
          <c:y val="0.93820099999999995"/>
          <c:w val="0.94740100000000005"/>
          <c:h val="6.1799E-2"/>
        </c:manualLayout>
      </c:layout>
      <c:overlay val="0"/>
      <c:spPr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F-417E-BB0C-F7EEB5F33780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F-417E-BB0C-F7EEB5F33780}"/>
              </c:ext>
            </c:extLst>
          </c:dPt>
          <c:dPt>
            <c:idx val="2"/>
            <c:invertIfNegative val="0"/>
            <c:bubble3D val="0"/>
            <c:spPr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F-417E-BB0C-F7EEB5F33780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F-417E-BB0C-F7EEB5F33780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9DF-417E-BB0C-F7EEB5F337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C5E-43D0-910A-6D4E321BD10C}"/>
              </c:ext>
            </c:extLst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C5E-43D0-910A-6D4E321BD10C}"/>
              </c:ext>
            </c:extLst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C5E-43D0-910A-6D4E321BD10C}"/>
              </c:ext>
            </c:extLst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C5E-43D0-910A-6D4E321BD10C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9C5E-43D0-910A-6D4E321BD10C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9C5E-43D0-910A-6D4E321BD10C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C5E-43D0-910A-6D4E321BD1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625096" y="1360288"/>
      <a:ext cx="5125748" cy="4385667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hh.индекс в ИТ: резюме на одну вакансию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hh.индекс в ИТ</c:v>
                </c:pt>
              </c:strCache>
            </c:strRef>
          </c:tx>
          <c:spPr>
            <a:solidFill>
              <a:srgbClr val="8A83D1"/>
            </a:solidFill>
          </c:spPr>
          <c:dPt>
            <c:idx val="0"/>
            <c:spPr>
              <a:solidFill>
                <a:srgbClr val="FFD6E4"/>
              </a:solidFill>
            </c:spPr>
          </c:dPt>
          <c:dPt>
            <c:idx val="1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19,6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Февраль 2025</c:v>
                </c:pt>
                <c:pt idx="1">
                  <c:v>Февраль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Верных решений вдали от границы грейда, 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Верных решений вдали от границы, %</c:v>
                </c:pt>
              </c:strCache>
            </c:strRef>
          </c:tx>
          <c:spPr>
            <a:solidFill>
              <a:srgbClr val="8A83D1"/>
            </a:solidFill>
          </c:spPr>
          <c:dPt>
            <c:idx val="3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76,1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80,1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91,7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Случайный набор, 14</c:v>
                </c:pt>
                <c:pt idx="1">
                  <c:v>Линейная форма, 14</c:v>
                </c:pt>
                <c:pt idx="2">
                  <c:v>Линейная форма, 20</c:v>
                </c:pt>
                <c:pt idx="3">
                  <c:v>Наш адаптивный, ~14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76.1</c:v>
                </c:pt>
                <c:pt idx="1">
                  <c:v>74.4</c:v>
                </c:pt>
                <c:pt idx="2">
                  <c:v>80.1</c:v>
                </c:pt>
                <c:pt idx="3">
                  <c:v>91.7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ФСП Талант</c:v>
                </c:pt>
              </c:strCache>
            </c:strRef>
          </c:tx>
          <c:spPr>
            <a:solidFill>
              <a:srgbClr val="FF005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0,632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0,658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0,410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0.632</c:v>
                </c:pt>
                <c:pt idx="1">
                  <c:v>0.658</c:v>
                </c:pt>
                <c:pt idx="2">
                  <c:v>0.41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резюме</c:v>
                </c:pt>
              </c:strCache>
            </c:strRef>
          </c:tx>
          <c:spPr>
            <a:solidFill>
              <a:srgbClr val="FFD6E4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0,559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0.559</c:v>
                </c:pt>
                <c:pt idx="1">
                  <c:v>0.62</c:v>
                </c:pt>
                <c:pt idx="2">
                  <c:v>0.011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Насколько метрика угадывает силу участника (три выборки)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Связь со скрытой силой</c:v>
                </c:pt>
              </c:strCache>
            </c:strRef>
          </c:tx>
          <c:spPr>
            <a:solidFill>
              <a:srgbClr val="8A83D1"/>
            </a:solidFill>
          </c:spPr>
          <c:dPt>
            <c:idx val="2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0,127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0,681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0,768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Число участий</c:v>
                </c:pt>
                <c:pt idx="1">
                  <c:v>Среднее место</c:v>
                </c:pt>
                <c:pt idx="2">
                  <c:v>Наша оценка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0.127</c:v>
                </c:pt>
                <c:pt idx="1">
                  <c:v>0.681</c:v>
                </c:pt>
                <c:pt idx="2">
                  <c:v>0.768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Вес критерия, %</c:v>
                </c:pt>
              </c:strCache>
            </c:strRef>
          </c:tx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520978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D6E4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35 %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Подбор</c:v>
                </c:pt>
                <c:pt idx="1">
                  <c:v>Тестирование</c:v>
                </c:pt>
                <c:pt idx="2">
                  <c:v>Интерфейс и питч</c:v>
                </c:pt>
                <c:pt idx="3">
                  <c:v>Техника, документы, доп.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11.10.2026</a:t>
            </a:fld>
            <a:endParaRPr lang="ru-RU"/>
          </a:p>
        </p:txBody>
      </p:sp>
      <p:sp>
        <p:nvSpPr>
          <p:cNvPr id="1019053895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7:19–7:44. Скажем сразу, что на стенде настоящее. Подбор, тест, приглашения и согласия работают полностью. ФСП ID и реестр мы имитируем по тому же протоколу, потому что доступа к системам Федерации в хакатоне нет. Качество теста измерено на синтетике: у уверенных решений, а это около 72 % кандидатов, повторный тест даёт тот же итог в 80,3 % случаев на отложенных выборках, цель на пилоте 85 %. Речь именно о доле совпадений. Как это проверить на людях, показываем на следующем слайде про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6:39–7:04. Для бизнеса это значит: в первой десятке на 13 % больше подходящих людей и вдвое меньше тех, кто слабее нужного грейда. Деньги платят компании, кандидатам платформа бесплатна всегда, контакты не продаём.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6:24–6:39. Для кандидата это подтверждённый грейд вместо резюме, для компании короткая подборка нужных людей. Федерации платформа даёт то, чего ей не хватало: победы участников начинают работать на их карьеру. Привлекать людей будем через соревнования и ФСП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0:59–1:09. Идём по рекомендованной структуре: описание решения, маркетинг, бизнес, техника, уникальность и планы. Если запомнить три цифры, то эти: все 1875 ключей заданий проверены запуском, слабых кандидатов в первой десятке вдвое меньше, тест уверенно различает соседние грейды.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3CE58C-BCDB-DF7C-30F0-89AAAE4D4C27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3:59–4:29. В первой десятке у нас 63 % подходящих людей против 56 % у поиска по резюме. Внутри категории сильный стоит выше слабого: связь с настоящей силой 0,410 против 0,011. Слепая разметка 200 пар двумя независимыми автоматическими оценщиками показывает то же самое. Людей-экспертов позовём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3:34–3:59. Зачем вообще адаптивный тест? На тех же людях он точнее линейной формы: 91,7 % верных решений против 74,4 % у формы из 14 заданий и 80,1 % у формы из 20. Разница статистически значима, интервал не касается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0:00–0:12. Здравствуйте! Мы команда «ФСП Талант». Наша платформа устроена просто: уровень человека подтверждает тест, а первым пишет работодатель и сразу называет зарплату.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0:12–0:24. Нас двое, мы из Москвы. За неделю сделали больше 800 коммитов, и каждое изменение прошло автоматическую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0:24–0:32. Дмитрий отвечает за архитектуру, подбор и тест. Елена — за метрики, сборку и приёмку. Число тестов: [финальное число тестов после заморозки в 23:30].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0:32–0:44. Главное здесь — три трудных вопроса и три инженерных ответа на них.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0:44–0:59. Слева то, как это устроено. Справа то, что это даёт людям и Федерации.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3:14–3:34. Второй критерий ТЗ спрашивает, разделяет ли тест сильных и слабых. Да: средний AUC для соседних грейдов 0,92. Два независимых полных пути дают согласованный грейд, взвешенная каппа 0,85, а итоговый грейд в 98,9 % случаев точен до ступени. Всё это на смоделированных кандидатах.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7:04–7:19. Весь стенд поднимается одной командой. ФСП ID подключается по стандартному протоколу, как Keycloak Федерации. Через OpenAPI и вебхуки к платформе подключаются ATS работодателей.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F754B9-C314-78E1-9148-225161C0F343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1131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7427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8:39–8:54. Всё, что мы показали, можно пройти самим. На странице «Режим жюри» три сценария, на них уходит три минуты.</a:t>
            </a:r>
          </a:p>
        </p:txBody>
      </p:sp>
      <p:sp>
        <p:nvSpPr>
          <p:cNvPr id="161881934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7:59–8:14. Чем мы отличаемся от больших площадок. Уровень доказан, первым пишет работодатель, зарплата видна сразу, контакты нельзя купить, а каждое место в выдаче объяснено.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06BAC-253B-58A3-639D-527F98C5AEE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7:44–7:59. Больше 1400 тестов сервера, ни одного доступа к чужим данным из 240 попыток, поиск за 69 миллисекунд и ноль нарушений доступности.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BA356-8660-07B4-F2D3-15527AF5099C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2:44–3:14. ТЗ называет главный риск: задания расходятся между кандидатами. Наш ответ — генераторы: у каждого свои числа и код. Слив двадцати сессий почти не помогает: 5,7 % против 5,3 % у честных, это в пределах шума. Сигналы честности ловят 90 % сессий с утечкой половины ключей при 0,7 % ложных; грейд они не меняют, а зовут человека. Решение «сдал или не сдал» вдали от границы верно в 91,7 % случаев. Тест построен на модели IRT 3PL, задаёт вопросы у границы грейда и останавливается, как только уверен в ответе.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219D6-1FE2-491F-3A52-0CC7A2FEAC97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8:14–8:39. После хакатона продукт не умирает. Первый шаг — пилот: 150 участников ФСП, шесть недель, два эксперта вслепую. Если согласие теста с экспертами ниже 0,60, пороги грейдов мы не публикуем. Параллельно меряем то, что важно работодателю: время до принятого приглашения и долю принятых.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B3710C-F9D6-6B44-6B4D-E2150971346E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1:59–2:29. Для рекрутера всё сводится к четырём шагам. Уровень кандидата уже проверен тестом. Подборка показывает, почему человек в ней, и в первой десятке меньше тех, кто завысил себе грейд. Приглашение уходит только с вилкой. Контакты открывает сам кандидат. Сколько времени это экономит рекрутеру, мы пока не мерили. Это первая метрика пилота. Решение о найме всегда принимает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5:34–5:54. Спама не будет: у компании лимит приглашений, и он растёт только после проверки. Персональные данные мы обрабатываем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B148B2-0BD4-3C0D-A0ED-AD58B32B000C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1:09–1:39. За год резюме на одну ИТ-вакансию стало вдвое больше: было 9,6, стало 19,6. Работодателю труднее найти нужного человека, кандидату труднее получить ответ, а победы участников ФСП рынок просто не замечает. Об этом же говорит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6D7D11-5C0A-B1A5-898F-E512FCCFE33F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5:09–5:34. Постановщик просил, чтобы результаты ФСП давали преимущество, а профильная дисциплина весила больше. Так и сделано. Наша оценка угадывает силу участника лучше среднего места и в шесть раз лучше числа участий. Накрутить её участиями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685159-7624-E584-AE44-646644786B7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Приложение. Как решение закрывает каждый критерий раздела 6 ТЗ. Команда make accept проверяет 38 требований.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57DCC-93BA-17AE-3D1A-076710FE96D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1:39–1:59. Работодателю больше не нужно читать ленту откликов. Кандидат знает зарплату до разговора. У Федерации появляется понятный довод для участников: победы помогают найти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19F3E0-9721-CCC6-2728-E58E0A57463E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4:29–4:59. Как мы получили эти цифры. Смоделировали кандидатов, у которых настоящий грейд известен заранее. Проверяли на выборках, которые не трогали при настройке, считали доверительные интервалы и убирали части модели по одной. Разметку 200 пар делали вслепую два независимых автоматических оценщика. Слабое место тоже называем: живых людей ещё не было, для этого пилот с заранее записанным порогом.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5:54–6:09. Всё, что ТЗ называет дополнительным функционалом, уже работает: вакансии и отклики, задания от компаний, защита от фиктивных вакансий, выгрузка в ATS через вебхуки и мобильная версия.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4:59–5:09. Это живые экраны стенда, их можно открыть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777F9-D28E-96AD-265F-92243C6AA8E0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2:29–2:44. Так кандидат видит платформу с телефона: категория, готовность профиля и кнопка «Подтвердить грейд тестом».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EE043E-8C3E-5310-2E1C-80991E6EFBEB}" type="slidenum">
              <a:rPr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6:09–6:24. Всё то же самое работает с телефона: кабинет кандидата, тест и поиск у работодателя. Вёрстку проверяли на ширине 390 пикселей.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73A068-11EC-A835-AB1D-8190CC97DA21}" type="slidenum">
              <a:rPr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8:54–9:04. Спасибо! Готовы ответить на вопросы и показать любой сценарий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для вопросов: все метрики теста и подбора в одной таблице рядом с базой для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11.10.2026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11.10.2026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11.10.2026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11.10.2026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11.10.2026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11.10.2026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11.10.2026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11.10.2026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11.10.2026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11.10.2026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11.10.2026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11.10.2026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11.10.2026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11.10.2026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11.10.2026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11.10.2026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11.10.2026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11.10.2026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11.10.2026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rial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5.xml"/><Relationship Id="rId3" Type="http://schemas.openxmlformats.org/officeDocument/2006/relationships/image" Target="../media/image10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6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chart" Target="../charts/chart2.xml"/><Relationship Id="rId5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chart" Target="../charts/chart3.xml"/><Relationship Id="rId5" Type="http://schemas.openxmlformats.org/officeDocument/2006/relationships/chart" Target="../charts/chart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ФСП ТАЛАНТ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8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500"/>
              <a:t>Платформа подбора ИТ-специалистов с проверенным профилем достижений участника ФСП</a:t>
            </a:r>
          </a:p>
          <a:p>
            <a:pPr marL="271463" indent="-3175">
              <a:defRPr/>
            </a:pPr>
            <a:r>
              <a:rPr lang="ru-RU" sz="1500"/>
              <a:t>ФСП Талант — команда Дмитрия Конькова · ЛЦТ 2026, спецтрек ФСП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buFont typeface="Wingdings"/>
              <a:defRPr/>
            </a:pPr>
            <a:r>
              <a:rPr lang="ru-RU" sz="1300" b="0">
                <a:solidFill>
                  <a:srgbClr val="1C1D22"/>
                </a:solidFill>
              </a:rPr>
              <a:t>Тест нельзя выучить: у каждого кандидата свои числа и код. Каждое место в выдаче объяснено. Любую цифру из отчёта можно перепроверить одной командой.</a:t>
            </a:r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Капитан: </a:t>
            </a:r>
            <a:r>
              <a:rPr lang="ru-RU" b="0" sz="1300">
                <a:solidFill>
                  <a:srgbClr val="1C1D22"/>
                </a:solidFill>
              </a:rPr>
              <a:t>Коньков Дмитрий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Кол-во участников: </a:t>
            </a:r>
            <a:r>
              <a:rPr lang="ru-RU" b="0" sz="1300">
                <a:solidFill>
                  <a:srgbClr val="1C1D22"/>
                </a:solidFill>
              </a:rPr>
              <a:t>2 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Краткое описание: </a:t>
            </a:r>
            <a:r>
              <a:rPr lang="ru-RU" b="0" sz="1300">
                <a:solidFill>
                  <a:srgbClr val="1C1D22"/>
                </a:solidFill>
              </a:rPr>
              <a:t>за неделю больше 800 коммитов и более 360 принятых изменений, каждое прошло автопроверки. Опыт: AeroBIM в программе «Техлаб Москва»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Город и регион: </a:t>
            </a:r>
            <a:r>
              <a:rPr lang="ru-RU" b="0" sz="1300">
                <a:solidFill>
                  <a:srgbClr val="1C1D22"/>
                </a:solidFill>
              </a:rPr>
              <a:t>Москва</a:t>
            </a:r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ФСП ТАЛАНТ</a:t>
            </a: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buFont typeface="Wingdings"/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сам находит нужного специалиста и пишет ему первым, сразу с зарплатной вилкой. Уровень подтверждает адаптивный тест, а победы в соревнованиях ФСП усиливают профиль.</a:t>
            </a:r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79138184" name="Picture 2079138183" descr="logo.pn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777240" y="685800"/>
            <a:ext cx="49377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3520440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3749039" y="4343400"/>
            <a:ext cx="2606040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1">
                <a:solidFill>
                  <a:srgbClr val="1C1D22"/>
                </a:solidFill>
              </a:rPr>
              <a:t>Системный инженер</a:t>
            </a:r>
          </a:p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Метрики, сборка, приёмка</a:t>
            </a:r>
          </a:p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konkovaelena@yandex.ru</a:t>
            </a: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3749039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Елена Конькова</a:t>
            </a:r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7472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19812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445448399" name="Рисунок 1" descr="k3_3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6432" b="6432"/>
          <a:stretch>
            <a:fillRect/>
          </a:stretch>
        </p:blipFill>
        <p:spPr>
          <a:xfrm>
            <a:off x="731520" y="1783080"/>
            <a:ext cx="2203704" cy="1920240"/>
          </a:xfrm>
        </p:spPr>
      </p:pic>
      <p:pic>
        <p:nvPicPr>
          <p:cNvPr id="1949760256" name="Рисунок 2" descr="k3_5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6432" b="6432"/>
          <a:stretch>
            <a:fillRect/>
          </a:stretch>
        </p:blipFill>
        <p:spPr>
          <a:xfrm>
            <a:off x="3904488" y="1783080"/>
            <a:ext cx="2203704" cy="1920240"/>
          </a:xfrm>
        </p:spPr>
      </p:pic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1798379" cy="376138"/>
          </a:xfrm>
        </p:spPr>
        <p:txBody>
          <a:bodyPr/>
          <a:lstStyle/>
          <a:p>
            <a:pPr>
              <a:defRPr/>
            </a:pPr>
            <a:r>
              <a:rPr lang="ru-RU"/>
              <a:t>КОМАНДА</a:t>
            </a: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76072" y="4343400"/>
            <a:ext cx="2606040" cy="1737360"/>
          </a:xfrm>
        </p:spPr>
        <p:txBody>
          <a:bodyPr>
            <a:normAutofit/>
          </a:bodyPr>
          <a:lstStyle/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1">
                <a:solidFill>
                  <a:srgbClr val="1C1D22"/>
                </a:solidFill>
              </a:rPr>
              <a:t>Капитан команды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Архитектура, подбор, адаптивный тест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+7 915 452-88-64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konkov-dmitrij@yandex.ru</a:t>
            </a:r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76072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Дмитрий Коньков</a:t>
            </a:r>
          </a:p>
        </p:txBody>
      </p:sp>
      <p:sp>
        <p:nvSpPr>
          <p:cNvPr id="2123857936" name="Как работаем"/>
          <p:cNvSpPr/>
          <p:nvPr/>
        </p:nvSpPr>
        <p:spPr>
          <a:xfrm>
            <a:off x="6693408" y="1517904"/>
            <a:ext cx="5148071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857937" name="TextBox 2123857936"/>
          <p:cNvSpPr txBox="1"/>
          <p:nvPr/>
        </p:nvSpPr>
        <p:spPr>
          <a:xfrm>
            <a:off x="6967728" y="17373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КАК МЫ РАБОТАЕМ</a:t>
            </a:r>
          </a:p>
        </p:txBody>
      </p:sp>
      <p:sp>
        <p:nvSpPr>
          <p:cNvPr id="2123857938" name="TextBox 2123857937"/>
          <p:cNvSpPr txBox="1"/>
          <p:nvPr/>
        </p:nvSpPr>
        <p:spPr>
          <a:xfrm>
            <a:off x="6967728" y="233172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800+</a:t>
            </a:r>
          </a:p>
        </p:txBody>
      </p:sp>
      <p:sp>
        <p:nvSpPr>
          <p:cNvPr id="2123857939" name="TextBox 2123857938"/>
          <p:cNvSpPr txBox="1"/>
          <p:nvPr/>
        </p:nvSpPr>
        <p:spPr>
          <a:xfrm>
            <a:off x="8430768" y="233172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коммитов за неделю</a:t>
            </a:r>
          </a:p>
        </p:txBody>
      </p:sp>
      <p:sp>
        <p:nvSpPr>
          <p:cNvPr id="2123857940" name="TextBox 2123857939"/>
          <p:cNvSpPr txBox="1"/>
          <p:nvPr/>
        </p:nvSpPr>
        <p:spPr>
          <a:xfrm>
            <a:off x="6967728" y="3291839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360+</a:t>
            </a:r>
          </a:p>
        </p:txBody>
      </p:sp>
      <p:sp>
        <p:nvSpPr>
          <p:cNvPr id="2123857941" name="TextBox 2123857940"/>
          <p:cNvSpPr txBox="1"/>
          <p:nvPr/>
        </p:nvSpPr>
        <p:spPr>
          <a:xfrm>
            <a:off x="8430768" y="3291839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изменений принято, каждое через автопроверки</a:t>
            </a:r>
          </a:p>
        </p:txBody>
      </p:sp>
      <p:sp>
        <p:nvSpPr>
          <p:cNvPr id="2123857942" name="TextBox 2123857941"/>
          <p:cNvSpPr txBox="1"/>
          <p:nvPr/>
        </p:nvSpPr>
        <p:spPr>
          <a:xfrm>
            <a:off x="6967728" y="425196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1400+</a:t>
            </a:r>
          </a:p>
        </p:txBody>
      </p:sp>
      <p:sp>
        <p:nvSpPr>
          <p:cNvPr id="2123857943" name="TextBox 2123857942"/>
          <p:cNvSpPr txBox="1"/>
          <p:nvPr/>
        </p:nvSpPr>
        <p:spPr>
          <a:xfrm>
            <a:off x="8430768" y="425196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тестов сервера и ещё 177 тестов интерфейса</a:t>
            </a:r>
          </a:p>
        </p:txBody>
      </p:sp>
      <p:sp>
        <p:nvSpPr>
          <p:cNvPr id="2123857944" name="TextBox 2123857943"/>
          <p:cNvSpPr txBox="1"/>
          <p:nvPr/>
        </p:nvSpPr>
        <p:spPr>
          <a:xfrm>
            <a:off x="6967728" y="521208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</a:t>
            </a:r>
          </a:p>
        </p:txBody>
      </p:sp>
      <p:sp>
        <p:nvSpPr>
          <p:cNvPr id="2123857945" name="TextBox 2123857944"/>
          <p:cNvSpPr txBox="1"/>
          <p:nvPr/>
        </p:nvSpPr>
        <p:spPr>
          <a:xfrm>
            <a:off x="8430768" y="521208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команда docker compose up поднимает весь стенд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7472" y="320040"/>
            <a:ext cx="335766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8334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ИСТОРИЯ КОМАНДЫ</a:t>
            </a: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966960" cy="960120"/>
          </a:xfrm>
        </p:spPr>
        <p:txBody>
          <a:bodyPr>
            <a:normAutofit/>
          </a:bodyPr>
          <a:lstStyle/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С апреля 2026 года делаем AeroBIM в программе «Техлаб Москва». На ЛЦТ 2026 параллельно решали задачу Мосгосстройнадзора. Оттуда привычка: ни одно изменение не попадает в код без проверки.</a:t>
            </a:r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Как сделать тест, который нельзя слить? Заменили банк вопросов генераторами заданий. Как не обидеть тех, у кого нет истории ФСП? Соревнования только добавляют баллы. Как работать с подростками 15–17 лет? Через согласие законного представителя.</a:t>
            </a:r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Резюме не доказывает навык, а протокол соревнования доказывает. Нам хотелось, чтобы работодатель сам звал сильных ребят, а их победы превращались в предложения о работе.</a:t>
            </a:r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7472" y="320040"/>
            <a:ext cx="3560583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Адаптивный тест на модели IRT 3PL подбирает задания у границы грейда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22 семейства заданий, у каждого кандидата свои числа и код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Оценка подбора раскладывается на навыки, грейд, роль, тест и результаты ФСП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Вход через ФСП ID по OpenID Connect, протоколы выдаются как подписанные удостоверения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FastAPI, PostgreSQL с pgvector, Redis, Celery, React и TypeScript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приглашает подходящих и не разбирает отклики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Зарплата известна до первого разговора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открывает сам кандидат, приняв приглашение или откликнувшись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Победы в соревнованиях становятся аргументом при найме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Без истории ФСП человек ничего не теряет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286263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2134" name="Номер слайда 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05274618" name="Текст 62"/>
          <p:cNvSpPr>
            <a:spLocks noGrp="1"/>
          </p:cNvSpPr>
          <p:nvPr>
            <p:ph type="body" sz="quarter" idx="27"/>
          </p:nvPr>
        </p:nvSpPr>
        <p:spPr bwMode="auto">
          <a:xfrm>
            <a:off x="925057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Подробное описание решения</a:t>
            </a:r>
            <a:endParaRPr/>
          </a:p>
        </p:txBody>
      </p:sp>
      <p:sp>
        <p:nvSpPr>
          <p:cNvPr id="1784095245" name="Текст 63"/>
          <p:cNvSpPr>
            <a:spLocks noGrp="1"/>
          </p:cNvSpPr>
          <p:nvPr>
            <p:ph type="body" sz="quarter" idx="33"/>
          </p:nvPr>
        </p:nvSpPr>
        <p:spPr bwMode="auto">
          <a:xfrm>
            <a:off x="3507375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Маркетинговая часть решения</a:t>
            </a:r>
            <a:endParaRPr/>
          </a:p>
        </p:txBody>
      </p:sp>
      <p:sp>
        <p:nvSpPr>
          <p:cNvPr id="700132442" name="Текст 64"/>
          <p:cNvSpPr>
            <a:spLocks noGrp="1"/>
          </p:cNvSpPr>
          <p:nvPr>
            <p:ph type="body" sz="quarter" idx="35"/>
          </p:nvPr>
        </p:nvSpPr>
        <p:spPr bwMode="auto">
          <a:xfrm>
            <a:off x="6089694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Бизнесовая составляющая решения</a:t>
            </a:r>
            <a:endParaRPr/>
          </a:p>
        </p:txBody>
      </p:sp>
      <p:sp>
        <p:nvSpPr>
          <p:cNvPr id="1504802995" name="Текст 65"/>
          <p:cNvSpPr>
            <a:spLocks noGrp="1"/>
          </p:cNvSpPr>
          <p:nvPr>
            <p:ph type="body" sz="quarter" idx="37"/>
          </p:nvPr>
        </p:nvSpPr>
        <p:spPr bwMode="auto">
          <a:xfrm>
            <a:off x="925058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Техническая проработка решения</a:t>
            </a:r>
            <a:endParaRPr/>
          </a:p>
        </p:txBody>
      </p:sp>
      <p:sp>
        <p:nvSpPr>
          <p:cNvPr id="1443084464" name="Текст 66"/>
          <p:cNvSpPr>
            <a:spLocks noGrp="1"/>
          </p:cNvSpPr>
          <p:nvPr>
            <p:ph type="body" sz="quarter" idx="39"/>
          </p:nvPr>
        </p:nvSpPr>
        <p:spPr bwMode="auto">
          <a:xfrm>
            <a:off x="3474583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Уникальность решения</a:t>
            </a:r>
            <a:endParaRPr/>
          </a:p>
        </p:txBody>
      </p:sp>
      <p:sp>
        <p:nvSpPr>
          <p:cNvPr id="1413016022" name="Текст 66"/>
          <p:cNvSpPr txBox="1"/>
          <p:nvPr/>
        </p:nvSpPr>
        <p:spPr bwMode="auto">
          <a:xfrm>
            <a:off x="6055728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Планы </a:t>
            </a:r>
            <a:br>
              <a:rPr lang="ru-RU" sz="1600">
                <a:solidFill>
                  <a:schemeClr val="tx1"/>
                </a:solidFill>
              </a:rPr>
            </a:br>
            <a:r>
              <a:rPr lang="ru-RU" sz="1600">
                <a:solidFill>
                  <a:schemeClr val="tx1"/>
                </a:solidFill>
              </a:rPr>
              <a:t>по развитию решения</a:t>
            </a:r>
            <a:endParaRPr/>
          </a:p>
        </p:txBody>
      </p:sp>
      <p:sp>
        <p:nvSpPr>
          <p:cNvPr id="678174979" name="Заголовок 1"/>
          <p:cNvSpPr txBox="1"/>
          <p:nvPr/>
        </p:nvSpPr>
        <p:spPr bwMode="auto">
          <a:xfrm>
            <a:off x="938912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1400910730" name="Заголовок 1"/>
          <p:cNvSpPr txBox="1"/>
          <p:nvPr/>
        </p:nvSpPr>
        <p:spPr bwMode="auto">
          <a:xfrm>
            <a:off x="3507375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1578657682" name="Заголовок 1"/>
          <p:cNvSpPr txBox="1"/>
          <p:nvPr/>
        </p:nvSpPr>
        <p:spPr bwMode="auto">
          <a:xfrm>
            <a:off x="6114617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1264653374" name="Заголовок 1"/>
          <p:cNvSpPr txBox="1"/>
          <p:nvPr/>
        </p:nvSpPr>
        <p:spPr bwMode="auto">
          <a:xfrm>
            <a:off x="938912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229297656" name="Заголовок 1"/>
          <p:cNvSpPr txBox="1"/>
          <p:nvPr/>
        </p:nvSpPr>
        <p:spPr bwMode="auto">
          <a:xfrm>
            <a:off x="3507375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677434687" name="Заголовок 1"/>
          <p:cNvSpPr txBox="1"/>
          <p:nvPr/>
        </p:nvSpPr>
        <p:spPr bwMode="auto">
          <a:xfrm>
            <a:off x="6114617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06</a:t>
            </a:r>
            <a:endParaRPr/>
          </a:p>
        </p:txBody>
      </p:sp>
      <p:sp>
        <p:nvSpPr>
          <p:cNvPr id="1819658584" name="Текст 62"/>
          <p:cNvSpPr txBox="1"/>
          <p:nvPr/>
        </p:nvSpPr>
        <p:spPr bwMode="auto">
          <a:xfrm>
            <a:off x="740664" y="1186647"/>
            <a:ext cx="7589520" cy="56692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/>
              <a:buNone/>
              <a:defRPr/>
            </a:pPr>
            <a:r>
              <a:rPr lang="ru-RU" sz="1600" b="1">
                <a:solidFill>
                  <a:srgbClr val="1C1D22"/>
                </a:solidFill>
                <a:latin typeface="Arial"/>
              </a:rPr>
              <a:t>Шесть разделов по рекомендованной структуре ЛЦТ</a:t>
            </a:r>
          </a:p>
        </p:txBody>
      </p:sp>
      <p:sp>
        <p:nvSpPr>
          <p:cNvPr id="934486042" name="Скругленный прямоугольник 9"/>
          <p:cNvSpPr/>
          <p:nvPr/>
        </p:nvSpPr>
        <p:spPr bwMode="auto">
          <a:xfrm>
            <a:off x="3300935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8344808" name="Скругленный прямоугольник 10"/>
          <p:cNvSpPr/>
          <p:nvPr/>
        </p:nvSpPr>
        <p:spPr bwMode="auto">
          <a:xfrm>
            <a:off x="5895854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9621837" name="Скругленный прямоугольник 11"/>
          <p:cNvSpPr/>
          <p:nvPr/>
        </p:nvSpPr>
        <p:spPr bwMode="auto">
          <a:xfrm>
            <a:off x="743086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3145286" name="Скругленный прямоугольник 12"/>
          <p:cNvSpPr/>
          <p:nvPr/>
        </p:nvSpPr>
        <p:spPr bwMode="auto">
          <a:xfrm>
            <a:off x="3300935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46492323" name="Скругленный прямоугольник 13"/>
          <p:cNvSpPr/>
          <p:nvPr/>
        </p:nvSpPr>
        <p:spPr bwMode="auto">
          <a:xfrm>
            <a:off x="5895854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4829700" name="Скругленный прямоугольник 14"/>
          <p:cNvSpPr/>
          <p:nvPr/>
        </p:nvSpPr>
        <p:spPr bwMode="auto">
          <a:xfrm>
            <a:off x="743086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880397" name="Скругленный прямоугольник 1"/>
          <p:cNvSpPr/>
          <p:nvPr/>
        </p:nvSpPr>
        <p:spPr bwMode="auto">
          <a:xfrm>
            <a:off x="347472" y="320040"/>
            <a:ext cx="3485157" cy="621792"/>
          </a:xfrm>
          <a:prstGeom prst="roundRect">
            <a:avLst>
              <a:gd name="adj" fmla="val 24229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01411155" name="Заголовок 1"/>
          <p:cNvSpPr txBox="1"/>
          <p:nvPr/>
        </p:nvSpPr>
        <p:spPr bwMode="auto">
          <a:xfrm>
            <a:off x="347472" y="320040"/>
            <a:ext cx="3485157" cy="62179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 algn="ctr"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2044829701" name="TextBox 2044829700"/>
          <p:cNvSpPr txBox="1"/>
          <p:nvPr/>
        </p:nvSpPr>
        <p:spPr>
          <a:xfrm>
            <a:off x="1716152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7–20</a:t>
            </a:r>
          </a:p>
        </p:txBody>
      </p:sp>
      <p:sp>
        <p:nvSpPr>
          <p:cNvPr id="2044829702" name="TextBox 2044829701"/>
          <p:cNvSpPr txBox="1"/>
          <p:nvPr/>
        </p:nvSpPr>
        <p:spPr>
          <a:xfrm>
            <a:off x="4284615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21</a:t>
            </a:r>
          </a:p>
        </p:txBody>
      </p:sp>
      <p:sp>
        <p:nvSpPr>
          <p:cNvPr id="2044829703" name="TextBox 2044829702"/>
          <p:cNvSpPr txBox="1"/>
          <p:nvPr/>
        </p:nvSpPr>
        <p:spPr>
          <a:xfrm>
            <a:off x="6891857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22</a:t>
            </a:r>
          </a:p>
        </p:txBody>
      </p:sp>
      <p:sp>
        <p:nvSpPr>
          <p:cNvPr id="2044829704" name="TextBox 2044829703"/>
          <p:cNvSpPr txBox="1"/>
          <p:nvPr/>
        </p:nvSpPr>
        <p:spPr>
          <a:xfrm>
            <a:off x="1716152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23–25</a:t>
            </a:r>
          </a:p>
        </p:txBody>
      </p:sp>
      <p:sp>
        <p:nvSpPr>
          <p:cNvPr id="2044829705" name="TextBox 2044829704"/>
          <p:cNvSpPr txBox="1"/>
          <p:nvPr/>
        </p:nvSpPr>
        <p:spPr>
          <a:xfrm>
            <a:off x="4284615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26</a:t>
            </a:r>
          </a:p>
        </p:txBody>
      </p:sp>
      <p:sp>
        <p:nvSpPr>
          <p:cNvPr id="2044829706" name="TextBox 2044829705"/>
          <p:cNvSpPr txBox="1"/>
          <p:nvPr/>
        </p:nvSpPr>
        <p:spPr>
          <a:xfrm>
            <a:off x="6891857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27</a:t>
            </a:r>
          </a:p>
        </p:txBody>
      </p:sp>
      <p:sp>
        <p:nvSpPr>
          <p:cNvPr id="2044829707" name="Главное"/>
          <p:cNvSpPr/>
          <p:nvPr/>
        </p:nvSpPr>
        <p:spPr>
          <a:xfrm>
            <a:off x="8458200" y="1792224"/>
            <a:ext cx="3383280" cy="3922776"/>
          </a:xfrm>
          <a:prstGeom prst="roundRect">
            <a:avLst>
              <a:gd name="adj" fmla="val 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829708" name="TextBox 2044829707"/>
          <p:cNvSpPr txBox="1"/>
          <p:nvPr/>
        </p:nvSpPr>
        <p:spPr>
          <a:xfrm>
            <a:off x="8659368" y="19385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ТРИ ЦИФРЫ</a:t>
            </a:r>
          </a:p>
        </p:txBody>
      </p:sp>
      <p:sp>
        <p:nvSpPr>
          <p:cNvPr id="2044829709" name="TextBox 2044829708"/>
          <p:cNvSpPr txBox="1"/>
          <p:nvPr/>
        </p:nvSpPr>
        <p:spPr>
          <a:xfrm>
            <a:off x="8659368" y="23957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1875 из 1875</a:t>
            </a:r>
          </a:p>
        </p:txBody>
      </p:sp>
      <p:sp>
        <p:nvSpPr>
          <p:cNvPr id="2044829710" name="TextBox 2044829709"/>
          <p:cNvSpPr txBox="1"/>
          <p:nvPr/>
        </p:nvSpPr>
        <p:spPr>
          <a:xfrm>
            <a:off x="8659368" y="28346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ключей заданий проверены запуском</a:t>
            </a:r>
          </a:p>
        </p:txBody>
      </p:sp>
      <p:sp>
        <p:nvSpPr>
          <p:cNvPr id="2044829711" name="TextBox 2044829710"/>
          <p:cNvSpPr txBox="1"/>
          <p:nvPr/>
        </p:nvSpPr>
        <p:spPr>
          <a:xfrm>
            <a:off x="8659368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−56 %</a:t>
            </a:r>
          </a:p>
        </p:txBody>
      </p:sp>
      <p:sp>
        <p:nvSpPr>
          <p:cNvPr id="2044829712" name="TextBox 2044829711"/>
          <p:cNvSpPr txBox="1"/>
          <p:nvPr/>
        </p:nvSpPr>
        <p:spPr>
          <a:xfrm>
            <a:off x="8659368" y="3913631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кандидатов слабее нужного грейда в первой десятке</a:t>
            </a:r>
          </a:p>
        </p:txBody>
      </p:sp>
      <p:sp>
        <p:nvSpPr>
          <p:cNvPr id="2044829713" name="TextBox 2044829712"/>
          <p:cNvSpPr txBox="1"/>
          <p:nvPr/>
        </p:nvSpPr>
        <p:spPr>
          <a:xfrm>
            <a:off x="8659368" y="4553712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0,92</a:t>
            </a:r>
          </a:p>
        </p:txBody>
      </p:sp>
      <p:sp>
        <p:nvSpPr>
          <p:cNvPr id="2044829714" name="TextBox 2044829713"/>
          <p:cNvSpPr txBox="1"/>
          <p:nvPr/>
        </p:nvSpPr>
        <p:spPr>
          <a:xfrm>
            <a:off x="8659368" y="4992624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AUC различения соседних грейдов</a:t>
            </a:r>
          </a:p>
        </p:txBody>
      </p:sp>
      <p:sp>
        <p:nvSpPr>
          <p:cNvPr id="2044829715" name="Симуляция"/>
          <p:cNvSpPr txBox="1"/>
          <p:nvPr/>
        </p:nvSpPr>
        <p:spPr>
          <a:xfrm>
            <a:off x="740664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6B6C75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6044326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Инженеры тратят часы на сотни откликов. Резюме не доказывает навык, поэтому отбирают по ключевым словам.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Откликается вслепую, о зарплате узнаёт последним, а ответа часто не получает.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Работодатель не видит побед участников, и спортивный опыт не помогает им в карьере.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77000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НА ВАКАНСИЮ ВДВОЕ БОЛЬШЕ РЕЗЮМЕ</a:t>
            </a:r>
          </a:p>
        </p:txBody>
      </p:sp>
      <p:sp>
        <p:nvSpPr>
          <p:cNvPr id="211663326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ПОДРОБНОЕ ОПИСАНИЕ РЕШЕНИЯ</a:t>
            </a:r>
          </a:p>
        </p:txBody>
      </p:sp>
      <p:graphicFrame>
        <p:nvGraphicFramePr>
          <p:cNvPr id="2116633261" name="Chart 2116633260"/>
          <p:cNvGraphicFramePr>
            <a:graphicFrameLocks noGrp="1"/>
          </p:cNvGraphicFramePr>
          <p:nvPr/>
        </p:nvGraphicFramePr>
        <p:xfrm>
          <a:off x="346075" y="1561670"/>
          <a:ext cx="5749925" cy="412742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6633262" name="Источник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Источник: данные hh.ru в статье Habr «Что сейчас происходит с рынком ИТ-специалистов», 17.03.2026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340314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8617988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29500730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8081117" name="Скругленный прямоугольник 1"/>
          <p:cNvSpPr/>
          <p:nvPr/>
        </p:nvSpPr>
        <p:spPr bwMode="auto">
          <a:xfrm>
            <a:off x="347472" y="320040"/>
            <a:ext cx="294008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0723832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08144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212818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75629732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РАБОТОДАТЕЛЬ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сотни откликов и отбор по ключевым словам.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короткая подборка, где понятно, почему человек в неё попал.</a:t>
            </a:r>
          </a:p>
        </p:txBody>
      </p:sp>
      <p:sp>
        <p:nvSpPr>
          <p:cNvPr id="53174560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КАНДИДАТ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отклик наугад, зарплата в самом конце.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приглашение с вилкой, контакты он открывает сам.</a:t>
            </a:r>
          </a:p>
        </p:txBody>
      </p:sp>
      <p:sp>
        <p:nvSpPr>
          <p:cNvPr id="195924208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ФЕДЕРАЦИЯ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победы видны только в протоколах.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протоколы в профиле подтверждают навык, вход через ФСП ID.</a:t>
            </a:r>
          </a:p>
        </p:txBody>
      </p:sp>
      <p:cxnSp>
        <p:nvCxnSpPr>
          <p:cNvPr id="1146371666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238211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94642111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908618070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64023960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21341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66576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МЫ МЕНЯЕМ</a:t>
            </a:r>
          </a:p>
        </p:txBody>
      </p:sp>
      <p:cxnSp>
        <p:nvCxnSpPr>
          <p:cNvPr id="405110045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837608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Грейд проверен тестом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9 случаях из 10 тест верно решает, подтверждён ли заявленный грейд, если человек не на самой границе.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с объяснением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Карточки без имени. Завысивших грейд в первой десятке 22,1 % против 28,1 % при поиске по резюме.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Приглашение с вилкой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Без вилки «от и до» приглашение не отправить. Сумма до вычета НДФЛ и не ниже МРОТ.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Контакты после согласия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Открываются, только когда кандидат принял приглашение или сам откликнулся на вакансию. Каждый просмотр записан в журнал.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563288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ДЛЯ РЕКРУТЕРА: ЧЕТЫРЕ ШАГА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3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4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ОБРАТНЫЙ НАЙМ БЕЗ ФОРМУЛ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Экономию времени рекрутера мы пока не измеряли. На пилоте считаем время от потребности до принятого приглашения и долю принятых.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355410" name="Скругленный прямоугольник 2"/>
          <p:cNvSpPr/>
          <p:nvPr/>
        </p:nvSpPr>
        <p:spPr bwMode="auto">
          <a:xfrm>
            <a:off x="347472" y="320040"/>
            <a:ext cx="299444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80782443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89703029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Вход</a:t>
            </a:r>
          </a:p>
        </p:txBody>
      </p:sp>
      <p:sp>
        <p:nvSpPr>
          <p:cNvPr id="950311669" name="Текст 4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Через ФСП ID или по почте. Протоколы и разряды подтягиваются сами</a:t>
            </a:r>
          </a:p>
        </p:txBody>
      </p:sp>
      <p:sp>
        <p:nvSpPr>
          <p:cNvPr id="1473681808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Опрос</a:t>
            </a:r>
          </a:p>
        </p:txBody>
      </p:sp>
      <p:sp>
        <p:nvSpPr>
          <p:cNvPr id="1545573664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Специализация и грейд, на который человек претендует</a:t>
            </a:r>
          </a:p>
        </p:txBody>
      </p:sp>
      <p:sp>
        <p:nvSpPr>
          <p:cNvPr id="318754240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Тест</a:t>
            </a:r>
          </a:p>
        </p:txBody>
      </p:sp>
      <p:sp>
        <p:nvSpPr>
          <p:cNvPr id="1016344609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Пробный: до 15 заданий за 5 минут. Полный: от 8 до 20 заданий, код на семи языках, включая SQL</a:t>
            </a:r>
          </a:p>
        </p:txBody>
      </p:sp>
      <p:sp>
        <p:nvSpPr>
          <p:cNvPr id="1124698148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Категория</a:t>
            </a:r>
          </a:p>
        </p:txBody>
      </p:sp>
      <p:sp>
        <p:nvSpPr>
          <p:cNvPr id="1269703707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выдаче профиль без имени. Приглашения приходят сразу с зарплатой</a:t>
            </a:r>
          </a:p>
        </p:txBody>
      </p:sp>
      <p:sp>
        <p:nvSpPr>
          <p:cNvPr id="8707406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28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2002158334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8892987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2012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ПУТЬ КАНДИДАТА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187295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Сигналы честности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Ловят 90,0 % сессий с утечкой половины ключей при 0,7 % ложных срабатываний. Грейд не меняют, только зовут человека.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Верное решение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9 случаях из 10 решение «сдал или не сдал» верное, если человек не на самой границе грейда.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Слив 20 сессий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тест на средний грейд, подсмотрев двадцать чужих сессий. Честно сдают 5,3 % (2400 человек, 6 зёрен): атака в пределах шума.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91297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ВЫУЧЕННЫЙ ОТВЕТ НЕ ПОМОЖЕТ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90 %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91,7 %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5,7 %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Генератор задаёт сложность, а числа каждый раз новые. Числовой ответ вводят с клавиатуры, угадать его нельзя.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085834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Различимость грейдов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Средний AUC по соседним уровням. Все четыре пары от 0,90 до 0,93, нижняя граница 95 % ДИ не ниже 0,87.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Согласие двух путей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Взвешенная каппа итогового грейда двух независимых полных путей, на всех шести зёрнах 0,85–0,86. При старом порядке шкалы 0,76.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Итоговый грейд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Итоговый грейд совпадает с настоящим или отличается не больше чем на ступень.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11514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 ТОЧНО РАЗЛИЧАЕТ ГРЕЙДЫ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0,92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0,85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98,9 %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Грейд ставится, только когда система уверена в нём на 75 % и больше. Если не хватило, ступень ниже доступна сразу.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4483338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Меньше заданий, выше точность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среднем 14 заданий, и точнее линейной формы из 20.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Разница значима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+17 п. п. к линейной форме из 14 заданий, 95 % ДИ от +14,3 до +20,6.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Одни и те же люди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 же 2000 смоделированных кандидатов и та же скрытая правда, парный бутстреп.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Почему так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Тест берёт задания у границы грейда, где каждое даёт больше всего информации.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09018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АДАПТИВНОСТЬ ОКУПАЕТСЯ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app.validation.cat_baselines --n 2000 --seed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367666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Понятная формула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Навыки 0,45, грейд 0,30, роль 0,25, описание, отрасль и условия по 0,05. Тест и ФСП добавляются с весом 0,3.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Каждое место объяснено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 каждому фактору виден плюс или минус и «лучше N % кандидатов категории». Имя, пол и возраст не влияют.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Слепая разметка 200 пар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Два независимых автоматических оценщика. nDCG@10 0,928 (95 % ДИ 0,895–0,957) против 0,866 у поиска по резюме. MAP 0,904 против 0,746.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40234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 ТОПЕ ТЕ, КТО НУЖЕН</a:t>
            </a:r>
          </a:p>
        </p:txBody>
      </p:sp>
      <p:graphicFrame>
        <p:nvGraphicFramePr>
          <p:cNvPr id="2116633260" name="Chart 2116633259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16633261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cd backend &amp;&amp; python -m app.validation.matching</a:t>
            </a:r>
          </a:p>
        </p:txBody>
      </p:sp>
      <p:sp>
        <p:nvSpPr>
          <p:cNvPr id="2116633262" name="Протоколы"/>
          <p:cNvSpPr txBox="1"/>
          <p:nvPr/>
        </p:nvSpPr>
        <p:spPr>
          <a:xfrm>
            <a:off x="530352" y="587044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D6E4"/>
                </a:solidFill>
                <a:latin typeface="Arial"/>
              </a:rPr>
              <a:t>По протоколам опубликованных методов: nDCG@10 0,621 и 0,684; поиск BM25 на той же разметке 0,399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3406437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2000" b="1">
                <a:solidFill>
                  <a:srgbClr val="520978"/>
                </a:solidFill>
              </a:rPr>
              <a:t>Каждую цифру можно воспроизвести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Выборки с фиксированным зерном и команды проверки лежат в README. Тесты сверяют опубликованные числа с выводом кода.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Порог успеха пилота записан до его начала: если согласие теста с экспертами ниже 0,60, пороги грейдов не публикуем.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По итогам проверок мы меняли продукт. Так ФСП стала только поднимать кандидата, а участия без призовых мест перестали давать баллы.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Скрытая правда: 2000 смоделированных кандидатов, настоящий грейд известен заранее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Отложенные выборки: пять зёрен, которые не участвовали в настройке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Доверительные интервалы 95 %: бутстрап, 1000 повторов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Абляции: убираем тест, ФСП или веса доверия и смотрим, что меняется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Слепая разметка 200 пар двумя независимыми автоматическими оценщиками, согласие κw 0,974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132117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КАК МЫ ПРОВЕРЯЕМ</a:t>
            </a:r>
          </a:p>
        </p:txBody>
      </p:sp>
      <p:sp>
        <p:nvSpPr>
          <p:cNvPr id="202335389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ВАЛИДАЦИЯ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5169" name="Скругленный прямоугольник 1"/>
          <p:cNvSpPr/>
          <p:nvPr/>
        </p:nvSpPr>
        <p:spPr bwMode="auto">
          <a:xfrm>
            <a:off x="347472" y="320040"/>
            <a:ext cx="3349486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590100637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r>
                <a:rPr lang="en-US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grpSp>
        <p:nvGrpSpPr>
          <p:cNvPr id="2120757639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r>
                <a:rPr lang="en-US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sp>
        <p:nvSpPr>
          <p:cNvPr id="52311738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400537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spcAft>
                <a:spcPts val="600"/>
              </a:spcAft>
              <a:defRPr/>
            </a:pPr>
            <a:r>
              <a:rPr lang="ru-RU" sz="1600" b="1">
                <a:solidFill>
                  <a:srgbClr val="520978"/>
                </a:solidFill>
              </a:rPr>
              <a:t>Подборка работодателя</a:t>
            </a:r>
          </a:p>
          <a:p>
            <a:pPr marL="0" indent="0">
              <a:buNone/>
              <a:spcAft>
                <a:spcPts val="6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Полосы факторов и блок «Почему в выдаче»: видно, сколько дали тест и победы ФСП.</a:t>
            </a:r>
          </a:p>
        </p:txBody>
      </p:sp>
      <p:sp>
        <p:nvSpPr>
          <p:cNvPr id="12570766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spcAft>
                <a:spcPts val="600"/>
              </a:spcAft>
              <a:defRPr/>
            </a:pPr>
            <a:r>
              <a:rPr lang="ru-RU" sz="1600" b="1">
                <a:solidFill>
                  <a:srgbClr val="520978"/>
                </a:solidFill>
              </a:rPr>
              <a:t>Приглашения кандидата</a:t>
            </a:r>
          </a:p>
          <a:p>
            <a:pPr marL="0" indent="0">
              <a:buNone/>
              <a:spcAft>
                <a:spcPts val="6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Компания и зарплата видны сразу. Имя и контакты кандидат открывает кнопкой «Принять».</a:t>
            </a:r>
          </a:p>
        </p:txBody>
      </p:sp>
      <p:pic>
        <p:nvPicPr>
          <p:cNvPr id="1862273337" name="Рисунок 4" descr="pitch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1133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34103387" name="Рисунок 5" descr="pitch-offers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1133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3352649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7516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ЭКРАНЫ СО СТЕНДА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5424983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Только вверх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Сильный протокол поднимает кандидата внутри категории и никогда не тянет вниз.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Без ФСП тоже на равных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Если истории соревнований нет, человек остаётся в выдаче на равных.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Важны места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Две победы дают 0,54. Сорок онлайн-участий без призов весят как пустая история.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Профильное весомее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Профильная дисциплина весит вдвое больше прочих. Разряд берём из реестра.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150663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ПОБЕДЫ ФСП ТОЛЬКО ПОДНИМАЮТ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app.validation.fsp_axis --seeds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432317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2000" b="1">
                <a:solidFill>
                  <a:srgbClr val="520978"/>
                </a:solidFill>
              </a:rPr>
              <a:t>Работодатель пишет первым и сразу называет зарплату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До ответа кандидат видит компанию, вакансию и вилку. Работодатель видит категорию и подтверждения, но не имя.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Имя и контакты открываются, только когда кандидат нажал «Принять» или сам откликнулся. Решение о найме всегда принимает человек.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всех пользователей зашифрованы (AES-256-GCM), просмотры в журнале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Вилка обязательна: до вычета НДФЛ, не ниже МРОТ 2026 (27 093 ₽)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10 приглашений в сутки, после проверки ИНН или домена до 50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Отдельные согласия по 152-ФЗ, именная страница только с 18 лет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15 лет только через согласие законного представителя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4885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КОНТАКТ ПОСЛЕ СОГЛАСИЯ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91269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Вакансии и отклики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Кандидат без приглашений может проявить инициативу сам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Задания от компаний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Короткие задачи и «задача недели» с оценкой работодателя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Код в песочнице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Python, JavaScript и SQL в отдельном контейнере без сети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Защита от фейков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Проверка ИНН, жалоба с паузой компании, лимит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Паспорт навыков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Ссылка и QR-код с подтверждённым грейдом и протоколами ФСП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ATS и собеседования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Выгрузка в ATS через вебхуки, запись на собеседование по слотам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63837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СВЕРХ ОБЯЗАТЕЛЬНОГО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ДОПОЛНИТЕЛЬНЫЙ ФУНКЦИОНАЛ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0339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82246706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9690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471680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0447060" name="Скругленный прямоугольник 9"/>
          <p:cNvSpPr/>
          <p:nvPr/>
        </p:nvSpPr>
        <p:spPr bwMode="auto">
          <a:xfrm>
            <a:off x="347472" y="320040"/>
            <a:ext cx="4363620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6288309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662340554" name="Рисунок 2" descr="base-menu-390-dark.png"/>
          <p:cNvPicPr>
            <a:picLocks noGrp="1" noChangeAspect="1"/>
          </p:cNvPicPr>
          <p:nvPr>
            <p:ph type="pic" sz="quarter" idx="15"/>
          </p:nvPr>
        </p:nvPicPr>
        <p:blipFill>
          <a:blip r:embed="rId6"/>
          <a:srcRect b="2090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1096836554" name="Рисунок 3" descr="candidate-test-390.png"/>
          <p:cNvPicPr>
            <a:picLocks noGrp="1" noChangeAspect="1"/>
          </p:cNvPicPr>
          <p:nvPr>
            <p:ph type="pic" sz="quarter" idx="16"/>
          </p:nvPr>
        </p:nvPicPr>
        <p:blipFill>
          <a:blip r:embed="rId7"/>
          <a:srcRect b="2090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1533596577" name="Рисунок 4" descr="employer-search-390.png"/>
          <p:cNvPicPr>
            <a:picLocks noGrp="1" noChangeAspect="1"/>
          </p:cNvPicPr>
          <p:nvPr>
            <p:ph type="pic" sz="quarter" idx="17"/>
          </p:nvPr>
        </p:nvPicPr>
        <p:blipFill>
          <a:blip r:embed="rId8"/>
          <a:srcRect b="44910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4395672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29</a:t>
            </a:fld>
            <a:endParaRPr lang="ru-RU"/>
          </a:p>
        </p:txBody>
      </p:sp>
      <p:sp>
        <p:nvSpPr>
          <p:cNvPr id="24052349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Кабинет кандидата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Категория и готовность профиля, тёмная тема</a:t>
            </a:r>
          </a:p>
        </p:txBody>
      </p:sp>
      <p:sp>
        <p:nvSpPr>
          <p:cNvPr id="218215703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Меню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Все разделы открываются одним касанием</a:t>
            </a:r>
          </a:p>
        </p:txBody>
      </p:sp>
      <p:sp>
        <p:nvSpPr>
          <p:cNvPr id="2067559137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Тест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Числовой ответ вводится с экранной клавиатуры</a:t>
            </a:r>
          </a:p>
        </p:txBody>
      </p:sp>
      <p:sp>
        <p:nvSpPr>
          <p:cNvPr id="108324873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Поиск работодателя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Подборка и фильтры на узком экране</a:t>
            </a:r>
          </a:p>
        </p:txBody>
      </p:sp>
      <p:grpSp>
        <p:nvGrpSpPr>
          <p:cNvPr id="506442643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21859978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652888981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966804164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605595292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89300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 ТЕЛЕФОНА ТОЖЕ УДОБНО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3028255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Подтверждённый грейд вместо резюме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Участники ФСП, студенты ИТ-вузов и разработчики любого грейда. Приглашения приходят с зарплатой.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Нужные люди без разбора откликов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ИТ-компании и ИТ-отделы. Короткая подборка с объяснением и приглашение прямо из карточки.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Карьерная ценность соревнований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Победа на соревновании становится строкой в профиле, которую видит работодатель.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Где берём пользователей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Соревнования и сообщество ФСП, вход через ФСП ID, вузы и партнёры Федерации.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5393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КОМУ ЭТО НУЖНО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Каналы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02 · МАРКЕТИНГОВАЯ ЧАСТЬ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Канал привлечения уже есть. Участник входит через ФСП ID и приносит с собой результаты соревнований.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55300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больше подходящих в десятке (P@10)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0,632 против 0,559 у поиска по резюме.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кандидатов слабее нужного грейда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13,6 % против 30,9 % в первой десятке.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завысивших грейд в десятке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22,1 % против 28,1 % у поиска по резюме.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Время для 95 % запросов, 40 пользователей одновременно.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7868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ЭФФЕКТ ДЛЯ РАБОТОДАТЕЛЯ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+13 %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−56 %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−21 %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03 · БИЗНЕСОВАЯ СОСТАВЛЯЮЩАЯ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Кандидатам бесплатно всегда. Компании платят подписку по уровню доверия, выгрузка в ATS входит в старшие тарифы. Контакты не продаём.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608" name="Плашка заголовка"/>
          <p:cNvSpPr/>
          <p:nvPr/>
        </p:nvSpPr>
        <p:spPr>
          <a:xfrm>
            <a:off x="347472" y="320040"/>
            <a:ext cx="3095307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820987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ГОТОВО К ПИЛОТУ</a:t>
            </a:r>
          </a:p>
        </p:txBody>
      </p:sp>
      <p:sp>
        <p:nvSpPr>
          <p:cNvPr id="1230883580" name="TextBox 1230883579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1230883581" name="Rounded Rectangle 1230883580"/>
          <p:cNvSpPr/>
          <p:nvPr/>
        </p:nvSpPr>
        <p:spPr>
          <a:xfrm>
            <a:off x="640080" y="160020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2" name="TextBox 1230883581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Браузер</a:t>
            </a:r>
          </a:p>
        </p:txBody>
      </p:sp>
      <p:sp>
        <p:nvSpPr>
          <p:cNvPr id="1230883583" name="TextBox 1230883582"/>
          <p:cNvSpPr txBox="1"/>
          <p:nvPr/>
        </p:nvSpPr>
        <p:spPr>
          <a:xfrm>
            <a:off x="777240" y="2039112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React и TypeScript, дизайн по брендбуку ФСП, экраны от 390 px</a:t>
            </a:r>
          </a:p>
        </p:txBody>
      </p:sp>
      <p:sp>
        <p:nvSpPr>
          <p:cNvPr id="1230883584" name="Rounded Rectangle 1230883583"/>
          <p:cNvSpPr/>
          <p:nvPr/>
        </p:nvSpPr>
        <p:spPr>
          <a:xfrm>
            <a:off x="640080" y="310896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5" name="TextBox 1230883584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Caddy</a:t>
            </a:r>
          </a:p>
        </p:txBody>
      </p:sp>
      <p:sp>
        <p:nvSpPr>
          <p:cNvPr id="1230883586" name="TextBox 1230883585"/>
          <p:cNvSpPr txBox="1"/>
          <p:nvPr/>
        </p:nvSpPr>
        <p:spPr>
          <a:xfrm>
            <a:off x="777240" y="3547872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Шифрование TLS, заголовки безопасности, статика</a:t>
            </a:r>
          </a:p>
        </p:txBody>
      </p:sp>
      <p:sp>
        <p:nvSpPr>
          <p:cNvPr id="1230883587" name="Rounded Rectangle 1230883586"/>
          <p:cNvSpPr/>
          <p:nvPr/>
        </p:nvSpPr>
        <p:spPr>
          <a:xfrm>
            <a:off x="640080" y="461772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8" name="TextBox 1230883587"/>
          <p:cNvSpPr txBox="1"/>
          <p:nvPr/>
        </p:nvSpPr>
        <p:spPr>
          <a:xfrm>
            <a:off x="777240" y="4709159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ФСП ID</a:t>
            </a:r>
          </a:p>
        </p:txBody>
      </p:sp>
      <p:sp>
        <p:nvSpPr>
          <p:cNvPr id="1230883589" name="TextBox 1230883588"/>
          <p:cNvSpPr txBox="1"/>
          <p:nvPr/>
        </p:nvSpPr>
        <p:spPr>
          <a:xfrm>
            <a:off x="777240" y="5056631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OpenID Connect с PKCE, как в Keycloak. Протоколы — подписанные удостоверения</a:t>
            </a:r>
          </a:p>
        </p:txBody>
      </p:sp>
      <p:sp>
        <p:nvSpPr>
          <p:cNvPr id="1230883590" name="Rounded Rectangle 1230883589"/>
          <p:cNvSpPr/>
          <p:nvPr/>
        </p:nvSpPr>
        <p:spPr>
          <a:xfrm>
            <a:off x="3703320" y="1920240"/>
            <a:ext cx="3291840" cy="361188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1" name="TextBox 1230883590"/>
          <p:cNvSpPr txBox="1"/>
          <p:nvPr/>
        </p:nvSpPr>
        <p:spPr>
          <a:xfrm>
            <a:off x="3840480" y="2011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30883592" name="TextBox 1230883591"/>
          <p:cNvSpPr txBox="1"/>
          <p:nvPr/>
        </p:nvSpPr>
        <p:spPr>
          <a:xfrm>
            <a:off x="3840480" y="2359152"/>
            <a:ext cx="3017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Подбор с разложимой оценкой
Адаптивный тест IRT 3PL
Приглашения, согласия, 152-ФЗ
Защита от CSRF, пароли Argon2id
OpenAPI 3.1 и вебхуки</a:t>
            </a:r>
          </a:p>
        </p:txBody>
      </p:sp>
      <p:sp>
        <p:nvSpPr>
          <p:cNvPr id="1230883593" name="Rounded Rectangle 1230883592"/>
          <p:cNvSpPr/>
          <p:nvPr/>
        </p:nvSpPr>
        <p:spPr>
          <a:xfrm>
            <a:off x="7589520" y="160020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4" name="TextBox 1230883593"/>
          <p:cNvSpPr txBox="1"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PostgreSQL 16 + pgvector</a:t>
            </a:r>
          </a:p>
        </p:txBody>
      </p:sp>
      <p:sp>
        <p:nvSpPr>
          <p:cNvPr id="1230883595" name="TextBox 1230883594"/>
          <p:cNvSpPr txBox="1"/>
          <p:nvPr/>
        </p:nvSpPr>
        <p:spPr>
          <a:xfrm>
            <a:off x="7726680" y="2039112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Доступ к строкам ограничен политиками базы, миграции Alembic</a:t>
            </a:r>
          </a:p>
        </p:txBody>
      </p:sp>
      <p:sp>
        <p:nvSpPr>
          <p:cNvPr id="1230883596" name="Rounded Rectangle 1230883595"/>
          <p:cNvSpPr/>
          <p:nvPr/>
        </p:nvSpPr>
        <p:spPr>
          <a:xfrm>
            <a:off x="7589520" y="310896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7" name="TextBox 1230883596"/>
          <p:cNvSpPr txBox="1"/>
          <p:nvPr/>
        </p:nvSpPr>
        <p:spPr>
          <a:xfrm>
            <a:off x="7726680" y="32004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Redis · Celery</a:t>
            </a:r>
          </a:p>
        </p:txBody>
      </p:sp>
      <p:sp>
        <p:nvSpPr>
          <p:cNvPr id="1230883598" name="TextBox 1230883597"/>
          <p:cNvSpPr txBox="1"/>
          <p:nvPr/>
        </p:nvSpPr>
        <p:spPr>
          <a:xfrm>
            <a:off x="7726680" y="3547872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Кэш подборок, лимиты, ночной пересчёт баллов</a:t>
            </a:r>
          </a:p>
        </p:txBody>
      </p:sp>
      <p:sp>
        <p:nvSpPr>
          <p:cNvPr id="1230883599" name="Rounded Rectangle 1230883598"/>
          <p:cNvSpPr/>
          <p:nvPr/>
        </p:nvSpPr>
        <p:spPr>
          <a:xfrm>
            <a:off x="7589520" y="461772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600" name="TextBox 1230883599"/>
          <p:cNvSpPr txBox="1"/>
          <p:nvPr/>
        </p:nvSpPr>
        <p:spPr>
          <a:xfrm>
            <a:off x="7726680" y="47091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Песочница кода</a:t>
            </a:r>
          </a:p>
        </p:txBody>
      </p:sp>
      <p:sp>
        <p:nvSpPr>
          <p:cNvPr id="1230883601" name="TextBox 1230883600"/>
          <p:cNvSpPr txBox="1"/>
          <p:nvPr/>
        </p:nvSpPr>
        <p:spPr>
          <a:xfrm>
            <a:off x="7726680" y="5056631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Отдельный контейнер без сети для заданий с кодом</a:t>
            </a:r>
          </a:p>
        </p:txBody>
      </p:sp>
      <p:cxnSp>
        <p:nvCxnSpPr>
          <p:cNvPr id="1230883602" name="Connector 1230883601"/>
          <p:cNvCxnSpPr/>
          <p:nvPr/>
        </p:nvCxnSpPr>
        <p:spPr>
          <a:xfrm>
            <a:off x="31089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3" name="Connector 1230883602"/>
          <p:cNvCxnSpPr/>
          <p:nvPr/>
        </p:nvCxnSpPr>
        <p:spPr>
          <a:xfrm>
            <a:off x="31089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4" name="Connector 1230883603"/>
          <p:cNvCxnSpPr/>
          <p:nvPr/>
        </p:nvCxnSpPr>
        <p:spPr>
          <a:xfrm flipV="1">
            <a:off x="31089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5" name="Connector 1230883604"/>
          <p:cNvCxnSpPr/>
          <p:nvPr/>
        </p:nvCxnSpPr>
        <p:spPr>
          <a:xfrm flipV="1">
            <a:off x="69951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6" name="Connector 1230883605"/>
          <p:cNvCxnSpPr/>
          <p:nvPr/>
        </p:nvCxnSpPr>
        <p:spPr>
          <a:xfrm>
            <a:off x="69951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7" name="Connector 1230883606"/>
          <p:cNvCxnSpPr/>
          <p:nvPr/>
        </p:nvCxnSpPr>
        <p:spPr>
          <a:xfrm>
            <a:off x="69951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5128716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5439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НАСТОЯЩЕЕ, ЧТО ИМИТАЦИЯ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Подбор, тест, приглашения, согласия, журнал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ФСП ID и реестр протоколов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Связь с ATS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Проверка качества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Хранение данных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ЧАСТЬ СИСТЕМЫ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КАК СЕЙЧАС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Работают по-настоящему, на стенде и локально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Имитация по тому же протоколу. Переход на Keycloak Федерации — пять настроек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Подписанные вебхуки, API-ключи для ATS и выгрузка работают. Коннектор к Хантфлоу — первый шаг пилота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Синтетика со скрытой правдой. Уверенные решения повторяются в 80,3 % случаев на отложенных выборках; калибруем до 85 % на пилоте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Демо-стенд за рубежом, реальные данные туда не вводим. Рабочая установка у Федерации, в РФ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5153302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тестов сервера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Покрытие кода 73,1 %. Ещё 177 тестов интерфейса и сквозных сценариев.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запросов к чужим данным прошло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Обход всех адресов API с чужим идентификатором: ни одного успешного ответа.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40 пользователей одновременно, ни одной ошибки. Время для 95 % запросов.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нарушений доступности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Проверка axe по WCAG 2.2 AA. Lighthouse: доступность 100 баллов.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78982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ТЕСТЫ, НАГРУЗКА, ДОСТУПНОСТЬ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1400+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 / 240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Для каждой цифры продукта в README есть команда, которой её можно перепроверить.</a:t>
            </a:r>
          </a:p>
        </p:txBody>
      </p:sp>
      <p:sp>
        <p:nvSpPr>
          <p:cNvPr id="2140927957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make load · python tests/smoke_api.py · python -m pytest tests/unit --cov=app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3662779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38845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ЧЕМ МЫ ОТЛИЧАЕМСЯ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Уровень пишет сам кандидат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Первым пишет кандидат, наугад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Зарплату узнают на собеседовании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Контакты продают из базы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Непонятно, почему человек в выдаче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УНИВЕРСАЛЬНЫЕ ПЛОЩАДКИ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ФСП ТАЛАНТ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Уровень подтверждают тест и протоколы ФСП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Первым пишет работодатель, конкретному человеку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Зарплата видна сразу в приглашении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Контакты открывает только сам кандидат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Каждое место разложено по факторам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05319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Пилот с ФСП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150 участников, 6 недель, два эксперта проводят интервью, не видя результата теста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Порог успеха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Согласие теста с экспертами (взвешенная каппа) от 0,60, иначе пороги не публикуем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Повтор до 85 %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Сейчас 80,3 % у уверенных решений на отложенных выборках. Банк заданий пополняем: экспозиция 50–65 % → цель 40 %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Метрики найма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Время от потребности до принятого приглашения и доля принятых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Боевые системы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Keycloak Федерации, реестр протоколов, коннектор к ATS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Запуск в РФ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Установка на сервере Федерации, уведомление Роскомнадзора, модель угроз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7887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ПОСЛЕ ХАКАТОНА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06 · ПЛАНЫ ПО РАЗВИТИЮ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728256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618376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0064314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ПРОВЕРЬТЕ САМИ</a:t>
            </a:r>
          </a:p>
        </p:txBody>
      </p:sp>
      <p:sp>
        <p:nvSpPr>
          <p:cNvPr id="96227279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Стенд: </a:t>
            </a:r>
            <a:r>
              <a:rPr lang="ru-RU" sz="1300" b="0">
                <a:solidFill>
                  <a:srgbClr val="1C1D22"/>
                </a:solidFill>
              </a:rPr>
              <a:t>89-124-65-102.sslip.io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Зеркало: </a:t>
            </a:r>
            <a:r>
              <a:rPr lang="ru-RU" sz="1300" b="0">
                <a:solidFill>
                  <a:srgbClr val="1C1D22"/>
                </a:solidFill>
              </a:rPr>
              <a:t>v1081358.hosted-by-vdsina.com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Жюри: </a:t>
            </a:r>
            <a:r>
              <a:rPr lang="ru-RU" sz="1300" b="0">
                <a:solidFill>
                  <a:srgbClr val="1C1D22"/>
                </a:solidFill>
              </a:rPr>
              <a:t>jury1@demo.talent … jury10, пароль demo12345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Работодатель: </a:t>
            </a:r>
            <a:r>
              <a:rPr lang="ru-RU" sz="1300" b="0">
                <a:solidFill>
                  <a:srgbClr val="1C1D22"/>
                </a:solidFill>
              </a:rPr>
              <a:t>hr@sibcode.demo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Видео: </a:t>
            </a:r>
            <a:r>
              <a:rPr lang="ru-RU" sz="1300" b="0">
                <a:solidFill>
                  <a:srgbClr val="1C1D22"/>
                </a:solidFill>
              </a:rPr>
              <a:t>3 минуты, папка submission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Код: </a:t>
            </a:r>
            <a:r>
              <a:rPr lang="ru-RU" sz="1300" b="0">
                <a:solidFill>
                  <a:srgbClr val="1C1D22"/>
                </a:solidFill>
              </a:rPr>
              <a:t>github.com/KonkovDV/fsp-talent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Запуск: </a:t>
            </a:r>
            <a:r>
              <a:rPr lang="ru-RU" sz="1300" b="0">
                <a:solidFill>
                  <a:srgbClr val="1C1D22"/>
                </a:solidFill>
              </a:rPr>
              <a:t>docker compose up</a:t>
            </a:r>
          </a:p>
        </p:txBody>
      </p:sp>
      <p:pic>
        <p:nvPicPr>
          <p:cNvPr id="1561837691" name="Picture 1561837690" descr="candidate-jury-1440.png"/>
          <p:cNvPicPr>
            <a:picLocks noChangeAspect="1"/>
          </p:cNvPicPr>
          <p:nvPr/>
        </p:nvPicPr>
        <p:blipFill>
          <a:blip r:embed="rId4"/>
          <a:srcRect l="64" r="64"/>
          <a:stretch>
            <a:fillRect/>
          </a:stretch>
        </p:blipFill>
        <p:spPr>
          <a:xfrm>
            <a:off x="6172200" y="1600200"/>
            <a:ext cx="5669280" cy="3547872"/>
          </a:xfrm>
          <a:prstGeom prst="rect">
            <a:avLst/>
          </a:prstGeom>
          <a:ln w="12700">
            <a:solidFill>
              <a:srgbClr val="D9D6F0"/>
            </a:solidFill>
          </a:ln>
        </p:spPr>
      </p:pic>
      <p:pic>
        <p:nvPicPr>
          <p:cNvPr id="1561837692" name="Picture 1561837691" descr="qr_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1737360" cy="1737360"/>
          </a:xfrm>
          <a:prstGeom prst="rect">
            <a:avLst/>
          </a:prstGeom>
        </p:spPr>
      </p:pic>
      <p:pic>
        <p:nvPicPr>
          <p:cNvPr id="1561837693" name="Picture 1561837692" descr="qr_ju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4206240"/>
            <a:ext cx="1737360" cy="1737360"/>
          </a:xfrm>
          <a:prstGeom prst="rect">
            <a:avLst/>
          </a:prstGeom>
        </p:spPr>
      </p:pic>
      <p:sp>
        <p:nvSpPr>
          <p:cNvPr id="1561837694" name="TextBox 1561837693"/>
          <p:cNvSpPr txBox="1"/>
          <p:nvPr/>
        </p:nvSpPr>
        <p:spPr>
          <a:xfrm>
            <a:off x="685800" y="5961888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  <p:sp>
        <p:nvSpPr>
          <p:cNvPr id="1561837695" name="TextBox 1561837694"/>
          <p:cNvSpPr txBox="1"/>
          <p:nvPr/>
        </p:nvSpPr>
        <p:spPr>
          <a:xfrm>
            <a:off x="3063240" y="5961888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Режим жюри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СПАСИБО!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3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300"/>
              <a:t>ФСП Талант — команда Дмитрия Конькова · github.com/KonkovDV/fsp-talent</a:t>
            </a:r>
          </a:p>
          <a:p>
            <a:pPr marL="271463" indent="-3175">
              <a:defRPr/>
            </a:pPr>
            <a:r>
              <a:rPr lang="ru-RU" sz="1300"/>
              <a:t>Дмитрий Коньков · +7 915 452-88-64 · konkov-dmitrij@yandex.ru</a:t>
            </a:r>
          </a:p>
          <a:p>
            <a:pPr marL="271463" indent="-3175">
              <a:defRPr/>
            </a:pPr>
            <a:r>
              <a:rPr lang="ru-RU" sz="1300"/>
              <a:t>Елена Конькова · konkovaelena@yandex.ru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955825711" name="Rounded Rectangle 1955825710"/>
          <p:cNvSpPr/>
          <p:nvPr/>
        </p:nvSpPr>
        <p:spPr>
          <a:xfrm>
            <a:off x="9829800" y="3931920"/>
            <a:ext cx="1783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5825712" name="Picture 1955825711" descr="qr_st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955825713" name="TextBox 1955825712"/>
          <p:cNvSpPr txBox="1"/>
          <p:nvPr/>
        </p:nvSpPr>
        <p:spPr>
          <a:xfrm>
            <a:off x="9829800" y="565099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251303" name="Скругленный прямоугольник 1"/>
          <p:cNvSpPr/>
          <p:nvPr/>
        </p:nvSpPr>
        <p:spPr bwMode="auto">
          <a:xfrm>
            <a:off x="347472" y="320040"/>
            <a:ext cx="4503935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7537739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23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10375313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Подбор — 35 %</a:t>
            </a:r>
          </a:p>
        </p:txBody>
      </p:sp>
      <p:sp>
        <p:nvSpPr>
          <p:cNvPr id="2116647948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81297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Потребность, категории, подборка с объяснением, приглашение с вилкой</a:t>
            </a:r>
          </a:p>
        </p:txBody>
      </p:sp>
      <p:sp>
        <p:nvSpPr>
          <p:cNvPr id="135820041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Тестирование — 25 %</a:t>
            </a:r>
          </a:p>
        </p:txBody>
      </p:sp>
      <p:sp>
        <p:nvSpPr>
          <p:cNvPr id="1029474092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81538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IRT 3PL, адаптивный выбор, 22 семейства заданий, карантин утечек</a:t>
            </a:r>
          </a:p>
        </p:txBody>
      </p:sp>
      <p:sp>
        <p:nvSpPr>
          <p:cNvPr id="9420558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8A83D1"/>
                </a:solidFill>
              </a:rPr>
              <a:t>Интерфейс и питч — 20 %</a:t>
            </a:r>
          </a:p>
        </p:txBody>
      </p:sp>
      <p:sp>
        <p:nvSpPr>
          <p:cNvPr id="175329623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35009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Брендбук ФСП, мобильная версия, тёмная тема, режим жюри</a:t>
            </a:r>
          </a:p>
        </p:txBody>
      </p:sp>
      <p:sp>
        <p:nvSpPr>
          <p:cNvPr id="1697252349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D9568A"/>
                </a:solidFill>
              </a:rPr>
              <a:t>Техника, документы, доп. — 20 %</a:t>
            </a:r>
          </a:p>
        </p:txBody>
      </p:sp>
      <p:sp>
        <p:nvSpPr>
          <p:cNvPr id="883427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6186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1400+ тестов сервера, OpenAPI, вакансии, задания, переписка</a:t>
            </a:r>
          </a:p>
        </p:txBody>
      </p:sp>
      <p:sp>
        <p:nvSpPr>
          <p:cNvPr id="47369304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2961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КРИТЕРИИ ТЗ</a:t>
            </a:r>
          </a:p>
        </p:txBody>
      </p:sp>
      <p:graphicFrame>
        <p:nvGraphicFramePr>
          <p:cNvPr id="2116647949" name="Chart 2116647948"/>
          <p:cNvGraphicFramePr>
            <a:graphicFrameLocks noGrp="1"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6647950" name="TextBox 2116647949"/>
          <p:cNvSpPr txBox="1"/>
          <p:nvPr/>
        </p:nvSpPr>
        <p:spPr>
          <a:xfrm>
            <a:off x="2273570" y="3141641"/>
            <a:ext cx="1828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38 проверок</a:t>
            </a:r>
          </a:p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требований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582" name="Плашка заголовка"/>
          <p:cNvSpPr/>
          <p:nvPr/>
        </p:nvSpPr>
        <p:spPr>
          <a:xfrm>
            <a:off x="347472" y="320040"/>
            <a:ext cx="4602400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328080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СВОД МЕТРИК</a:t>
            </a:r>
          </a:p>
        </p:txBody>
      </p:sp>
      <p:graphicFrame>
        <p:nvGraphicFramePr>
          <p:cNvPr id="1230883580" name="Table 1230883579"/>
          <p:cNvGraphicFramePr>
            <a:graphicFrameLocks noGrp="1"/>
          </p:cNvGraphicFramePr>
          <p:nvPr/>
        </p:nvGraphicFramePr>
        <p:xfrm>
          <a:off x="640080" y="16002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103120"/>
                <a:gridCol w="4846320"/>
              </a:tblGrid>
              <a:tr h="38238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ФСП Талант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База для сравнения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Ключи заданий проверены запуском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1875 из 1875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Атака «20 сессий», сдают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5,7 %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честно 5,3 % (2400 человек, 6 зёрен, в пределах ДИ честной)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Решение «сдал или не сдал» вдали от границы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91,7 %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линейная форма из 14 заданий: 74,4 %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Различение соседних грейдов, AUC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пары от 0,90 до 0,93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Согласие двух полных путей, взвешенная каппа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все 6 зёрен 0,85–0,86; старый порядок шкалы 0,76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Подходящих в первой десятке, P@10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0,632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0,559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Порядок внутри категории, Спирмен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0,410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0,011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Слабее нужного грейда в первой десятке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13,6 %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30,9 %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Слепая разметка 200 пар, nDCG@10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0,928 [0,895–0,957]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 резюме 0,866, случайно 0,788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Ось ФСП, Спирмен со скрытой силой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среднее место: 0,681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</a:tbl>
          </a:graphicData>
        </a:graphic>
      </p:graphicFrame>
      <p:sp>
        <p:nvSpPr>
          <p:cNvPr id="1230883581" name="Сноска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1C1D22"/>
                </a:solidFill>
                <a:latin typeface="Arial"/>
              </a:rPr>
              <a:t>Все строки посчитаны на смоделированных кандидатах. Разметку 200 пар делали два независимых автоматических оценщика. Команды проверки лежат в README.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663</Words>
  <Application>Microsoft Office PowerPoint</Application>
  <PresentationFormat>Широкоэкранный</PresentationFormat>
  <Paragraphs>218</Paragraphs>
  <Slides>36</Slides>
  <Notes>36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4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питч ЛЦТ 2026</dc:title>
  <dc:creator>Команда «ФСП Талант»</dc:creator>
  <cp:lastModifiedBy>Ivan Ivanov</cp:lastModifiedBy>
  <cp:revision>99</cp:revision>
  <dcterms:created xsi:type="dcterms:W3CDTF">2023-05-15T07:36:23Z</dcterms:created>
  <dcterms:modified xsi:type="dcterms:W3CDTF">2026-10-11T06:14:30Z</dcterms:modified>
</cp:coreProperties>
</file>