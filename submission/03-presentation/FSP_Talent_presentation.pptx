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62" r:id="rId8"/>
    <p:sldId id="263" r:id="rId9"/>
    <p:sldId id="264" r:id="rId10"/>
    <p:sldId id="265" r:id="rId11"/>
    <p:sldId id="266" r:id="rId12"/>
    <p:sldId id="259" r:id="rId5"/>
    <p:sldId id="276" r:id="rId22"/>
    <p:sldId id="279" r:id="rId25"/>
    <p:sldId id="295" r:id="rId46"/>
    <p:sldId id="283" r:id="rId29"/>
    <p:sldId id="272" r:id="rId18"/>
    <p:sldId id="294" r:id="rId45"/>
    <p:sldId id="301" r:id="rId52"/>
    <p:sldId id="293" r:id="rId44"/>
    <p:sldId id="300" r:id="rId51"/>
    <p:sldId id="282" r:id="rId28"/>
    <p:sldId id="277" r:id="rId23"/>
    <p:sldId id="275" r:id="rId21"/>
    <p:sldId id="298" r:id="rId49"/>
    <p:sldId id="284" r:id="rId30"/>
    <p:sldId id="296" r:id="rId47"/>
    <p:sldId id="297" r:id="rId48"/>
    <p:sldId id="268" r:id="rId14"/>
    <p:sldId id="299" r:id="rId50"/>
    <p:sldId id="271" r:id="rId17"/>
    <p:sldId id="270" r:id="rId16"/>
    <p:sldId id="273" r:id="rId19"/>
    <p:sldId id="269" r:id="rId15"/>
    <p:sldId id="292" r:id="rId43"/>
    <p:sldId id="278" r:id="rId24"/>
    <p:sldId id="302" r:id="rId5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23.xml"/><Relationship Id="rId15" Type="http://schemas.openxmlformats.org/officeDocument/2006/relationships/slide" Target="slides/slide28.xml"/><Relationship Id="rId16" Type="http://schemas.openxmlformats.org/officeDocument/2006/relationships/slide" Target="slides/slide26.xml"/><Relationship Id="rId17" Type="http://schemas.openxmlformats.org/officeDocument/2006/relationships/slide" Target="slides/slide25.xml"/><Relationship Id="rId18" Type="http://schemas.openxmlformats.org/officeDocument/2006/relationships/slide" Target="slides/slide11.xml"/><Relationship Id="rId19" Type="http://schemas.openxmlformats.org/officeDocument/2006/relationships/slide" Target="slides/slide27.xml"/><Relationship Id="rId21" Type="http://schemas.openxmlformats.org/officeDocument/2006/relationships/slide" Target="slides/slide18.xml"/><Relationship Id="rId22" Type="http://schemas.openxmlformats.org/officeDocument/2006/relationships/slide" Target="slides/slide7.xml"/><Relationship Id="rId23" Type="http://schemas.openxmlformats.org/officeDocument/2006/relationships/slide" Target="slides/slide17.xml"/><Relationship Id="rId24" Type="http://schemas.openxmlformats.org/officeDocument/2006/relationships/slide" Target="slides/slide30.xml"/><Relationship Id="rId25" Type="http://schemas.openxmlformats.org/officeDocument/2006/relationships/slide" Target="slides/slide8.xml"/><Relationship Id="rId28" Type="http://schemas.openxmlformats.org/officeDocument/2006/relationships/slide" Target="slides/slide16.xml"/><Relationship Id="rId29" Type="http://schemas.openxmlformats.org/officeDocument/2006/relationships/slide" Target="slides/slide10.xml"/><Relationship Id="rId30" Type="http://schemas.openxmlformats.org/officeDocument/2006/relationships/slide" Target="slides/slide20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9.xml"/><Relationship Id="rId44" Type="http://schemas.openxmlformats.org/officeDocument/2006/relationships/slide" Target="slides/slide14.xml"/><Relationship Id="rId45" Type="http://schemas.openxmlformats.org/officeDocument/2006/relationships/slide" Target="slides/slide12.xml"/><Relationship Id="rId46" Type="http://schemas.openxmlformats.org/officeDocument/2006/relationships/slide" Target="slides/slide9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19.xml"/><Relationship Id="rId50" Type="http://schemas.openxmlformats.org/officeDocument/2006/relationships/slide" Target="slides/slide24.xml"/><Relationship Id="rId51" Type="http://schemas.openxmlformats.org/officeDocument/2006/relationships/slide" Target="slides/slide15.xml"/><Relationship Id="rId52" Type="http://schemas.openxmlformats.org/officeDocument/2006/relationships/slide" Target="slides/slide13.xml"/><Relationship Id="rId53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22-48DA-A017-D5AAA2FF34E0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F22-48DA-A017-D5AAA2FF34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1E-2"/>
          <c:y val="0.93820099999999995"/>
          <c:w val="0.94740100000000005"/>
          <c:h val="6.1799E-2"/>
        </c:manualLayout>
      </c:layout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F-417E-BB0C-F7EEB5F33780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F-417E-BB0C-F7EEB5F33780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F-417E-BB0C-F7EEB5F33780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F-417E-BB0C-F7EEB5F33780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9DF-417E-BB0C-F7EEB5F337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C5E-43D0-910A-6D4E321BD10C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C5E-43D0-910A-6D4E321BD10C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C5E-43D0-910A-6D4E321BD10C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C5E-43D0-910A-6D4E321BD10C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9C5E-43D0-910A-6D4E321BD10C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9C5E-43D0-910A-6D4E321BD10C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C5E-43D0-910A-6D4E321BD1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dPt>
            <c:idx val="0"/>
            <c:spPr>
              <a:solidFill>
                <a:srgbClr val="FFD6E4"/>
              </a:solidFill>
            </c:spPr>
          </c:dPt>
          <c:dPt>
            <c:idx val="1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dPt>
            <c:idx val="3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76.1</c:v>
                </c:pt>
                <c:pt idx="1">
                  <c:v>74.4</c:v>
                </c:pt>
                <c:pt idx="2">
                  <c:v>80.1</c:v>
                </c:pt>
                <c:pt idx="3">
                  <c:v>91.7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0,410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0.632</c:v>
                </c:pt>
                <c:pt idx="1">
                  <c:v>0.658</c:v>
                </c:pt>
                <c:pt idx="2">
                  <c:v>0.41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</c:v>
                </c:pt>
                <c:pt idx="1">
                  <c:v>0.62</c:v>
                </c:pt>
                <c:pt idx="2">
                  <c:v>0.011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dPt>
            <c:idx val="2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</c:v>
                </c:pt>
                <c:pt idx="2">
                  <c:v>0.768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520978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D6E4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6:39–7:04. Для бизнеса это значит: в первой десятке на 13 %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3:59–4:29. В первой десятке у нас 63 % подходящих людей против 56 % у поиска по резюме. Внутри категории сильный стоит выше слабого: связь с настоящей силой 0,410 против 0,011. Слепая разметка 200 пар двумя независимыми автоматическими оценщиками показывает то же самое. На сопоставимых данных цифры выше: на внешнем открытом наборе 0,835, на наших данных без шума 0,863, но основной остаётся строгая 0,658.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5,7 % против 5,3 % у честных на 2400 человек, интервалы перекрываются.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5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6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chart" Target="../charts/chart3.xml"/><Relationship Id="rId5" Type="http://schemas.openxmlformats.org/officeDocument/2006/relationships/chart" Target="../charts/chart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/>
              <a:t>ФСП Талант — команда Дмитрия Конькова · ЛЦТ 2026, спецтрек ФСП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Капитан: </a:t>
            </a:r>
            <a:r>
              <a:rPr lang="ru-RU" b="0" sz="130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Кол-во участников: </a:t>
            </a:r>
            <a:r>
              <a:rPr lang="ru-RU" b="0" sz="130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Краткое описание: </a:t>
            </a:r>
            <a:r>
              <a:rPr lang="ru-RU" b="0" sz="130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Город и регион: </a:t>
            </a:r>
            <a:r>
              <a:rPr lang="ru-RU" b="0" sz="130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1819658584" name="Текст 62"/>
          <p:cNvSpPr txBox="1"/>
          <p:nvPr/>
        </p:nvSpPr>
        <p:spPr bwMode="auto">
          <a:xfrm>
            <a:off x="740664" y="1186647"/>
            <a:ext cx="7589520" cy="5669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/>
              <a:buNone/>
              <a:defRPr/>
            </a:pPr>
            <a:r>
              <a:rPr lang="ru-RU" sz="1600" b="1">
                <a:solidFill>
                  <a:srgbClr val="1C1D22"/>
                </a:solidFill>
                <a:latin typeface="Arial"/>
              </a:rPr>
              <a:t>Шесть разделов по рекомендованной структуре ЛЦТ</a:t>
            </a:r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−56 %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22,1 %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28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5,3 % (2400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5,7 %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 · python -m app.validation.assessment --stolen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0,45, грейд 0,30, роль 0,25, описание, отрасль и условия по 0,05. Тест и ФСП добавляются с весом 0,3.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44068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0,621 и 0,684; поиск BM25 на той же разметке 0,399</a:t>
            </a:r>
          </a:p>
          <a:p>
            <a:pPr algn="l">
              <a:spcAft>
                <a:spcPts val="400"/>
              </a:spcAft>
            </a:pPr>
            <a:r>
              <a:rPr lang="ru-RU" sz="1050" b="0">
                <a:solidFill>
                  <a:srgbClr val="FFD6E4"/>
                </a:solidFill>
                <a:latin typeface="Arial"/>
              </a:rPr>
              <a:t>На сопоставимых данных: внешний открытый набор 0,835 [0,802–0,864]; наши данные без шума 0,863 (строгий) и 0,936 (протокол 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8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29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0,632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13,6 %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22,1 %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+13 %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−56 %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−21 %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89-124-65-102.sslip.io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Зеркало: </a:t>
            </a:r>
            <a:r>
              <a:rPr lang="ru-RU" sz="1300" b="0">
                <a:solidFill>
                  <a:srgbClr val="1C1D22"/>
                </a:solidFill>
              </a:rPr>
              <a:t>v1081358.hosted-by-vdsina.com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23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103120"/>
                <a:gridCol w="4846320"/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5,7 % [4,8–6,7]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5,3 % [4,5–6,3], 2400 человек, 6 зёрен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0,410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13,6 %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663</Words>
  <Application>Microsoft Office PowerPoint</Application>
  <PresentationFormat>Широкоэкранный</PresentationFormat>
  <Paragraphs>218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4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99</cp:revision>
  <dcterms:created xsi:type="dcterms:W3CDTF">2023-05-15T07:36:23Z</dcterms:created>
  <dcterms:modified xsi:type="dcterms:W3CDTF">2026-10-11T06:14:30Z</dcterms:modified>
</cp:coreProperties>
</file>