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5.xml" ContentType="application/vnd.openxmlformats-officedocument.drawingml.chart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2" r:id="rId2"/>
    <p:sldId id="263" r:id="rId3"/>
    <p:sldId id="264" r:id="rId4"/>
    <p:sldId id="265" r:id="rId5"/>
    <p:sldId id="266" r:id="rId6"/>
    <p:sldId id="259" r:id="rId7"/>
    <p:sldId id="276" r:id="rId8"/>
    <p:sldId id="279" r:id="rId9"/>
    <p:sldId id="295" r:id="rId10"/>
    <p:sldId id="283" r:id="rId11"/>
    <p:sldId id="272" r:id="rId12"/>
    <p:sldId id="294" r:id="rId13"/>
    <p:sldId id="301" r:id="rId14"/>
    <p:sldId id="293" r:id="rId15"/>
    <p:sldId id="300" r:id="rId16"/>
    <p:sldId id="282" r:id="rId17"/>
    <p:sldId id="277" r:id="rId18"/>
    <p:sldId id="275" r:id="rId19"/>
    <p:sldId id="298" r:id="rId20"/>
    <p:sldId id="284" r:id="rId21"/>
    <p:sldId id="296" r:id="rId22"/>
    <p:sldId id="297" r:id="rId23"/>
    <p:sldId id="268" r:id="rId24"/>
    <p:sldId id="299" r:id="rId25"/>
    <p:sldId id="271" r:id="rId26"/>
    <p:sldId id="270" r:id="rId27"/>
    <p:sldId id="273" r:id="rId28"/>
    <p:sldId id="269" r:id="rId29"/>
    <p:sldId id="292" r:id="rId30"/>
    <p:sldId id="278" r:id="rId31"/>
    <p:sldId id="302" r:id="rId32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11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sz="1400" b="1">
                <a:solidFill>
                  <a:srgbClr val="FFFFFF"/>
                </a:solidFill>
              </a:rPr>
              <a:t>hh.индекс в ИТ: резюме на одну вакансию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hh.индекс в ИТ</c:v>
                </c:pt>
              </c:strCache>
            </c:strRef>
          </c:tx>
          <c:spPr>
            <a:solidFill>
              <a:srgbClr val="8A83D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D6E4"/>
              </a:solidFill>
            </c:spPr>
            <c:extLst>
              <c:ext xmlns:c16="http://schemas.microsoft.com/office/drawing/2014/chart" uri="{C3380CC4-5D6E-409C-BE32-E72D297353CC}">
                <c16:uniqueId val="{00000001-EF55-4E35-9538-67059AE0821C}"/>
              </c:ext>
            </c:extLst>
          </c:dPt>
          <c:dPt>
            <c:idx val="1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3-EF55-4E35-9538-67059AE082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FFFFFF"/>
                        </a:solidFill>
                        <a:latin typeface="Arial"/>
                      </a:rPr>
                      <a:t>9,6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F55-4E35-9538-67059AE082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FFFFFF"/>
                        </a:solidFill>
                        <a:latin typeface="Arial"/>
                      </a:rPr>
                      <a:t>19,6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F55-4E35-9538-67059AE082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Февраль 2025</c:v>
                </c:pt>
                <c:pt idx="1">
                  <c:v>Февраль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9.6</c:v>
                </c:pt>
                <c:pt idx="1">
                  <c:v>19.600000000000001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F55-4E35-9538-67059AE082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A6A9A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FFFFF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400" b="1">
                <a:solidFill>
                  <a:srgbClr val="1C1D22"/>
                </a:solidFill>
              </a:rPr>
              <a:t>Верных решений вдали от границы грейда,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Верных решений вдали от границы, %</c:v>
                </c:pt>
              </c:strCache>
            </c:strRef>
          </c:tx>
          <c:spPr>
            <a:solidFill>
              <a:srgbClr val="8A83D1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1-B4B5-402E-AF7D-B883FF82B59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76,1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4B5-402E-AF7D-B883FF82B59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74,4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4B5-402E-AF7D-B883FF82B59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80,1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4B5-402E-AF7D-B883FF82B59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91,7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4B5-402E-AF7D-B883FF82B59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Случайный набор, 14</c:v>
                </c:pt>
                <c:pt idx="1">
                  <c:v>Линейная форма, 14</c:v>
                </c:pt>
                <c:pt idx="2">
                  <c:v>Линейная форма, 20</c:v>
                </c:pt>
                <c:pt idx="3">
                  <c:v>Наш адаптивный, ~14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76.099999999999994</c:v>
                </c:pt>
                <c:pt idx="1">
                  <c:v>74.400000000000006</c:v>
                </c:pt>
                <c:pt idx="2">
                  <c:v>80.099999999999994</c:v>
                </c:pt>
                <c:pt idx="3">
                  <c:v>91.7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B4B5-402E-AF7D-B883FF82B59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9D1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C1D2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ФСП Талант</c:v>
                </c:pt>
              </c:strCache>
            </c:strRef>
          </c:tx>
          <c:spPr>
            <a:solidFill>
              <a:srgbClr val="FF0053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0,632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6C6-48A3-A74F-DDEA728CA1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0,658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6C6-48A3-A74F-DDEA728CA1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0,410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6C6-48A3-A74F-DDEA728CA1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Доля подходящих (P@10)</c:v>
                </c:pt>
                <c:pt idx="1">
                  <c:v>Качество порядка (nDCG@10)</c:v>
                </c:pt>
                <c:pt idx="2">
                  <c:v>Порядок в категории (Спирмен)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0.63200000000000001</c:v>
                </c:pt>
                <c:pt idx="1">
                  <c:v>0.65800000000000003</c:v>
                </c:pt>
                <c:pt idx="2">
                  <c:v>0.41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6C6-48A3-A74F-DDEA728CA1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Поиск по резюме</c:v>
                </c:pt>
              </c:strCache>
            </c:strRef>
          </c:tx>
          <c:spPr>
            <a:solidFill>
              <a:srgbClr val="FFD6E4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0,559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6C6-48A3-A74F-DDEA728CA1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0,620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6C6-48A3-A74F-DDEA728CA1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Arial"/>
                      </a:rPr>
                      <a:t>0,011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6C6-48A3-A74F-DDEA728CA1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Доля подходящих (P@10)</c:v>
                </c:pt>
                <c:pt idx="1">
                  <c:v>Качество порядка (nDCG@10)</c:v>
                </c:pt>
                <c:pt idx="2">
                  <c:v>Порядок в категории (Спирмен)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0.55900000000000005</c:v>
                </c:pt>
                <c:pt idx="1">
                  <c:v>0.62</c:v>
                </c:pt>
                <c:pt idx="2">
                  <c:v>1.0999999999999999E-2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56C6-48A3-A74F-DDEA728CA1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A6A9A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FFFFF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400" b="1">
                <a:solidFill>
                  <a:srgbClr val="1C1D22"/>
                </a:solidFill>
              </a:rPr>
              <a:t>Насколько метрика угадывает силу участника (три выборки)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Связь со скрытой силой</c:v>
                </c:pt>
              </c:strCache>
            </c:strRef>
          </c:tx>
          <c:spPr>
            <a:solidFill>
              <a:srgbClr val="8A83D1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1-77E0-49D1-9288-9C30376F471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0,127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7E0-49D1-9288-9C30376F47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0,681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7E0-49D1-9288-9C30376F47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300" b="1">
                        <a:solidFill>
                          <a:srgbClr val="1C1D22"/>
                        </a:solidFill>
                        <a:latin typeface="Arial"/>
                      </a:rPr>
                      <a:t>0,768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7E0-49D1-9288-9C30376F47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Число участий</c:v>
                </c:pt>
                <c:pt idx="1">
                  <c:v>Среднее место</c:v>
                </c:pt>
                <c:pt idx="2">
                  <c:v>Наша оценка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0.127</c:v>
                </c:pt>
                <c:pt idx="1">
                  <c:v>0.68100000000000005</c:v>
                </c:pt>
                <c:pt idx="2">
                  <c:v>0.76800000000000002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7E0-49D1-9288-9C30376F47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9D1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C1D2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Вес критерия, %</c:v>
                </c:pt>
              </c:strCache>
            </c:strRef>
          </c:tx>
          <c:dPt>
            <c:idx val="0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1-3564-43B5-8684-2A006C2354F7}"/>
              </c:ext>
            </c:extLst>
          </c:dPt>
          <c:dPt>
            <c:idx val="1"/>
            <c:bubble3D val="0"/>
            <c:spPr>
              <a:solidFill>
                <a:srgbClr val="520978"/>
              </a:solidFill>
            </c:spPr>
            <c:extLst>
              <c:ext xmlns:c16="http://schemas.microsoft.com/office/drawing/2014/chart" uri="{C3380CC4-5D6E-409C-BE32-E72D297353CC}">
                <c16:uniqueId val="{00000003-3564-43B5-8684-2A006C2354F7}"/>
              </c:ext>
            </c:extLst>
          </c:dPt>
          <c:dPt>
            <c:idx val="2"/>
            <c:bubble3D val="0"/>
            <c:spPr>
              <a:solidFill>
                <a:srgbClr val="8A83D1"/>
              </a:solidFill>
            </c:spPr>
            <c:extLst>
              <c:ext xmlns:c16="http://schemas.microsoft.com/office/drawing/2014/chart" uri="{C3380CC4-5D6E-409C-BE32-E72D297353CC}">
                <c16:uniqueId val="{00000005-3564-43B5-8684-2A006C2354F7}"/>
              </c:ext>
            </c:extLst>
          </c:dPt>
          <c:dPt>
            <c:idx val="3"/>
            <c:bubble3D val="0"/>
            <c:spPr>
              <a:solidFill>
                <a:srgbClr val="FFD6E4"/>
              </a:solidFill>
            </c:spPr>
            <c:extLst>
              <c:ext xmlns:c16="http://schemas.microsoft.com/office/drawing/2014/chart" uri="{C3380CC4-5D6E-409C-BE32-E72D297353CC}">
                <c16:uniqueId val="{00000007-3564-43B5-8684-2A006C2354F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 sz="1500" b="1">
                        <a:solidFill>
                          <a:srgbClr val="FFFFFF"/>
                        </a:solidFill>
                        <a:latin typeface="Arial"/>
                      </a:rPr>
                      <a:t>35 %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564-43B5-8684-2A006C2354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500" b="1">
                        <a:solidFill>
                          <a:srgbClr val="FFFFFF"/>
                        </a:solidFill>
                        <a:latin typeface="Arial"/>
                      </a:rPr>
                      <a:t>25 %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564-43B5-8684-2A006C2354F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500" b="1">
                        <a:solidFill>
                          <a:srgbClr val="FFFFFF"/>
                        </a:solidFill>
                        <a:latin typeface="Arial"/>
                      </a:rPr>
                      <a:t>20 %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564-43B5-8684-2A006C2354F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500" b="1">
                        <a:solidFill>
                          <a:srgbClr val="FFFFFF"/>
                        </a:solidFill>
                        <a:latin typeface="Arial"/>
                      </a:rPr>
                      <a:t>20 %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564-43B5-8684-2A006C2354F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Подбор</c:v>
                </c:pt>
                <c:pt idx="1">
                  <c:v>Тестирование</c:v>
                </c:pt>
                <c:pt idx="2">
                  <c:v>Интерфейс и питч</c:v>
                </c:pt>
                <c:pt idx="3">
                  <c:v>Техника, документы, доп.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64-43B5-8684-2A006C2354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1C1D22"/>
          </a:solidFill>
          <a:latin typeface="Arial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929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3556945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11.10.2026</a:t>
            </a:fld>
            <a:endParaRPr lang="ru-RU"/>
          </a:p>
        </p:txBody>
      </p:sp>
      <p:sp>
        <p:nvSpPr>
          <p:cNvPr id="1019053895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87910314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961550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788486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0:00–0:12. Здравствуйте! Мы команда «ФСП Талант». Наша платформа устроена просто: уровень человека подтверждает тест, а первым пишет работодатель и сразу называет зарплату.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074B4B-39AB-047E-79EB-88938F14CF3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0:12–0:24. Нас двое, мы из Москвы. За неделю сделали больше 800 коммитов, и каждое изменение прошло автоматическую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1E09D-B2C4-9940-0FE0-3B440CEBB76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8023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9690548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0:24–0:32. Дмитрий отвечает за архитектуру, подбор и тест. Елена — за метрики, сборку и приёмку. Число тестов: [финальное число тестов после заморозки в 23:30].</a:t>
            </a:r>
          </a:p>
        </p:txBody>
      </p:sp>
      <p:sp>
        <p:nvSpPr>
          <p:cNvPr id="3163908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791495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3031330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0:32–0:44. Главное здесь — три трудных вопроса и три инженерных ответа на них.</a:t>
            </a:r>
          </a:p>
        </p:txBody>
      </p:sp>
      <p:sp>
        <p:nvSpPr>
          <p:cNvPr id="1644486365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0:44–0:59. Слева то, как это устроено. Справа то, что это даёт людям и Федерации.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584F63-B638-7EF1-E9BE-D1C0CD4B4928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0:59–1:09. Идём по рекомендованной структуре: описание решения, маркетинг, бизнес, техника, уникальность и планы. Если запомнить три цифры, то эти: все 1875 ключей заданий проверены запуском, слабых кандидатов в первой десятке вдвое меньше, тест уверенно различает соседние грейды.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3CE58C-BCDB-DF7C-30F0-89AAAE4D4C2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1:09–1:39. За год резюме на одну ИТ-вакансию стало вдвое больше: было 9,6, стало 19,6. Работодателю труднее найти нужного человека, кандидату труднее получить ответ, а победы участников ФСП рынок просто не замечает. Об этом же говорит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6D7D11-5C0A-B1A5-898F-E512FCCFE33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1:39–1:59. Работодателю больше не нужно читать ленту откликов. Кандидат знает зарплату до разговора. У Федерации появляется понятный довод для участников: победы помогают найти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19F3E0-9721-CCC6-2728-E58E0A57463E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1:59–2:29. Для рекрутера всё сводится к четырём шагам. Уровень кандидата уже проверен тестом. Подборка показывает, почему человек в ней, и в первой десятке меньше тех, кто завысил себе грейд. Приглашение уходит только с вилкой. Контакты открывает сам кандидат. Сколько времени это экономит рекрутеру, мы пока не мерили. Это первая метрика пилота. Решение о найме всегда принимает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2:29–2:44. Так кандидат видит платформу с телефона: категория, готовность профиля и кнопка «Подтвердить грейд тестом».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EE043E-8C3E-5310-2E1C-80991E6EFBEB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2:44–3:14. ТЗ называет главный риск: задания расходятся между кандидатами. Наш ответ — генераторы: у каждого свои числа и код. Слив двадцати сессий почти не помогает: 5,7 % против 5,3 % у честных на 2400 человек, интервалы перекрываются. Сигналы честности ловят 90 % сессий с утечкой половины ключей при 0,7 % ложных; грейд они не меняют, а зовут человека. Решение «сдал или не сдал» вдали от границы верно в 91,7 % случаев. Тест построен на модели IRT 3PL, задаёт вопросы у границы грейда и останавливается, как только уверен в ответе.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4219D6-1FE2-491F-3A52-0CC7A2FEAC97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3:14–3:34. Второй критерий ТЗ спрашивает, разделяет ли тест сильных и слабых. Да: средний AUC для соседних грейдов 0,92. Два независимых полных пути дают согласованный грейд, взвешенная каппа 0,85, а итоговый грейд в 98,9 % случаев точен до ступени. Всё это на смоделированных кандидатах.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3:34–3:59. Зачем вообще адаптивный тест? На тех же людях он точнее линейной формы: 91,7 % верных решений против 74,4 % у формы из 14 заданий и 80,1 % у формы из 20. Разница статистически значима, интервал не касается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3:59–4:29. В первой десятке у нас 63 % подходящих людей против 56 % у поиска по резюме. Внутри категории сильный стоит выше слабого: связь с настоящей силой 0,410 против 0,011. Слепая разметка 200 пар двумя независимыми автоматическими оценщиками показывает то же самое. На сопоставимых данных цифры выше: на внешнем открытом наборе 0,835, на наших данных без шума 0,863, но основной остаётся строгая 0,658. Людей-экспертов позовём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4:29–4:59. Как мы получили эти цифры. Смоделировали кандидатов, у которых настоящий грейд известен заранее. Проверяли на выборках, которые не трогали при настройке, считали доверительные интервалы и убирали части модели по одной. Разметку 200 пар делали вслепую два независимых автоматических оценщика. Слабое место тоже называем: живых людей ещё не было, для этого пилот с заранее записанным порогом.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4:59–5:09. Это живые экраны стенда, их можно открыть прямо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777F9-D28E-96AD-265F-92243C6AA8E0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5:09–5:34. Постановщик просил, чтобы результаты ФСП давали преимущество, а профильная дисциплина весила больше. Так и сделано. Наша оценка угадывает силу участника лучше среднего места и в шесть раз лучше числа участий. Накрутить её участиями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685159-7624-E584-AE44-646644786B73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5:34–5:54. Спама не будет: у компании лимит приглашений, и он растёт только после проверки. Персональные данные мы обрабатываем по 152-ФЗ.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B148B2-0BD4-3C0D-A0ED-AD58B32B000C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5:54–6:09. Всё, что ТЗ называет дополнительным функционалом, уже работает: вакансии и отклики, задания от компаний, защита от фиктивных вакансий, выгрузка в ATS через вебхуки и мобильная версия.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6:09–6:24. Всё то же самое работает с телефона: кабинет кандидата, тест и поиск у работодателя. Вёрстку проверяли на ширине 390 пикселей.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73A068-11EC-A835-AB1D-8190CC97DA21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6:24–6:39. Для кандидата это подтверждённый грейд вместо резюме, для компании короткая подборка нужных людей. Федерации платформа даёт то, чего ей не хватало: победы участников начинают работать на их карьеру. Привлекать людей будем через соревнования и ФСП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6:39–7:04. Для бизнеса это значит: в первой десятке на 13 % больше подходящих людей и вдвое меньше тех, кто слабее нужного грейда. Деньги платят компании, кандидатам платформа бесплатна всегда, контакты не продаём.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7:04–7:19. Весь стенд поднимается одной командой. ФСП ID подключается по стандартному протоколу, как Keycloak Федерации. Через OpenAPI и вебхуки к платформе подключаются ATS работодателей.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F754B9-C314-78E1-9148-225161C0F343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7:19–7:44. Скажем сразу, что на стенде настоящее. Подбор, тест, приглашения и согласия работают полностью. ФСП ID и реестр мы имитируем по тому же протоколу, потому что доступа к системам Федерации в хакатоне нет. Качество теста измерено на синтетике: у уверенных решений, а это около 72 % кандидатов, повторный тест даёт тот же итог в 80,3 % случаев на отложенных выборках, цель на пилоте 85 %. Речь именно о доле совпадений. Как это проверить на людях, показываем на следующем слайде про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7:44–7:59. Больше 1400 тестов сервера, ни одного доступа к чужим данным из 240 попыток, поиск за 69 миллисекунд и ноль нарушений доступности. Число тестов: [финальное число тестов после заморозки в 23:30].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BA356-8660-07B4-F2D3-15527AF5099C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7:59–8:14. Чем мы отличаемся от больших площадок. Уровень доказан, первым пишет работодатель, зарплата видна сразу, контакты нельзя купить, а каждое место в выдаче объяснено.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206BAC-253B-58A3-639D-527F98C5AEEE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8:14–8:39. После хакатона продукт не умирает. Первый шаг — пилот: 150 участников ФСП, шесть недель, два эксперта вслепую. Если согласие теста с экспертами ниже 0,60, пороги грейдов мы не публикуем. Параллельно меряем то, что важно работодателю: время до принятого приглашения и долю принятых.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B3710C-F9D6-6B44-6B4D-E2150971346E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21131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974270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8:39–8:54. Всё, что мы показали, можно пройти самим. На странице «Режим жюри» три сценария, на них уходит три минуты.</a:t>
            </a:r>
          </a:p>
        </p:txBody>
      </p:sp>
      <p:sp>
        <p:nvSpPr>
          <p:cNvPr id="161881934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8:54–9:04. Спасибо! Готовы ответить на вопросы и показать любой сценарий на стенде.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Приложение. Как решение закрывает каждый критерий раздела 6 ТЗ. Команда make accept проверяет 38 требований. Число тестов: [финальное число тестов после заморозки в 23:30].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57DCC-93BA-17AE-3D1A-076710FE96D2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для вопросов: все метрики теста и подбора в одной таблице рядом с базой для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46041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804664269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937953139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22272957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8166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24576409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9598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11.10.2026</a:t>
            </a:fld>
            <a:endParaRPr lang="ru-RU"/>
          </a:p>
        </p:txBody>
      </p:sp>
      <p:sp>
        <p:nvSpPr>
          <p:cNvPr id="79546961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98987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3599928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92502060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82715869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3405146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41071641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321616532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5078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11.10.2026</a:t>
            </a:fld>
            <a:endParaRPr lang="ru-RU"/>
          </a:p>
        </p:txBody>
      </p:sp>
      <p:sp>
        <p:nvSpPr>
          <p:cNvPr id="86943581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01170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78501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092851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11.10.2026</a:t>
            </a:fld>
            <a:endParaRPr lang="ru-RU"/>
          </a:p>
        </p:txBody>
      </p:sp>
      <p:sp>
        <p:nvSpPr>
          <p:cNvPr id="20561833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8022073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2657798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13515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9228243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6944878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11.10.2026</a:t>
            </a:fld>
            <a:endParaRPr lang="ru-RU"/>
          </a:p>
        </p:txBody>
      </p:sp>
      <p:sp>
        <p:nvSpPr>
          <p:cNvPr id="5273288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381782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10137856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20833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1088063005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2143312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46307577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270063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11.10.2026</a:t>
            </a:fld>
            <a:endParaRPr lang="ru-RU"/>
          </a:p>
        </p:txBody>
      </p:sp>
      <p:sp>
        <p:nvSpPr>
          <p:cNvPr id="132366595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0471725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4230138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3367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11.10.2026</a:t>
            </a:fld>
            <a:endParaRPr lang="ru-RU"/>
          </a:p>
        </p:txBody>
      </p:sp>
      <p:sp>
        <p:nvSpPr>
          <p:cNvPr id="16377889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63835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16132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endParaRPr/>
          </a:p>
        </p:txBody>
      </p:sp>
      <p:sp>
        <p:nvSpPr>
          <p:cNvPr id="331302632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6310348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endParaRPr/>
          </a:p>
        </p:txBody>
      </p:sp>
      <p:sp>
        <p:nvSpPr>
          <p:cNvPr id="28676776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11.10.2026</a:t>
            </a:fld>
            <a:endParaRPr lang="ru-RU"/>
          </a:p>
        </p:txBody>
      </p:sp>
      <p:sp>
        <p:nvSpPr>
          <p:cNvPr id="20252607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22296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2420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11.10.2026</a:t>
            </a:fld>
            <a:endParaRPr lang="ru-RU"/>
          </a:p>
        </p:txBody>
      </p:sp>
      <p:sp>
        <p:nvSpPr>
          <p:cNvPr id="37286342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120333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36217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436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11.10.2026</a:t>
            </a:fld>
            <a:endParaRPr lang="ru-RU"/>
          </a:p>
        </p:txBody>
      </p:sp>
      <p:sp>
        <p:nvSpPr>
          <p:cNvPr id="151906129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220481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67907182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2267748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114115814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02872458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882112151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92496394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57097779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64183237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0129294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0492129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43724108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31476919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0961313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521685722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07477206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027152132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263743197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16537544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498846460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98771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11.10.2026</a:t>
            </a:fld>
            <a:endParaRPr lang="ru-RU"/>
          </a:p>
        </p:txBody>
      </p:sp>
      <p:sp>
        <p:nvSpPr>
          <p:cNvPr id="1923957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05950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80736178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02629280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3090613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78796208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86126613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8814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11.10.2026</a:t>
            </a:fld>
            <a:endParaRPr lang="ru-RU"/>
          </a:p>
        </p:txBody>
      </p:sp>
      <p:sp>
        <p:nvSpPr>
          <p:cNvPr id="14356194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345419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62825912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756439191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2167999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5397924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939999065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387849421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2091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11.10.2026</a:t>
            </a:fld>
            <a:endParaRPr lang="ru-RU"/>
          </a:p>
        </p:txBody>
      </p:sp>
      <p:sp>
        <p:nvSpPr>
          <p:cNvPr id="1335110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9728941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0530582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87719521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74924963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52503980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34249998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34660292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7957699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4569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11.10.2026</a:t>
            </a:fld>
            <a:endParaRPr lang="ru-RU"/>
          </a:p>
        </p:txBody>
      </p:sp>
      <p:sp>
        <p:nvSpPr>
          <p:cNvPr id="19468041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855161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7264067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47263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010037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39590069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84141224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81458525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87951155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204654130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5361461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1651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11.10.2026</a:t>
            </a:fld>
            <a:endParaRPr lang="ru-RU"/>
          </a:p>
        </p:txBody>
      </p:sp>
      <p:sp>
        <p:nvSpPr>
          <p:cNvPr id="212849856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354169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3871587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477997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1247405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16475738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4307044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58544833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0788073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48030577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9889054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31588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11.10.2026</a:t>
            </a:fld>
            <a:endParaRPr lang="ru-RU"/>
          </a:p>
        </p:txBody>
      </p:sp>
      <p:sp>
        <p:nvSpPr>
          <p:cNvPr id="106260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00874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1593846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4278939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320855630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93569355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563366629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1530496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948981309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541664286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098379602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346102152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961475389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12589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11.10.2026</a:t>
            </a:fld>
            <a:endParaRPr lang="ru-RU"/>
          </a:p>
        </p:txBody>
      </p:sp>
      <p:sp>
        <p:nvSpPr>
          <p:cNvPr id="16894962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97697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5468449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050408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20831291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042725103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21241327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207689594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82475163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79762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71742865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11.10.2026</a:t>
            </a:fld>
            <a:endParaRPr lang="ru-RU"/>
          </a:p>
        </p:txBody>
      </p:sp>
      <p:sp>
        <p:nvSpPr>
          <p:cNvPr id="1181103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316308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7547075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44117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501016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5915603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4206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11.10.2026</a:t>
            </a:fld>
            <a:endParaRPr lang="ru-RU"/>
          </a:p>
        </p:txBody>
      </p:sp>
      <p:sp>
        <p:nvSpPr>
          <p:cNvPr id="122758356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462670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10891859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703192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29539246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7527894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42746396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16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7863615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6879101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86119832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09012501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64852642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98715845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41583780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53523849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cxnSp>
        <p:nvCxnSpPr>
          <p:cNvPr id="342752159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697287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1379775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052810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97851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89198313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11.10.2026</a:t>
            </a:fld>
            <a:endParaRPr lang="ru-RU"/>
          </a:p>
        </p:txBody>
      </p:sp>
      <p:sp>
        <p:nvSpPr>
          <p:cNvPr id="728011595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58110987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4223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31844001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00626453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4400694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761553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11.10.2026</a:t>
            </a:fld>
            <a:endParaRPr lang="ru-RU"/>
          </a:p>
        </p:txBody>
      </p:sp>
      <p:sp>
        <p:nvSpPr>
          <p:cNvPr id="7010533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00993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49483550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1771125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122708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1670323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59811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9666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607455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907107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11.10.2026</a:t>
            </a:fld>
            <a:endParaRPr lang="ru-RU"/>
          </a:p>
        </p:txBody>
      </p:sp>
      <p:sp>
        <p:nvSpPr>
          <p:cNvPr id="13457737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70526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rial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78752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280160"/>
          </a:xfrm>
        </p:spPr>
        <p:txBody>
          <a:bodyPr/>
          <a:lstStyle/>
          <a:p>
            <a:pPr marL="268288" indent="0">
              <a:defRPr/>
            </a:pPr>
            <a:r>
              <a:rPr lang="ru-RU"/>
              <a:t>ФСП ТАЛАНТ</a:t>
            </a:r>
          </a:p>
        </p:txBody>
      </p:sp>
      <p:sp>
        <p:nvSpPr>
          <p:cNvPr id="1436879255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202301"/>
            <a:ext cx="8930641" cy="1188720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 sz="1800" b="1"/>
              <a:t>Уровень подтверждает тест. Первым пишет работодатель.</a:t>
            </a:r>
          </a:p>
          <a:p>
            <a:pPr marL="271463" indent="-3175">
              <a:defRPr/>
            </a:pPr>
            <a:r>
              <a:rPr lang="ru-RU" sz="1500"/>
              <a:t>Платформа подбора ИТ-специалистов с проверенным профилем достижений участника ФСП</a:t>
            </a:r>
          </a:p>
          <a:p>
            <a:pPr marL="271463" indent="-3175">
              <a:defRPr/>
            </a:pPr>
            <a:r>
              <a:rPr lang="ru-RU" sz="1500"/>
              <a:t>ФСП Талант — команда Дмитрия Конькова · ЛЦТ 2026, спецтрек ФСП</a:t>
            </a:r>
          </a:p>
        </p:txBody>
      </p:sp>
      <p:sp>
        <p:nvSpPr>
          <p:cNvPr id="27708789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955825710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3902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898203353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391829878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Тест нельзя выучить: у каждого кандидата свои числа и код. Каждое место в выдаче объяснено. Любую цифру из отчёта можно перепроверить одной командой.</a:t>
            </a:r>
          </a:p>
        </p:txBody>
      </p:sp>
      <p:sp>
        <p:nvSpPr>
          <p:cNvPr id="5742130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300" b="1">
                <a:solidFill>
                  <a:srgbClr val="1C1D22"/>
                </a:solidFill>
              </a:rPr>
              <a:t>Капитан: </a:t>
            </a:r>
            <a:r>
              <a:rPr lang="ru-RU" sz="1300" b="0">
                <a:solidFill>
                  <a:srgbClr val="1C1D22"/>
                </a:solidFill>
              </a:rPr>
              <a:t>Коньков Дмитрий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300" b="1">
                <a:solidFill>
                  <a:srgbClr val="1C1D22"/>
                </a:solidFill>
              </a:rPr>
              <a:t>Кол-во участников: </a:t>
            </a:r>
            <a:r>
              <a:rPr lang="ru-RU" sz="1300" b="0">
                <a:solidFill>
                  <a:srgbClr val="1C1D22"/>
                </a:solidFill>
              </a:rPr>
              <a:t>2 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300" b="1">
                <a:solidFill>
                  <a:srgbClr val="1C1D22"/>
                </a:solidFill>
              </a:rPr>
              <a:t>Краткое описание: </a:t>
            </a:r>
            <a:r>
              <a:rPr lang="ru-RU" sz="1300" b="0">
                <a:solidFill>
                  <a:srgbClr val="1C1D22"/>
                </a:solidFill>
              </a:rPr>
              <a:t>за неделю больше 800 коммитов и более 360 принятых изменений, каждое прошло автопроверки. Опыт: AeroBIM в программе «Техлаб Москва»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300" b="1">
                <a:solidFill>
                  <a:srgbClr val="1C1D22"/>
                </a:solidFill>
              </a:rPr>
              <a:t>Город и регион: </a:t>
            </a:r>
            <a:r>
              <a:rPr lang="ru-RU" sz="1300" b="0">
                <a:solidFill>
                  <a:srgbClr val="1C1D22"/>
                </a:solidFill>
              </a:rPr>
              <a:t>Москва</a:t>
            </a:r>
          </a:p>
        </p:txBody>
      </p:sp>
      <p:sp>
        <p:nvSpPr>
          <p:cNvPr id="2060098203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632337005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</a:rPr>
              <a:t>ФСП ТАЛАНТ</a:t>
            </a:r>
          </a:p>
        </p:txBody>
      </p:sp>
      <p:cxnSp>
        <p:nvCxnSpPr>
          <p:cNvPr id="22515995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1418568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9138183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2160079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269694680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Работодатель сам находит нужного специалиста и пишет ему первым, сразу с зарплатной вилкой. Уровень подтверждает адаптивный тест, а победы в соревнованиях ФСП усиливают профиль.</a:t>
            </a:r>
          </a:p>
        </p:txBody>
      </p:sp>
      <p:sp>
        <p:nvSpPr>
          <p:cNvPr id="1542776484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079138184" name="Picture 2079138183" descr="logo.png"/>
          <p:cNvPicPr>
            <a:picLocks noChangeAspect="1"/>
          </p:cNvPicPr>
          <p:nvPr/>
        </p:nvPicPr>
        <p:blipFill>
          <a:blip r:embed="rId4"/>
          <a:srcRect l="19" r="19"/>
          <a:stretch>
            <a:fillRect/>
          </a:stretch>
        </p:blipFill>
        <p:spPr>
          <a:xfrm>
            <a:off x="777240" y="685800"/>
            <a:ext cx="49377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52881" name="Скругленный прямоугольник 55"/>
          <p:cNvSpPr/>
          <p:nvPr/>
        </p:nvSpPr>
        <p:spPr bwMode="auto">
          <a:xfrm>
            <a:off x="3520440" y="1522006"/>
            <a:ext cx="2971800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782647" name="Текст 8"/>
          <p:cNvSpPr txBox="1"/>
          <p:nvPr/>
        </p:nvSpPr>
        <p:spPr bwMode="auto">
          <a:xfrm>
            <a:off x="3749039" y="4343400"/>
            <a:ext cx="2606040" cy="17373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100" b="1">
                <a:solidFill>
                  <a:srgbClr val="1C1D22"/>
                </a:solidFill>
              </a:rPr>
              <a:t>Системный инженер</a:t>
            </a:r>
          </a:p>
          <a:p>
            <a:pPr marL="0" indent="0">
              <a:buNone/>
              <a:defRPr/>
            </a:pPr>
            <a:r>
              <a:rPr lang="ru-RU" sz="1100" b="0">
                <a:solidFill>
                  <a:srgbClr val="1C1D22"/>
                </a:solidFill>
              </a:rPr>
              <a:t>Метрики, сборка, приёмка</a:t>
            </a:r>
          </a:p>
          <a:p>
            <a:pPr marL="0" indent="0">
              <a:buNone/>
              <a:defRPr/>
            </a:pPr>
            <a:r>
              <a:rPr lang="ru-RU" sz="1100" b="0">
                <a:solidFill>
                  <a:srgbClr val="1C1D22"/>
                </a:solidFill>
              </a:rPr>
              <a:t>konkovaelena@yandex.ru</a:t>
            </a:r>
          </a:p>
        </p:txBody>
      </p:sp>
      <p:sp>
        <p:nvSpPr>
          <p:cNvPr id="455614498" name="Текст 8"/>
          <p:cNvSpPr txBox="1"/>
          <p:nvPr/>
        </p:nvSpPr>
        <p:spPr bwMode="auto">
          <a:xfrm>
            <a:off x="3749039" y="3858768"/>
            <a:ext cx="2514600" cy="4114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Елена Конькова</a:t>
            </a:r>
          </a:p>
        </p:txBody>
      </p:sp>
      <p:sp>
        <p:nvSpPr>
          <p:cNvPr id="1074551726" name="Скругленный прямоугольник 16"/>
          <p:cNvSpPr/>
          <p:nvPr/>
        </p:nvSpPr>
        <p:spPr bwMode="auto">
          <a:xfrm>
            <a:off x="347472" y="1522006"/>
            <a:ext cx="2971800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6037873" name="Скругленный прямоугольник 12"/>
          <p:cNvSpPr/>
          <p:nvPr/>
        </p:nvSpPr>
        <p:spPr bwMode="auto">
          <a:xfrm>
            <a:off x="346075" y="324562"/>
            <a:ext cx="198125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8370375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445448399" name="Рисунок 1" descr="k3_3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6432" b="6432"/>
          <a:stretch>
            <a:fillRect/>
          </a:stretch>
        </p:blipFill>
        <p:spPr>
          <a:xfrm>
            <a:off x="731520" y="1783080"/>
            <a:ext cx="2203704" cy="1920240"/>
          </a:xfrm>
        </p:spPr>
      </p:pic>
      <p:pic>
        <p:nvPicPr>
          <p:cNvPr id="1949760256" name="Рисунок 2" descr="k3_5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6432" b="6432"/>
          <a:stretch>
            <a:fillRect/>
          </a:stretch>
        </p:blipFill>
        <p:spPr>
          <a:xfrm>
            <a:off x="3904488" y="1783080"/>
            <a:ext cx="2203704" cy="1920240"/>
          </a:xfrm>
        </p:spPr>
      </p:pic>
      <p:sp>
        <p:nvSpPr>
          <p:cNvPr id="1739125768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1798379" cy="376138"/>
          </a:xfrm>
        </p:spPr>
        <p:txBody>
          <a:bodyPr/>
          <a:lstStyle/>
          <a:p>
            <a:pPr>
              <a:defRPr/>
            </a:pPr>
            <a:r>
              <a:rPr lang="ru-RU"/>
              <a:t>КОМАНДА</a:t>
            </a:r>
          </a:p>
        </p:txBody>
      </p:sp>
      <p:sp>
        <p:nvSpPr>
          <p:cNvPr id="2123857935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76072" y="4343400"/>
            <a:ext cx="2606040" cy="1737360"/>
          </a:xfrm>
        </p:spPr>
        <p:txBody>
          <a:bodyPr>
            <a:normAutofit/>
          </a:bodyPr>
          <a:lstStyle/>
          <a:p>
            <a:pPr marL="0" indent="0" rtl="0">
              <a:buNone/>
              <a:defRPr/>
            </a:pPr>
            <a:r>
              <a:rPr lang="ru-RU" sz="1100" b="1">
                <a:solidFill>
                  <a:srgbClr val="1C1D22"/>
                </a:solidFill>
              </a:rPr>
              <a:t>Капитан команды</a:t>
            </a:r>
          </a:p>
          <a:p>
            <a:pPr marL="0" indent="0" rtl="0">
              <a:buNone/>
              <a:defRPr/>
            </a:pPr>
            <a:r>
              <a:rPr lang="ru-RU" sz="1100" b="0">
                <a:solidFill>
                  <a:srgbClr val="1C1D22"/>
                </a:solidFill>
              </a:rPr>
              <a:t>Архитектура, подбор, адаптивный тест</a:t>
            </a:r>
          </a:p>
          <a:p>
            <a:pPr marL="0" indent="0" rtl="0">
              <a:buNone/>
              <a:defRPr/>
            </a:pPr>
            <a:r>
              <a:rPr lang="ru-RU" sz="1100" b="0">
                <a:solidFill>
                  <a:srgbClr val="1C1D22"/>
                </a:solidFill>
              </a:rPr>
              <a:t>+7 915 452-88-64</a:t>
            </a:r>
          </a:p>
          <a:p>
            <a:pPr marL="0" indent="0" rtl="0">
              <a:buNone/>
              <a:defRPr/>
            </a:pPr>
            <a:r>
              <a:rPr lang="ru-RU" sz="1100" b="0">
                <a:solidFill>
                  <a:srgbClr val="1C1D22"/>
                </a:solidFill>
              </a:rPr>
              <a:t>konkov-dmitrij@yandex.ru</a:t>
            </a:r>
          </a:p>
        </p:txBody>
      </p:sp>
      <p:sp>
        <p:nvSpPr>
          <p:cNvPr id="850512963" name="Текст 8"/>
          <p:cNvSpPr txBox="1"/>
          <p:nvPr/>
        </p:nvSpPr>
        <p:spPr bwMode="auto">
          <a:xfrm>
            <a:off x="576072" y="3858768"/>
            <a:ext cx="2514600" cy="4114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Дмитрий Коньков</a:t>
            </a:r>
          </a:p>
        </p:txBody>
      </p:sp>
      <p:sp>
        <p:nvSpPr>
          <p:cNvPr id="2123857936" name="Как работаем"/>
          <p:cNvSpPr/>
          <p:nvPr/>
        </p:nvSpPr>
        <p:spPr>
          <a:xfrm>
            <a:off x="6693408" y="1517904"/>
            <a:ext cx="5148071" cy="4837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3857937" name="TextBox 2123857936"/>
          <p:cNvSpPr txBox="1"/>
          <p:nvPr/>
        </p:nvSpPr>
        <p:spPr>
          <a:xfrm>
            <a:off x="6967728" y="17373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  <a:latin typeface="Arial"/>
              </a:rPr>
              <a:t>КАК МЫ РАБОТАЕМ</a:t>
            </a:r>
          </a:p>
        </p:txBody>
      </p:sp>
      <p:sp>
        <p:nvSpPr>
          <p:cNvPr id="2123857938" name="TextBox 2123857937"/>
          <p:cNvSpPr txBox="1"/>
          <p:nvPr/>
        </p:nvSpPr>
        <p:spPr>
          <a:xfrm>
            <a:off x="6967728" y="2331720"/>
            <a:ext cx="1417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  <a:latin typeface="Arial"/>
              </a:rPr>
              <a:t>800+</a:t>
            </a:r>
          </a:p>
        </p:txBody>
      </p:sp>
      <p:sp>
        <p:nvSpPr>
          <p:cNvPr id="2123857939" name="TextBox 2123857938"/>
          <p:cNvSpPr txBox="1"/>
          <p:nvPr/>
        </p:nvSpPr>
        <p:spPr>
          <a:xfrm>
            <a:off x="8430768" y="2331720"/>
            <a:ext cx="313639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  <a:latin typeface="Arial"/>
              </a:rPr>
              <a:t>коммитов за неделю</a:t>
            </a:r>
          </a:p>
        </p:txBody>
      </p:sp>
      <p:sp>
        <p:nvSpPr>
          <p:cNvPr id="2123857940" name="TextBox 2123857939"/>
          <p:cNvSpPr txBox="1"/>
          <p:nvPr/>
        </p:nvSpPr>
        <p:spPr>
          <a:xfrm>
            <a:off x="6967728" y="3291839"/>
            <a:ext cx="1417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  <a:latin typeface="Arial"/>
              </a:rPr>
              <a:t>360+</a:t>
            </a:r>
          </a:p>
        </p:txBody>
      </p:sp>
      <p:sp>
        <p:nvSpPr>
          <p:cNvPr id="2123857941" name="TextBox 2123857940"/>
          <p:cNvSpPr txBox="1"/>
          <p:nvPr/>
        </p:nvSpPr>
        <p:spPr>
          <a:xfrm>
            <a:off x="8430768" y="3291839"/>
            <a:ext cx="313639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  <a:latin typeface="Arial"/>
              </a:rPr>
              <a:t>изменений принято, каждое через автопроверки</a:t>
            </a:r>
          </a:p>
        </p:txBody>
      </p:sp>
      <p:sp>
        <p:nvSpPr>
          <p:cNvPr id="2123857942" name="TextBox 2123857941"/>
          <p:cNvSpPr txBox="1"/>
          <p:nvPr/>
        </p:nvSpPr>
        <p:spPr>
          <a:xfrm>
            <a:off x="6967728" y="4251960"/>
            <a:ext cx="1417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  <a:latin typeface="Arial"/>
              </a:rPr>
              <a:t>1400+</a:t>
            </a:r>
          </a:p>
        </p:txBody>
      </p:sp>
      <p:sp>
        <p:nvSpPr>
          <p:cNvPr id="2123857943" name="TextBox 2123857942"/>
          <p:cNvSpPr txBox="1"/>
          <p:nvPr/>
        </p:nvSpPr>
        <p:spPr>
          <a:xfrm>
            <a:off x="8430768" y="4251960"/>
            <a:ext cx="313639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  <a:latin typeface="Arial"/>
              </a:rPr>
              <a:t>тестов сервера и ещё 177 тестов интерфейса</a:t>
            </a:r>
          </a:p>
        </p:txBody>
      </p:sp>
      <p:sp>
        <p:nvSpPr>
          <p:cNvPr id="2123857944" name="TextBox 2123857943"/>
          <p:cNvSpPr txBox="1"/>
          <p:nvPr/>
        </p:nvSpPr>
        <p:spPr>
          <a:xfrm>
            <a:off x="6967728" y="5212080"/>
            <a:ext cx="1417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  <a:latin typeface="Arial"/>
              </a:rPr>
              <a:t>1</a:t>
            </a:r>
          </a:p>
        </p:txBody>
      </p:sp>
      <p:sp>
        <p:nvSpPr>
          <p:cNvPr id="2123857945" name="TextBox 2123857944"/>
          <p:cNvSpPr txBox="1"/>
          <p:nvPr/>
        </p:nvSpPr>
        <p:spPr>
          <a:xfrm>
            <a:off x="8430768" y="5212080"/>
            <a:ext cx="313639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  <a:latin typeface="Arial"/>
              </a:rPr>
              <a:t>команда docker compose up поднимает весь стенд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036882" name="Скругленный прямоугольник 1"/>
          <p:cNvSpPr/>
          <p:nvPr/>
        </p:nvSpPr>
        <p:spPr bwMode="auto">
          <a:xfrm>
            <a:off x="347472" y="320040"/>
            <a:ext cx="3357661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6019705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38070293" name="Заголовок 6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083341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ИСТОРИЯ КОМАНДЫ</a:t>
            </a:r>
          </a:p>
        </p:txBody>
      </p:sp>
      <p:sp>
        <p:nvSpPr>
          <p:cNvPr id="938083795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9966960" cy="96012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 апреля 2026 года делаем AeroBIM в программе «Техлаб Москва». На ЛЦТ 2026 параллельно решали задачу Мосгосстройнадзора. Оттуда привычка: ни одно изменение не попадает в код без проверки.</a:t>
            </a:r>
          </a:p>
        </p:txBody>
      </p:sp>
      <p:sp>
        <p:nvSpPr>
          <p:cNvPr id="127661221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076718560" name="Текст 8"/>
          <p:cNvSpPr txBox="1"/>
          <p:nvPr/>
        </p:nvSpPr>
        <p:spPr bwMode="auto">
          <a:xfrm>
            <a:off x="533607" y="5139255"/>
            <a:ext cx="996696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Как сделать тест, который нельзя слить? Заменили банк вопросов генераторами заданий. Как не обидеть тех, у кого нет истории ФСП? Соревнования только добавляют баллы. Как работать с подростками 15–17 лет? Через согласие законного представителя.</a:t>
            </a:r>
          </a:p>
        </p:txBody>
      </p:sp>
      <p:sp>
        <p:nvSpPr>
          <p:cNvPr id="1297905439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780692596" name="Текст 8"/>
          <p:cNvSpPr txBox="1"/>
          <p:nvPr/>
        </p:nvSpPr>
        <p:spPr bwMode="auto">
          <a:xfrm>
            <a:off x="533607" y="3429000"/>
            <a:ext cx="996696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Резюме не доказывает навык, а протокол соревнования доказывает. Нам хотелось, чтобы работодатель сам звал сильных ребят, а их победы превращались в предложения о работе.</a:t>
            </a:r>
          </a:p>
        </p:txBody>
      </p:sp>
      <p:sp>
        <p:nvSpPr>
          <p:cNvPr id="183082336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861409908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8182128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2073617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535908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594510368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341763016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621191" name="Скругленный прямоугольник 9"/>
          <p:cNvSpPr/>
          <p:nvPr/>
        </p:nvSpPr>
        <p:spPr bwMode="auto">
          <a:xfrm>
            <a:off x="347472" y="320040"/>
            <a:ext cx="3560583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00062839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15600012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1623946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988100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Адаптивный тест на модели IRT 3PL подбирает задания у границы грейда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22 семейства заданий, у каждого кандидата свои числа и код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Оценка подбора раскладывается на навыки, грейд, роль, тест и результаты ФСП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Вход через ФСП ID по OpenID Connect, протоколы выдаются как подписанные удостоверения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FastAPI, PostgreSQL с pgvector, Redis, Celery, React и TypeScript</a:t>
            </a:r>
          </a:p>
        </p:txBody>
      </p:sp>
      <p:sp>
        <p:nvSpPr>
          <p:cNvPr id="55149428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Работодатель приглашает подходящих и не разбирает отклики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Зарплата известна до первого разговора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Контакты открывает сам кандидат, приняв приглашение или откликнувшись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Победы в соревнованиях становятся аргументом при найме</a:t>
            </a:r>
          </a:p>
          <a:p>
            <a:pPr>
              <a:spcAft>
                <a:spcPts val="800"/>
              </a:spcAft>
              <a:defRPr/>
            </a:pPr>
            <a:r>
              <a:rPr lang="ru-RU" sz="1300" b="0">
                <a:solidFill>
                  <a:srgbClr val="1C1D22"/>
                </a:solidFill>
              </a:rPr>
              <a:t>Без истории ФСП человек ничего не теряет</a:t>
            </a:r>
          </a:p>
        </p:txBody>
      </p:sp>
      <p:sp>
        <p:nvSpPr>
          <p:cNvPr id="20910734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286263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КОРОТКО О РЕШЕНИИ</a:t>
            </a:r>
            <a:endParaRPr/>
          </a:p>
        </p:txBody>
      </p:sp>
      <p:sp>
        <p:nvSpPr>
          <p:cNvPr id="198805850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202608740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22134" name="Номер слайда 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905274618" name="Текст 62"/>
          <p:cNvSpPr>
            <a:spLocks noGrp="1"/>
          </p:cNvSpPr>
          <p:nvPr>
            <p:ph type="body" sz="quarter" idx="27"/>
          </p:nvPr>
        </p:nvSpPr>
        <p:spPr bwMode="auto">
          <a:xfrm>
            <a:off x="925057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Подробное описание решения</a:t>
            </a:r>
            <a:endParaRPr/>
          </a:p>
        </p:txBody>
      </p:sp>
      <p:sp>
        <p:nvSpPr>
          <p:cNvPr id="1784095245" name="Текст 63"/>
          <p:cNvSpPr>
            <a:spLocks noGrp="1"/>
          </p:cNvSpPr>
          <p:nvPr>
            <p:ph type="body" sz="quarter" idx="33"/>
          </p:nvPr>
        </p:nvSpPr>
        <p:spPr bwMode="auto">
          <a:xfrm>
            <a:off x="3507375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Маркетинговая часть решения</a:t>
            </a:r>
            <a:endParaRPr/>
          </a:p>
        </p:txBody>
      </p:sp>
      <p:sp>
        <p:nvSpPr>
          <p:cNvPr id="700132442" name="Текст 64"/>
          <p:cNvSpPr>
            <a:spLocks noGrp="1"/>
          </p:cNvSpPr>
          <p:nvPr>
            <p:ph type="body" sz="quarter" idx="35"/>
          </p:nvPr>
        </p:nvSpPr>
        <p:spPr bwMode="auto">
          <a:xfrm>
            <a:off x="6089694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Бизнесовая составляющая решения</a:t>
            </a:r>
            <a:endParaRPr/>
          </a:p>
        </p:txBody>
      </p:sp>
      <p:sp>
        <p:nvSpPr>
          <p:cNvPr id="1504802995" name="Текст 65"/>
          <p:cNvSpPr>
            <a:spLocks noGrp="1"/>
          </p:cNvSpPr>
          <p:nvPr>
            <p:ph type="body" sz="quarter" idx="37"/>
          </p:nvPr>
        </p:nvSpPr>
        <p:spPr bwMode="auto">
          <a:xfrm>
            <a:off x="925058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Техническая проработка решения</a:t>
            </a:r>
            <a:endParaRPr/>
          </a:p>
        </p:txBody>
      </p:sp>
      <p:sp>
        <p:nvSpPr>
          <p:cNvPr id="1443084464" name="Текст 66"/>
          <p:cNvSpPr>
            <a:spLocks noGrp="1"/>
          </p:cNvSpPr>
          <p:nvPr>
            <p:ph type="body" sz="quarter" idx="39"/>
          </p:nvPr>
        </p:nvSpPr>
        <p:spPr bwMode="auto">
          <a:xfrm>
            <a:off x="3474583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Уникальность решения</a:t>
            </a:r>
            <a:endParaRPr/>
          </a:p>
        </p:txBody>
      </p:sp>
      <p:sp>
        <p:nvSpPr>
          <p:cNvPr id="1413016022" name="Текст 66"/>
          <p:cNvSpPr txBox="1"/>
          <p:nvPr/>
        </p:nvSpPr>
        <p:spPr bwMode="auto">
          <a:xfrm>
            <a:off x="6055728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Планы </a:t>
            </a:r>
            <a:br>
              <a:rPr lang="ru-RU" sz="1600">
                <a:solidFill>
                  <a:schemeClr val="tx1"/>
                </a:solidFill>
              </a:rPr>
            </a:br>
            <a:r>
              <a:rPr lang="ru-RU" sz="1600">
                <a:solidFill>
                  <a:schemeClr val="tx1"/>
                </a:solidFill>
              </a:rPr>
              <a:t>по развитию решения</a:t>
            </a:r>
            <a:endParaRPr/>
          </a:p>
        </p:txBody>
      </p:sp>
      <p:sp>
        <p:nvSpPr>
          <p:cNvPr id="678174979" name="Заголовок 1"/>
          <p:cNvSpPr txBox="1"/>
          <p:nvPr/>
        </p:nvSpPr>
        <p:spPr bwMode="auto">
          <a:xfrm>
            <a:off x="938912" y="1945277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01</a:t>
            </a:r>
            <a:endParaRPr/>
          </a:p>
        </p:txBody>
      </p:sp>
      <p:sp>
        <p:nvSpPr>
          <p:cNvPr id="1400910730" name="Заголовок 1"/>
          <p:cNvSpPr txBox="1"/>
          <p:nvPr/>
        </p:nvSpPr>
        <p:spPr bwMode="auto">
          <a:xfrm>
            <a:off x="3507375" y="1945277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02</a:t>
            </a:r>
            <a:endParaRPr/>
          </a:p>
        </p:txBody>
      </p:sp>
      <p:sp>
        <p:nvSpPr>
          <p:cNvPr id="1578657682" name="Заголовок 1"/>
          <p:cNvSpPr txBox="1"/>
          <p:nvPr/>
        </p:nvSpPr>
        <p:spPr bwMode="auto">
          <a:xfrm>
            <a:off x="6114617" y="1945277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03</a:t>
            </a:r>
            <a:endParaRPr/>
          </a:p>
        </p:txBody>
      </p:sp>
      <p:sp>
        <p:nvSpPr>
          <p:cNvPr id="1264653374" name="Заголовок 1"/>
          <p:cNvSpPr txBox="1"/>
          <p:nvPr/>
        </p:nvSpPr>
        <p:spPr bwMode="auto">
          <a:xfrm>
            <a:off x="938912" y="4051168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04</a:t>
            </a:r>
            <a:endParaRPr/>
          </a:p>
        </p:txBody>
      </p:sp>
      <p:sp>
        <p:nvSpPr>
          <p:cNvPr id="1229297656" name="Заголовок 1"/>
          <p:cNvSpPr txBox="1"/>
          <p:nvPr/>
        </p:nvSpPr>
        <p:spPr bwMode="auto">
          <a:xfrm>
            <a:off x="3507375" y="4051168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05</a:t>
            </a:r>
            <a:endParaRPr/>
          </a:p>
        </p:txBody>
      </p:sp>
      <p:sp>
        <p:nvSpPr>
          <p:cNvPr id="677434687" name="Заголовок 1"/>
          <p:cNvSpPr txBox="1"/>
          <p:nvPr/>
        </p:nvSpPr>
        <p:spPr bwMode="auto">
          <a:xfrm>
            <a:off x="6114617" y="4051168"/>
            <a:ext cx="777240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Arial"/>
              </a:rPr>
              <a:t>06</a:t>
            </a:r>
            <a:endParaRPr/>
          </a:p>
        </p:txBody>
      </p:sp>
      <p:sp>
        <p:nvSpPr>
          <p:cNvPr id="934486042" name="Скругленный прямоугольник 9"/>
          <p:cNvSpPr/>
          <p:nvPr/>
        </p:nvSpPr>
        <p:spPr bwMode="auto">
          <a:xfrm>
            <a:off x="3300935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48344808" name="Скругленный прямоугольник 10"/>
          <p:cNvSpPr/>
          <p:nvPr/>
        </p:nvSpPr>
        <p:spPr bwMode="auto">
          <a:xfrm>
            <a:off x="5895854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9621837" name="Скругленный прямоугольник 11"/>
          <p:cNvSpPr/>
          <p:nvPr/>
        </p:nvSpPr>
        <p:spPr bwMode="auto">
          <a:xfrm>
            <a:off x="743086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83145286" name="Скругленный прямоугольник 12"/>
          <p:cNvSpPr/>
          <p:nvPr/>
        </p:nvSpPr>
        <p:spPr bwMode="auto">
          <a:xfrm>
            <a:off x="3300935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46492323" name="Скругленный прямоугольник 13"/>
          <p:cNvSpPr/>
          <p:nvPr/>
        </p:nvSpPr>
        <p:spPr bwMode="auto">
          <a:xfrm>
            <a:off x="5895854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4829700" name="Скругленный прямоугольник 14"/>
          <p:cNvSpPr/>
          <p:nvPr/>
        </p:nvSpPr>
        <p:spPr bwMode="auto">
          <a:xfrm>
            <a:off x="743086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9880397" name="Скругленный прямоугольник 1"/>
          <p:cNvSpPr/>
          <p:nvPr/>
        </p:nvSpPr>
        <p:spPr bwMode="auto">
          <a:xfrm>
            <a:off x="347472" y="320040"/>
            <a:ext cx="3485157" cy="621792"/>
          </a:xfrm>
          <a:prstGeom prst="roundRect">
            <a:avLst>
              <a:gd name="adj" fmla="val 24229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01411155" name="Заголовок 1"/>
          <p:cNvSpPr txBox="1"/>
          <p:nvPr/>
        </p:nvSpPr>
        <p:spPr bwMode="auto">
          <a:xfrm>
            <a:off x="347472" y="320040"/>
            <a:ext cx="3485157" cy="6217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 algn="ctr"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ПЛАН ВЫСТУПЛЕНИЯ</a:t>
            </a:r>
          </a:p>
        </p:txBody>
      </p:sp>
      <p:sp>
        <p:nvSpPr>
          <p:cNvPr id="2044829701" name="TextBox 2044829700"/>
          <p:cNvSpPr txBox="1"/>
          <p:nvPr/>
        </p:nvSpPr>
        <p:spPr>
          <a:xfrm>
            <a:off x="1716152" y="2146445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слайды 7–20</a:t>
            </a:r>
          </a:p>
        </p:txBody>
      </p:sp>
      <p:sp>
        <p:nvSpPr>
          <p:cNvPr id="2044829702" name="TextBox 2044829701"/>
          <p:cNvSpPr txBox="1"/>
          <p:nvPr/>
        </p:nvSpPr>
        <p:spPr>
          <a:xfrm>
            <a:off x="4284615" y="2146445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 21</a:t>
            </a:r>
          </a:p>
        </p:txBody>
      </p:sp>
      <p:sp>
        <p:nvSpPr>
          <p:cNvPr id="2044829703" name="TextBox 2044829702"/>
          <p:cNvSpPr txBox="1"/>
          <p:nvPr/>
        </p:nvSpPr>
        <p:spPr>
          <a:xfrm>
            <a:off x="6891857" y="2146445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 22</a:t>
            </a:r>
          </a:p>
        </p:txBody>
      </p:sp>
      <p:sp>
        <p:nvSpPr>
          <p:cNvPr id="2044829704" name="TextBox 2044829703"/>
          <p:cNvSpPr txBox="1"/>
          <p:nvPr/>
        </p:nvSpPr>
        <p:spPr>
          <a:xfrm>
            <a:off x="1716152" y="42523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слайды 23–25</a:t>
            </a:r>
          </a:p>
        </p:txBody>
      </p:sp>
      <p:sp>
        <p:nvSpPr>
          <p:cNvPr id="2044829705" name="TextBox 2044829704"/>
          <p:cNvSpPr txBox="1"/>
          <p:nvPr/>
        </p:nvSpPr>
        <p:spPr>
          <a:xfrm>
            <a:off x="4284615" y="42523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 26</a:t>
            </a:r>
          </a:p>
        </p:txBody>
      </p:sp>
      <p:sp>
        <p:nvSpPr>
          <p:cNvPr id="2044829706" name="TextBox 2044829705"/>
          <p:cNvSpPr txBox="1"/>
          <p:nvPr/>
        </p:nvSpPr>
        <p:spPr>
          <a:xfrm>
            <a:off x="6891857" y="42523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Arial"/>
              </a:rPr>
              <a:t>слайд 27</a:t>
            </a:r>
          </a:p>
        </p:txBody>
      </p:sp>
      <p:sp>
        <p:nvSpPr>
          <p:cNvPr id="2044829707" name="Главное"/>
          <p:cNvSpPr/>
          <p:nvPr/>
        </p:nvSpPr>
        <p:spPr>
          <a:xfrm>
            <a:off x="8458200" y="1792224"/>
            <a:ext cx="3383280" cy="3922776"/>
          </a:xfrm>
          <a:prstGeom prst="roundRect">
            <a:avLst>
              <a:gd name="adj" fmla="val 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4829708" name="TextBox 2044829707"/>
          <p:cNvSpPr txBox="1"/>
          <p:nvPr/>
        </p:nvSpPr>
        <p:spPr>
          <a:xfrm>
            <a:off x="8659368" y="19385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ТРИ ЦИФРЫ</a:t>
            </a:r>
          </a:p>
        </p:txBody>
      </p:sp>
      <p:sp>
        <p:nvSpPr>
          <p:cNvPr id="2044829709" name="TextBox 2044829708"/>
          <p:cNvSpPr txBox="1"/>
          <p:nvPr/>
        </p:nvSpPr>
        <p:spPr>
          <a:xfrm>
            <a:off x="8659368" y="23957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400" b="1">
                <a:solidFill>
                  <a:srgbClr val="FFD6E4"/>
                </a:solidFill>
                <a:latin typeface="Arial"/>
              </a:rPr>
              <a:t>1875 из 1875</a:t>
            </a:r>
          </a:p>
        </p:txBody>
      </p:sp>
      <p:sp>
        <p:nvSpPr>
          <p:cNvPr id="2044829710" name="TextBox 2044829709"/>
          <p:cNvSpPr txBox="1"/>
          <p:nvPr/>
        </p:nvSpPr>
        <p:spPr>
          <a:xfrm>
            <a:off x="8659368" y="28346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ключей заданий проверены запуском</a:t>
            </a:r>
          </a:p>
        </p:txBody>
      </p:sp>
      <p:sp>
        <p:nvSpPr>
          <p:cNvPr id="2044829711" name="TextBox 2044829710"/>
          <p:cNvSpPr txBox="1"/>
          <p:nvPr/>
        </p:nvSpPr>
        <p:spPr>
          <a:xfrm>
            <a:off x="8659368" y="34747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400" b="1">
                <a:solidFill>
                  <a:srgbClr val="FFD6E4"/>
                </a:solidFill>
                <a:latin typeface="Arial"/>
              </a:rPr>
              <a:t>−56 %</a:t>
            </a:r>
          </a:p>
        </p:txBody>
      </p:sp>
      <p:sp>
        <p:nvSpPr>
          <p:cNvPr id="2044829712" name="TextBox 2044829711"/>
          <p:cNvSpPr txBox="1"/>
          <p:nvPr/>
        </p:nvSpPr>
        <p:spPr>
          <a:xfrm>
            <a:off x="8659368" y="3913631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кандидатов слабее нужного грейда в первой десятке</a:t>
            </a:r>
          </a:p>
        </p:txBody>
      </p:sp>
      <p:sp>
        <p:nvSpPr>
          <p:cNvPr id="2044829713" name="TextBox 2044829712"/>
          <p:cNvSpPr txBox="1"/>
          <p:nvPr/>
        </p:nvSpPr>
        <p:spPr>
          <a:xfrm>
            <a:off x="8659368" y="45537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2400" b="1">
                <a:solidFill>
                  <a:srgbClr val="FFD6E4"/>
                </a:solidFill>
                <a:latin typeface="Arial"/>
              </a:rPr>
              <a:t>0,92</a:t>
            </a:r>
          </a:p>
        </p:txBody>
      </p:sp>
      <p:sp>
        <p:nvSpPr>
          <p:cNvPr id="2044829714" name="TextBox 2044829713"/>
          <p:cNvSpPr txBox="1"/>
          <p:nvPr/>
        </p:nvSpPr>
        <p:spPr>
          <a:xfrm>
            <a:off x="8659368" y="4992624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AUC различения соседних грейдов</a:t>
            </a:r>
          </a:p>
        </p:txBody>
      </p:sp>
      <p:sp>
        <p:nvSpPr>
          <p:cNvPr id="2044829715" name="Симуляция"/>
          <p:cNvSpPr txBox="1"/>
          <p:nvPr/>
        </p:nvSpPr>
        <p:spPr>
          <a:xfrm>
            <a:off x="740664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0">
                <a:solidFill>
                  <a:srgbClr val="6B6C75"/>
                </a:solidFill>
                <a:latin typeface="Arial"/>
              </a:rPr>
              <a:t>Метрики теста и подбора посчитаны на смоделированных кандидатах со скрытой правдой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69274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39103392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17501900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02059417" name="Скругленный прямоугольник 1"/>
          <p:cNvSpPr/>
          <p:nvPr/>
        </p:nvSpPr>
        <p:spPr bwMode="auto">
          <a:xfrm>
            <a:off x="347472" y="320040"/>
            <a:ext cx="6044326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5461223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7</a:t>
            </a:fld>
            <a:endParaRPr lang="ru-RU"/>
          </a:p>
        </p:txBody>
      </p:sp>
      <p:sp>
        <p:nvSpPr>
          <p:cNvPr id="1990425147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FF0053"/>
                </a:solidFill>
              </a:rPr>
              <a:t>Работодатель</a:t>
            </a:r>
          </a:p>
        </p:txBody>
      </p:sp>
      <p:sp>
        <p:nvSpPr>
          <p:cNvPr id="801861329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Инженеры тратят часы на сотни откликов. Резюме не доказывает навык, поэтому отбирают по ключевым словам.</a:t>
            </a:r>
          </a:p>
        </p:txBody>
      </p:sp>
      <p:sp>
        <p:nvSpPr>
          <p:cNvPr id="181842631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FF0053"/>
                </a:solidFill>
              </a:rPr>
              <a:t>Кандидат</a:t>
            </a:r>
          </a:p>
        </p:txBody>
      </p:sp>
      <p:sp>
        <p:nvSpPr>
          <p:cNvPr id="91018296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Откликается вслепую, о зарплате узнаёт последним, а ответа часто не получает.</a:t>
            </a:r>
          </a:p>
        </p:txBody>
      </p:sp>
      <p:sp>
        <p:nvSpPr>
          <p:cNvPr id="101239197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FF0053"/>
                </a:solidFill>
              </a:rPr>
              <a:t>Федерация</a:t>
            </a:r>
          </a:p>
        </p:txBody>
      </p:sp>
      <p:sp>
        <p:nvSpPr>
          <p:cNvPr id="96373977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Работодатель не видит побед участников, и спортивный опыт не помогает им в карьере.</a:t>
            </a:r>
          </a:p>
        </p:txBody>
      </p:sp>
      <p:sp>
        <p:nvSpPr>
          <p:cNvPr id="211663325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5770006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НА ВАКАНСИЮ ВДВОЕ БОЛЬШЕ РЕЗЮМЕ</a:t>
            </a:r>
          </a:p>
        </p:txBody>
      </p:sp>
      <p:sp>
        <p:nvSpPr>
          <p:cNvPr id="2116633260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01 · ПОДРОБНОЕ ОПИСАНИЕ РЕШЕНИЯ</a:t>
            </a:r>
          </a:p>
        </p:txBody>
      </p:sp>
      <p:graphicFrame>
        <p:nvGraphicFramePr>
          <p:cNvPr id="2116633261" name="Chart 2116633260"/>
          <p:cNvGraphicFramePr>
            <a:graphicFrameLocks noGrp="1"/>
          </p:cNvGraphicFramePr>
          <p:nvPr/>
        </p:nvGraphicFramePr>
        <p:xfrm>
          <a:off x="346075" y="1561670"/>
          <a:ext cx="5749925" cy="4127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16633262" name="Источник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0">
                <a:solidFill>
                  <a:srgbClr val="C9C3F0"/>
                </a:solidFill>
                <a:latin typeface="Arial"/>
              </a:rPr>
              <a:t>Источник: данные hh.ru в статье Habr «Что сейчас происходит с рынком ИТ-специалистов», 17.03.2026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340314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8617988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29500730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78081117" name="Скругленный прямоугольник 1"/>
          <p:cNvSpPr/>
          <p:nvPr/>
        </p:nvSpPr>
        <p:spPr bwMode="auto">
          <a:xfrm>
            <a:off x="347472" y="320040"/>
            <a:ext cx="2940089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0723832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08144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2128185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75629732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FF0053"/>
                </a:solidFill>
              </a:rPr>
              <a:t>РАБОТОДАТЕЛЬ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6B6C75"/>
                </a:solidFill>
              </a:rPr>
              <a:t>Было: </a:t>
            </a:r>
            <a:r>
              <a:rPr lang="ru-RU" sz="1400" b="0">
                <a:solidFill>
                  <a:srgbClr val="6B6C75"/>
                </a:solidFill>
              </a:rPr>
              <a:t>сотни откликов и отбор по ключевым словам.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Стало: </a:t>
            </a:r>
            <a:r>
              <a:rPr lang="ru-RU" sz="1400" b="1">
                <a:solidFill>
                  <a:srgbClr val="1C1D22"/>
                </a:solidFill>
              </a:rPr>
              <a:t>короткая подборка, где понятно, почему человек в неё попал.</a:t>
            </a:r>
          </a:p>
        </p:txBody>
      </p:sp>
      <p:sp>
        <p:nvSpPr>
          <p:cNvPr id="531745603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FF0053"/>
                </a:solidFill>
              </a:rPr>
              <a:t>КАНДИДАТ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6B6C75"/>
                </a:solidFill>
              </a:rPr>
              <a:t>Было: </a:t>
            </a:r>
            <a:r>
              <a:rPr lang="ru-RU" sz="1400" b="0">
                <a:solidFill>
                  <a:srgbClr val="6B6C75"/>
                </a:solidFill>
              </a:rPr>
              <a:t>отклик наугад, зарплата в самом конце.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Стало: </a:t>
            </a:r>
            <a:r>
              <a:rPr lang="ru-RU" sz="1400" b="1">
                <a:solidFill>
                  <a:srgbClr val="1C1D22"/>
                </a:solidFill>
              </a:rPr>
              <a:t>приглашение с вилкой, контакты он открывает сам.</a:t>
            </a:r>
          </a:p>
        </p:txBody>
      </p:sp>
      <p:sp>
        <p:nvSpPr>
          <p:cNvPr id="1959242089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FF0053"/>
                </a:solidFill>
              </a:rPr>
              <a:t>ФЕДЕРАЦИЯ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6B6C75"/>
                </a:solidFill>
              </a:rPr>
              <a:t>Было: </a:t>
            </a:r>
            <a:r>
              <a:rPr lang="ru-RU" sz="1400" b="0">
                <a:solidFill>
                  <a:srgbClr val="6B6C75"/>
                </a:solidFill>
              </a:rPr>
              <a:t>победы видны только в протоколах.</a:t>
            </a:r>
          </a:p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Стало: </a:t>
            </a:r>
            <a:r>
              <a:rPr lang="ru-RU" sz="1400" b="1">
                <a:solidFill>
                  <a:srgbClr val="1C1D22"/>
                </a:solidFill>
              </a:rPr>
              <a:t>протоколы в профиле подтверждают навык, вход через ФСП ID.</a:t>
            </a:r>
          </a:p>
        </p:txBody>
      </p:sp>
      <p:cxnSp>
        <p:nvCxnSpPr>
          <p:cNvPr id="1146371666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2382114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894642111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908618070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640239605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21341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266576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ЧТО МЫ МЕНЯЕМ</a:t>
            </a:r>
          </a:p>
        </p:txBody>
      </p:sp>
      <p:cxnSp>
        <p:nvCxnSpPr>
          <p:cNvPr id="405110045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50618" name="Скругленный прямоугольник 9"/>
          <p:cNvSpPr/>
          <p:nvPr/>
        </p:nvSpPr>
        <p:spPr bwMode="auto">
          <a:xfrm>
            <a:off x="347472" y="320040"/>
            <a:ext cx="4837608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40927953" name="Скругленный прямоугольник 22"/>
          <p:cNvSpPr/>
          <p:nvPr/>
        </p:nvSpPr>
        <p:spPr bwMode="auto">
          <a:xfrm>
            <a:off x="3288425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4441699" name="Скругленный прямоугольник 23"/>
          <p:cNvSpPr/>
          <p:nvPr/>
        </p:nvSpPr>
        <p:spPr bwMode="auto">
          <a:xfrm>
            <a:off x="6230774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5827162" name="Скругленный прямоугольник 24"/>
          <p:cNvSpPr/>
          <p:nvPr/>
        </p:nvSpPr>
        <p:spPr bwMode="auto">
          <a:xfrm>
            <a:off x="9173123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1171314" name="Скругленный прямоугольник 26"/>
          <p:cNvSpPr/>
          <p:nvPr/>
        </p:nvSpPr>
        <p:spPr bwMode="auto">
          <a:xfrm>
            <a:off x="346076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926741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4797211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423159"/>
            <a:ext cx="2284071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Грейд проверен тестом</a:t>
            </a:r>
          </a:p>
        </p:txBody>
      </p:sp>
      <p:sp>
        <p:nvSpPr>
          <p:cNvPr id="25581840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2918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В 9 случаях из 10 тест верно решает, подтверждён ли заявленный грейд, если человек не на самой границе.</a:t>
            </a:r>
          </a:p>
        </p:txBody>
      </p:sp>
      <p:sp>
        <p:nvSpPr>
          <p:cNvPr id="129364344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423159"/>
            <a:ext cx="2337416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Подборка с объяснением</a:t>
            </a:r>
          </a:p>
        </p:txBody>
      </p:sp>
      <p:sp>
        <p:nvSpPr>
          <p:cNvPr id="246762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291839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Карточки без имени. Завысивших грейд в первой десятке 22,1 % против 28,1 % при поиске по резюме.</a:t>
            </a:r>
          </a:p>
        </p:txBody>
      </p:sp>
      <p:sp>
        <p:nvSpPr>
          <p:cNvPr id="13699795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423159"/>
            <a:ext cx="2268537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Приглашение с вилкой</a:t>
            </a:r>
          </a:p>
        </p:txBody>
      </p:sp>
      <p:sp>
        <p:nvSpPr>
          <p:cNvPr id="178215100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291840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Без вилки «от и до» приглашение не отправить. Сумма до вычета НДФЛ и не ниже МРОТ.</a:t>
            </a:r>
          </a:p>
        </p:txBody>
      </p:sp>
      <p:sp>
        <p:nvSpPr>
          <p:cNvPr id="183667140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423159"/>
            <a:ext cx="2263553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Контакты после согласия</a:t>
            </a:r>
          </a:p>
        </p:txBody>
      </p:sp>
      <p:sp>
        <p:nvSpPr>
          <p:cNvPr id="123244517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291840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Открываются, только когда кандидат принял приглашение или сам откликнулся на вакансию. Каждый просмотр записан в журнал.</a:t>
            </a:r>
          </a:p>
        </p:txBody>
      </p:sp>
      <p:sp>
        <p:nvSpPr>
          <p:cNvPr id="1221947720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563288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ДЛЯ РЕКРУТЕРА: ЧЕТЫРЕ ШАГА</a:t>
            </a:r>
          </a:p>
        </p:txBody>
      </p:sp>
      <p:sp>
        <p:nvSpPr>
          <p:cNvPr id="1559471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1</a:t>
            </a:r>
          </a:p>
        </p:txBody>
      </p:sp>
      <p:sp>
        <p:nvSpPr>
          <p:cNvPr id="72243754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2</a:t>
            </a:r>
          </a:p>
        </p:txBody>
      </p:sp>
      <p:sp>
        <p:nvSpPr>
          <p:cNvPr id="148014629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3</a:t>
            </a:r>
          </a:p>
        </p:txBody>
      </p:sp>
      <p:sp>
        <p:nvSpPr>
          <p:cNvPr id="13301233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4</a:t>
            </a:r>
          </a:p>
        </p:txBody>
      </p:sp>
      <p:sp>
        <p:nvSpPr>
          <p:cNvPr id="2140927954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01 · ОБРАТНЫЙ НАЙМ БЕЗ ФОРМУЛ</a:t>
            </a:r>
          </a:p>
        </p:txBody>
      </p:sp>
      <p:sp>
        <p:nvSpPr>
          <p:cNvPr id="2140927955" name="Вывод"/>
          <p:cNvSpPr/>
          <p:nvPr/>
        </p:nvSpPr>
        <p:spPr>
          <a:xfrm>
            <a:off x="347472" y="5029200"/>
            <a:ext cx="11494008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0927956" name="TextBox 2140927955"/>
          <p:cNvSpPr txBox="1"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  <a:latin typeface="Arial"/>
              </a:rPr>
              <a:t>Экономию времени рекрутера мы пока не измеряли. На пилоте считаем время от потребности до принятого приглашения и долю принятых.</a:t>
            </a:r>
          </a:p>
        </p:txBody>
      </p:sp>
      <p:sp>
        <p:nvSpPr>
          <p:cNvPr id="2140927957" name="Симуляция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0">
                <a:solidFill>
                  <a:srgbClr val="C9C3F0"/>
                </a:solidFill>
                <a:latin typeface="Arial"/>
              </a:rPr>
              <a:t>Метрики теста и подбора посчитаны на смоделированных кандидатах со скрытой правдой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55410" name="Скругленный прямоугольник 2"/>
          <p:cNvSpPr/>
          <p:nvPr/>
        </p:nvSpPr>
        <p:spPr bwMode="auto">
          <a:xfrm>
            <a:off x="347472" y="320040"/>
            <a:ext cx="2994441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180782443" name="Рисунок 1" descr="base-candidate-390-dark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b="2090"/>
          <a:stretch>
            <a:fillRect/>
          </a:stretch>
        </p:blipFill>
        <p:spPr>
          <a:xfrm>
            <a:off x="5009872" y="1235915"/>
            <a:ext cx="2172255" cy="4602697"/>
          </a:xfrm>
        </p:spPr>
      </p:pic>
      <p:sp>
        <p:nvSpPr>
          <p:cNvPr id="489703029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Вход</a:t>
            </a:r>
          </a:p>
        </p:txBody>
      </p:sp>
      <p:sp>
        <p:nvSpPr>
          <p:cNvPr id="950311669" name="Текст 4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203700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Через ФСП ID или по почте. Протоколы и разряды подтягиваются сами</a:t>
            </a:r>
          </a:p>
        </p:txBody>
      </p:sp>
      <p:sp>
        <p:nvSpPr>
          <p:cNvPr id="1473681808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Опрос</a:t>
            </a:r>
          </a:p>
        </p:txBody>
      </p:sp>
      <p:sp>
        <p:nvSpPr>
          <p:cNvPr id="1545573664" name="Текст 6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203700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Специализация и грейд, на который человек претендует</a:t>
            </a:r>
          </a:p>
        </p:txBody>
      </p:sp>
      <p:sp>
        <p:nvSpPr>
          <p:cNvPr id="318754240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Тест</a:t>
            </a:r>
          </a:p>
        </p:txBody>
      </p:sp>
      <p:sp>
        <p:nvSpPr>
          <p:cNvPr id="1016344609" name="Текст 8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427015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Пробный: до 15 заданий за 5 минут. Полный: от 8 до 20 заданий, код на семи языках, включая SQL</a:t>
            </a:r>
          </a:p>
        </p:txBody>
      </p:sp>
      <p:sp>
        <p:nvSpPr>
          <p:cNvPr id="1124698148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Категория</a:t>
            </a:r>
          </a:p>
        </p:txBody>
      </p:sp>
      <p:sp>
        <p:nvSpPr>
          <p:cNvPr id="1269703707" name="Текст 10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427015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 выдаче профиль без имени. Приглашения приходят сразу с зарплатой</a:t>
            </a:r>
          </a:p>
        </p:txBody>
      </p:sp>
      <p:sp>
        <p:nvSpPr>
          <p:cNvPr id="870740660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2002158334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78892987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2720121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ПУТЬ КАНДИДАТА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83704" name="Плашка заголовка"/>
          <p:cNvSpPr/>
          <p:nvPr/>
        </p:nvSpPr>
        <p:spPr>
          <a:xfrm>
            <a:off x="347472" y="320040"/>
            <a:ext cx="5187295" cy="621792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103440" name="Скругленный прямоугольник 7"/>
          <p:cNvSpPr/>
          <p:nvPr/>
        </p:nvSpPr>
        <p:spPr bwMode="auto">
          <a:xfrm>
            <a:off x="4419477" y="1522006"/>
            <a:ext cx="3399397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231192" name="Скругленный прямоугольник 8"/>
          <p:cNvSpPr/>
          <p:nvPr/>
        </p:nvSpPr>
        <p:spPr bwMode="auto">
          <a:xfrm>
            <a:off x="8365957" y="1522006"/>
            <a:ext cx="3248506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30083700" name="Скругленный прямоугольник 9"/>
          <p:cNvSpPr/>
          <p:nvPr/>
        </p:nvSpPr>
        <p:spPr bwMode="auto">
          <a:xfrm>
            <a:off x="623888" y="1522006"/>
            <a:ext cx="3248506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3377718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0725687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651759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Сигналы честности</a:t>
            </a:r>
          </a:p>
        </p:txBody>
      </p:sp>
      <p:sp>
        <p:nvSpPr>
          <p:cNvPr id="8659802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20040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Ловят 90,0 % сессий с утечкой половины ключей при 0,7 % ложных срабатываний. Грейд не меняют, только зовут человека.</a:t>
            </a:r>
          </a:p>
        </p:txBody>
      </p:sp>
      <p:sp>
        <p:nvSpPr>
          <p:cNvPr id="120756138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651759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Верное решение</a:t>
            </a:r>
          </a:p>
        </p:txBody>
      </p:sp>
      <p:sp>
        <p:nvSpPr>
          <p:cNvPr id="68548004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20040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 9 случаях из 10 решение «сдал или не сдал» верное, если человек не на самой границе грейда.</a:t>
            </a:r>
          </a:p>
        </p:txBody>
      </p:sp>
      <p:sp>
        <p:nvSpPr>
          <p:cNvPr id="139699100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651759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Слив 20 сессий</a:t>
            </a:r>
          </a:p>
        </p:txBody>
      </p:sp>
      <p:sp>
        <p:nvSpPr>
          <p:cNvPr id="126613536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20040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Сдают тест на средний грейд, подсмотрев двадцать чужих сессий. Честно сдают 5,3 % (2400 человек, 6 зёрен): атака в пределах шума.</a:t>
            </a:r>
          </a:p>
        </p:txBody>
      </p:sp>
      <p:sp>
        <p:nvSpPr>
          <p:cNvPr id="201029104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912975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ВЫУЧЕННЫЙ ОТВЕТ НЕ ПОМОЖЕТ</a:t>
            </a:r>
          </a:p>
        </p:txBody>
      </p:sp>
      <p:sp>
        <p:nvSpPr>
          <p:cNvPr id="145724478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90 %</a:t>
            </a:r>
          </a:p>
        </p:txBody>
      </p:sp>
      <p:sp>
        <p:nvSpPr>
          <p:cNvPr id="18071873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91,7 %</a:t>
            </a:r>
          </a:p>
        </p:txBody>
      </p:sp>
      <p:sp>
        <p:nvSpPr>
          <p:cNvPr id="124543915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5,7 %</a:t>
            </a:r>
          </a:p>
        </p:txBody>
      </p:sp>
      <p:sp>
        <p:nvSpPr>
          <p:cNvPr id="2130083701" name="Вывод"/>
          <p:cNvSpPr/>
          <p:nvPr/>
        </p:nvSpPr>
        <p:spPr>
          <a:xfrm>
            <a:off x="621792" y="4983480"/>
            <a:ext cx="10991088" cy="914400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0083702" name="TextBox 2130083701"/>
          <p:cNvSpPr txBox="1"/>
          <p:nvPr/>
        </p:nvSpPr>
        <p:spPr>
          <a:xfrm>
            <a:off x="941832" y="4983480"/>
            <a:ext cx="103510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FFFFFF"/>
                </a:solidFill>
                <a:latin typeface="Arial"/>
              </a:rPr>
              <a:t>Генератор задаёт сложность, а числа каждый раз новые. Числовой ответ вводят с клавиатуры, угадать его нельзя.</a:t>
            </a:r>
          </a:p>
        </p:txBody>
      </p:sp>
      <p:sp>
        <p:nvSpPr>
          <p:cNvPr id="2130083703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Courier New"/>
              </a:rPr>
              <a:t>▸ симуляция · проверка: </a:t>
            </a:r>
            <a:r>
              <a:rPr lang="ru-RU" sz="1000" b="0">
                <a:solidFill>
                  <a:srgbClr val="6B6C75"/>
                </a:solidFill>
                <a:latin typeface="Courier New"/>
              </a:rPr>
              <a:t>cd backend &amp;&amp; python -m app.validation.assessment --n 2000 --seed 7 · python -m app.validation.assessment --stolen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83704" name="Плашка заголовка"/>
          <p:cNvSpPr/>
          <p:nvPr/>
        </p:nvSpPr>
        <p:spPr>
          <a:xfrm>
            <a:off x="347472" y="320040"/>
            <a:ext cx="5085834" cy="621792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103440" name="Скругленный прямоугольник 7"/>
          <p:cNvSpPr/>
          <p:nvPr/>
        </p:nvSpPr>
        <p:spPr bwMode="auto">
          <a:xfrm>
            <a:off x="4419477" y="1522006"/>
            <a:ext cx="3399397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231192" name="Скругленный прямоугольник 8"/>
          <p:cNvSpPr/>
          <p:nvPr/>
        </p:nvSpPr>
        <p:spPr bwMode="auto">
          <a:xfrm>
            <a:off x="8365957" y="1522006"/>
            <a:ext cx="3248506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30083700" name="Скругленный прямоугольник 9"/>
          <p:cNvSpPr/>
          <p:nvPr/>
        </p:nvSpPr>
        <p:spPr bwMode="auto">
          <a:xfrm>
            <a:off x="623888" y="1522006"/>
            <a:ext cx="3248506" cy="32004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3377718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0725687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651759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Различимость грейдов</a:t>
            </a:r>
          </a:p>
        </p:txBody>
      </p:sp>
      <p:sp>
        <p:nvSpPr>
          <p:cNvPr id="8659802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20040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Средний AUC по соседним уровням. Все четыре пары от 0,90 до 0,93, нижняя граница 95 % ДИ не ниже 0,87.</a:t>
            </a:r>
          </a:p>
        </p:txBody>
      </p:sp>
      <p:sp>
        <p:nvSpPr>
          <p:cNvPr id="120756138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651759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Согласие двух путей</a:t>
            </a:r>
          </a:p>
        </p:txBody>
      </p:sp>
      <p:sp>
        <p:nvSpPr>
          <p:cNvPr id="68548004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20040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Взвешенная каппа итогового грейда двух независимых полных путей, на всех шести зёрнах 0,85–0,86. При старом порядке шкалы 0,76.</a:t>
            </a:r>
          </a:p>
        </p:txBody>
      </p:sp>
      <p:sp>
        <p:nvSpPr>
          <p:cNvPr id="139699100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651759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Итоговый грейд</a:t>
            </a:r>
          </a:p>
        </p:txBody>
      </p:sp>
      <p:sp>
        <p:nvSpPr>
          <p:cNvPr id="126613536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20040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Итоговый грейд совпадает с настоящим или отличается не больше чем на ступень.</a:t>
            </a:r>
          </a:p>
        </p:txBody>
      </p:sp>
      <p:sp>
        <p:nvSpPr>
          <p:cNvPr id="201029104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811514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ТЕСТ ТОЧНО РАЗЛИЧАЕТ ГРЕЙДЫ</a:t>
            </a:r>
          </a:p>
        </p:txBody>
      </p:sp>
      <p:sp>
        <p:nvSpPr>
          <p:cNvPr id="145724478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0,92</a:t>
            </a:r>
          </a:p>
        </p:txBody>
      </p:sp>
      <p:sp>
        <p:nvSpPr>
          <p:cNvPr id="18071873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0,85</a:t>
            </a:r>
          </a:p>
        </p:txBody>
      </p:sp>
      <p:sp>
        <p:nvSpPr>
          <p:cNvPr id="124543915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2926080" cy="731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4000" b="1">
                <a:solidFill>
                  <a:srgbClr val="FF0053"/>
                </a:solidFill>
              </a:rPr>
              <a:t>98,9 %</a:t>
            </a:r>
          </a:p>
        </p:txBody>
      </p:sp>
      <p:sp>
        <p:nvSpPr>
          <p:cNvPr id="2130083701" name="Вывод"/>
          <p:cNvSpPr/>
          <p:nvPr/>
        </p:nvSpPr>
        <p:spPr>
          <a:xfrm>
            <a:off x="621792" y="4983480"/>
            <a:ext cx="10991088" cy="914400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0083702" name="TextBox 2130083701"/>
          <p:cNvSpPr txBox="1"/>
          <p:nvPr/>
        </p:nvSpPr>
        <p:spPr>
          <a:xfrm>
            <a:off x="941832" y="4983480"/>
            <a:ext cx="103510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FFFFFF"/>
                </a:solidFill>
                <a:latin typeface="Arial"/>
              </a:rPr>
              <a:t>Грейд ставится, только когда система уверена в нём на 75 % и больше. Если не хватило, ступень ниже доступна сразу.</a:t>
            </a:r>
          </a:p>
        </p:txBody>
      </p:sp>
      <p:sp>
        <p:nvSpPr>
          <p:cNvPr id="2130083703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Courier New"/>
              </a:rPr>
              <a:t>▸ симуляция · проверка: </a:t>
            </a:r>
            <a:r>
              <a:rPr lang="ru-RU" sz="1000" b="0">
                <a:solidFill>
                  <a:srgbClr val="6B6C75"/>
                </a:solidFill>
                <a:latin typeface="Courier New"/>
              </a:rPr>
              <a:t>cd backend &amp;&amp; python -m app.validation.assessment --n 2000 --seed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240953" name="Скругленный прямоугольник 1"/>
          <p:cNvSpPr/>
          <p:nvPr/>
        </p:nvSpPr>
        <p:spPr bwMode="auto">
          <a:xfrm>
            <a:off x="347472" y="320040"/>
            <a:ext cx="4483338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614527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980264515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Меньше заданий, выше точность</a:t>
            </a:r>
          </a:p>
        </p:txBody>
      </p:sp>
      <p:sp>
        <p:nvSpPr>
          <p:cNvPr id="195087756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9595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В среднем 14 заданий, и точнее линейной формы из 20.</a:t>
            </a:r>
          </a:p>
        </p:txBody>
      </p:sp>
      <p:sp>
        <p:nvSpPr>
          <p:cNvPr id="2114268552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Разница значима</a:t>
            </a:r>
          </a:p>
        </p:txBody>
      </p:sp>
      <p:sp>
        <p:nvSpPr>
          <p:cNvPr id="1650018393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3064513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+17 п. п. к линейной форме из 14 заданий, 95 % ДИ от +14,3 до +20,6.</a:t>
            </a:r>
          </a:p>
        </p:txBody>
      </p:sp>
      <p:sp>
        <p:nvSpPr>
          <p:cNvPr id="935789261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Одни и те же люди</a:t>
            </a:r>
          </a:p>
        </p:txBody>
      </p:sp>
      <p:sp>
        <p:nvSpPr>
          <p:cNvPr id="648449656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33307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Те же 2000 смоделированных кандидатов и та же скрытая правда, парный бутстреп.</a:t>
            </a:r>
          </a:p>
        </p:txBody>
      </p:sp>
      <p:sp>
        <p:nvSpPr>
          <p:cNvPr id="360402741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Почему так</a:t>
            </a:r>
          </a:p>
        </p:txBody>
      </p:sp>
      <p:sp>
        <p:nvSpPr>
          <p:cNvPr id="1462066786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601636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Тест берёт задания у границы грейда, где каждое даёт больше всего информации.</a:t>
            </a:r>
          </a:p>
        </p:txBody>
      </p:sp>
      <p:sp>
        <p:nvSpPr>
          <p:cNvPr id="544683013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209018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АДАПТИВНОСТЬ ОКУПАЕТСЯ</a:t>
            </a:r>
          </a:p>
        </p:txBody>
      </p:sp>
      <p:graphicFrame>
        <p:nvGraphicFramePr>
          <p:cNvPr id="2114268553" name="Chart 2114268552"/>
          <p:cNvGraphicFramePr>
            <a:graphicFrameLocks noGrp="1"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14268554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Courier New"/>
              </a:rPr>
              <a:t>▸ симуляция · проверка: </a:t>
            </a:r>
            <a:r>
              <a:rPr lang="ru-RU" sz="1000" b="0">
                <a:solidFill>
                  <a:srgbClr val="6B6C75"/>
                </a:solidFill>
                <a:latin typeface="Courier New"/>
              </a:rPr>
              <a:t>cd backend &amp;&amp; python -m app.validation.cat_baselines --n 2000 --seed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69274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39103392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17501900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02059417" name="Скругленный прямоугольник 1"/>
          <p:cNvSpPr/>
          <p:nvPr/>
        </p:nvSpPr>
        <p:spPr bwMode="auto">
          <a:xfrm>
            <a:off x="347472" y="320040"/>
            <a:ext cx="3676669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5461223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14</a:t>
            </a:fld>
            <a:endParaRPr lang="ru-RU"/>
          </a:p>
        </p:txBody>
      </p:sp>
      <p:sp>
        <p:nvSpPr>
          <p:cNvPr id="1990425147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Понятная формула</a:t>
            </a:r>
          </a:p>
        </p:txBody>
      </p:sp>
      <p:sp>
        <p:nvSpPr>
          <p:cNvPr id="801861329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Навыки 0,45, грейд 0,30, роль 0,25, описание, отрасль и условия по 0,05. Тест и ФСП добавляются с весом 0,3.</a:t>
            </a:r>
          </a:p>
        </p:txBody>
      </p:sp>
      <p:sp>
        <p:nvSpPr>
          <p:cNvPr id="181842631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Каждое место объяснено</a:t>
            </a:r>
          </a:p>
        </p:txBody>
      </p:sp>
      <p:sp>
        <p:nvSpPr>
          <p:cNvPr id="91018296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По каждому фактору виден плюс или минус и «лучше N % кандидатов категории». Имя, пол и возраст не влияют.</a:t>
            </a:r>
          </a:p>
        </p:txBody>
      </p:sp>
      <p:sp>
        <p:nvSpPr>
          <p:cNvPr id="101239197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500" b="1">
                <a:solidFill>
                  <a:srgbClr val="520978"/>
                </a:solidFill>
              </a:rPr>
              <a:t>Слепая разметка 200 пар</a:t>
            </a:r>
          </a:p>
        </p:txBody>
      </p:sp>
      <p:sp>
        <p:nvSpPr>
          <p:cNvPr id="96373977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Два независимых автоматических оценщика. nDCG@10 0,928 (95 % ДИ 0,895–0,957) против 0,866 у поиска по резюме. MAP 0,904 против 0,746.</a:t>
            </a:r>
          </a:p>
        </p:txBody>
      </p:sp>
      <p:sp>
        <p:nvSpPr>
          <p:cNvPr id="211663325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40234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В ТОПЕ ТЕ, КТО НУЖЕН</a:t>
            </a:r>
          </a:p>
        </p:txBody>
      </p:sp>
      <p:graphicFrame>
        <p:nvGraphicFramePr>
          <p:cNvPr id="2116633260" name="Chart 2116633259"/>
          <p:cNvGraphicFramePr>
            <a:graphicFrameLocks noGrp="1"/>
          </p:cNvGraphicFramePr>
          <p:nvPr/>
        </p:nvGraphicFramePr>
        <p:xfrm>
          <a:off x="346075" y="1424510"/>
          <a:ext cx="574992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16633261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C9C3F0"/>
                </a:solidFill>
                <a:latin typeface="Courier New"/>
              </a:rPr>
              <a:t>▸ симуляция · проверка: </a:t>
            </a:r>
            <a:r>
              <a:rPr lang="ru-RU" sz="1000" b="0">
                <a:solidFill>
                  <a:srgbClr val="C9C3F0"/>
                </a:solidFill>
                <a:latin typeface="Courier New"/>
              </a:rPr>
              <a:t>cd backend &amp;&amp; python -m app.validation.matching</a:t>
            </a:r>
          </a:p>
        </p:txBody>
      </p:sp>
      <p:sp>
        <p:nvSpPr>
          <p:cNvPr id="2116633262" name="Протоколы"/>
          <p:cNvSpPr txBox="1"/>
          <p:nvPr/>
        </p:nvSpPr>
        <p:spPr>
          <a:xfrm>
            <a:off x="530352" y="544068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50" b="0">
                <a:solidFill>
                  <a:srgbClr val="FFD6E4"/>
                </a:solidFill>
                <a:latin typeface="Arial"/>
              </a:rPr>
              <a:t>По протоколам опубликованных методов: nDCG@10 0,621 и 0,684; поиск BM25 на той же разметке 0,399</a:t>
            </a:r>
          </a:p>
          <a:p>
            <a:pPr algn="l">
              <a:spcAft>
                <a:spcPts val="400"/>
              </a:spcAft>
            </a:pPr>
            <a:r>
              <a:rPr lang="ru-RU" sz="1050" b="0">
                <a:solidFill>
                  <a:srgbClr val="FFD6E4"/>
                </a:solidFill>
                <a:latin typeface="Arial"/>
              </a:rPr>
              <a:t>На сопоставимых данных: внешний открытый набор 0,835 [0,802–0,864]; наши данные без шума 0,863 (строгий) и 0,936 (протокол 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170299" name="Скругленный прямоугольник 1"/>
          <p:cNvSpPr/>
          <p:nvPr/>
        </p:nvSpPr>
        <p:spPr bwMode="auto">
          <a:xfrm>
            <a:off x="347472" y="320040"/>
            <a:ext cx="3406437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23353889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7310069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13089988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35439305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65116116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4433313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4534698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buNone/>
              <a:defRPr/>
            </a:pPr>
            <a:r>
              <a:rPr lang="ru-RU" sz="2000" b="1">
                <a:solidFill>
                  <a:srgbClr val="520978"/>
                </a:solidFill>
              </a:rPr>
              <a:t>Каждую цифру можно воспроизвести</a:t>
            </a:r>
          </a:p>
          <a:p>
            <a:pPr marL="0" indent="0" algn="l">
              <a:buNone/>
              <a:defRPr/>
            </a:pPr>
            <a:r>
              <a:rPr lang="ru-RU" sz="1400" b="0">
                <a:solidFill>
                  <a:srgbClr val="1C1D22"/>
                </a:solidFill>
              </a:rPr>
              <a:t>Выборки с фиксированным зерном и команды проверки лежат в README. Тесты сверяют опубликованные числа с выводом кода.</a:t>
            </a:r>
          </a:p>
          <a:p>
            <a:pPr marL="0" indent="0" algn="l">
              <a:buNone/>
              <a:defRPr/>
            </a:pPr>
            <a:r>
              <a:rPr lang="ru-RU" sz="1400" b="0">
                <a:solidFill>
                  <a:srgbClr val="1C1D22"/>
                </a:solidFill>
              </a:rPr>
              <a:t>Порог успеха пилота записан до его начала: если согласие теста с экспертами ниже 0,60, пороги грейдов не публикуем.</a:t>
            </a:r>
          </a:p>
          <a:p>
            <a:pPr marL="0" indent="0" algn="l">
              <a:buNone/>
              <a:defRPr/>
            </a:pPr>
            <a:r>
              <a:rPr lang="ru-RU" sz="1400" b="0">
                <a:solidFill>
                  <a:srgbClr val="1C1D22"/>
                </a:solidFill>
              </a:rPr>
              <a:t>По итогам проверок мы меняли продукт. Так ФСП стала только поднимать кандидата, а участия без призовых мест перестали давать баллы.</a:t>
            </a:r>
          </a:p>
        </p:txBody>
      </p:sp>
      <p:sp>
        <p:nvSpPr>
          <p:cNvPr id="33748750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Скрытая правда: 2000 смоделированных кандидатов, настоящий грейд известен заранее</a:t>
            </a:r>
          </a:p>
        </p:txBody>
      </p:sp>
      <p:sp>
        <p:nvSpPr>
          <p:cNvPr id="335737264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Отложенные выборки: пять зёрен, которые не участвовали в настройке</a:t>
            </a:r>
          </a:p>
        </p:txBody>
      </p:sp>
      <p:sp>
        <p:nvSpPr>
          <p:cNvPr id="768172420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Доверительные интервалы 95 %: бутстрап, 1000 повторов</a:t>
            </a:r>
          </a:p>
        </p:txBody>
      </p:sp>
      <p:sp>
        <p:nvSpPr>
          <p:cNvPr id="465562956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Абляции: убираем тест, ФСП или веса доверия и смотрим, что меняется</a:t>
            </a:r>
          </a:p>
        </p:txBody>
      </p:sp>
      <p:sp>
        <p:nvSpPr>
          <p:cNvPr id="230220049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Слепая разметка 200 пар двумя независимыми автоматическими оценщиками, согласие κw 0,974</a:t>
            </a:r>
          </a:p>
        </p:txBody>
      </p:sp>
      <p:sp>
        <p:nvSpPr>
          <p:cNvPr id="1094740302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32735438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132117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КАК МЫ ПРОВЕРЯЕМ</a:t>
            </a:r>
          </a:p>
        </p:txBody>
      </p:sp>
      <p:sp>
        <p:nvSpPr>
          <p:cNvPr id="2023353890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8A83D1"/>
                </a:solidFill>
                <a:latin typeface="Arial"/>
              </a:rPr>
              <a:t>01 · ВАЛИДАЦИЯ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685169" name="Скругленный прямоугольник 1"/>
          <p:cNvSpPr/>
          <p:nvPr/>
        </p:nvSpPr>
        <p:spPr bwMode="auto">
          <a:xfrm>
            <a:off x="347472" y="320040"/>
            <a:ext cx="3349486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590100637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89-124-65-102.sslip.io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Arial"/>
              </a:endParaRPr>
            </a:p>
          </p:txBody>
        </p:sp>
      </p:grpSp>
      <p:grpSp>
        <p:nvGrpSpPr>
          <p:cNvPr id="2120757639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Arial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Arial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89-124-65-102.sslip.io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Arial"/>
              </a:endParaRPr>
            </a:p>
          </p:txBody>
        </p:sp>
      </p:grpSp>
      <p:sp>
        <p:nvSpPr>
          <p:cNvPr id="52311738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7400537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Подборка работодателя</a:t>
            </a:r>
          </a:p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Полосы факторов и блок «Почему в выдаче»: видно, сколько дали тест и победы ФСП.</a:t>
            </a:r>
          </a:p>
        </p:txBody>
      </p:sp>
      <p:sp>
        <p:nvSpPr>
          <p:cNvPr id="125707664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Приглашения кандидата</a:t>
            </a:r>
          </a:p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Компания и зарплата видны сразу. Имя и контакты кандидат открывает кнопкой «Принять».</a:t>
            </a:r>
          </a:p>
        </p:txBody>
      </p:sp>
      <p:pic>
        <p:nvPicPr>
          <p:cNvPr id="1862273337" name="Рисунок 4" descr="pitch-card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b="11338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234103387" name="Рисунок 5" descr="pitch-offers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b="11338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133526499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075166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ЭКРАНЫ СО СТЕНДА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240953" name="Скругленный прямоугольник 1"/>
          <p:cNvSpPr/>
          <p:nvPr/>
        </p:nvSpPr>
        <p:spPr bwMode="auto">
          <a:xfrm>
            <a:off x="347472" y="320040"/>
            <a:ext cx="5424983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614527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980264515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Только вверх</a:t>
            </a:r>
          </a:p>
        </p:txBody>
      </p:sp>
      <p:sp>
        <p:nvSpPr>
          <p:cNvPr id="195087756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9595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Сильный протокол поднимает кандидата внутри категории и никогда не тянет вниз.</a:t>
            </a:r>
          </a:p>
        </p:txBody>
      </p:sp>
      <p:sp>
        <p:nvSpPr>
          <p:cNvPr id="2114268552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Без ФСП тоже на равных</a:t>
            </a:r>
          </a:p>
        </p:txBody>
      </p:sp>
      <p:sp>
        <p:nvSpPr>
          <p:cNvPr id="1650018393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3064513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Если истории соревнований нет, человек остаётся в выдаче на равных.</a:t>
            </a:r>
          </a:p>
        </p:txBody>
      </p:sp>
      <p:sp>
        <p:nvSpPr>
          <p:cNvPr id="935789261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Важны места</a:t>
            </a:r>
          </a:p>
        </p:txBody>
      </p:sp>
      <p:sp>
        <p:nvSpPr>
          <p:cNvPr id="648449656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33307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Две победы дают 0,54. Сорок онлайн-участий без призов весят как пустая история.</a:t>
            </a:r>
          </a:p>
        </p:txBody>
      </p:sp>
      <p:sp>
        <p:nvSpPr>
          <p:cNvPr id="360402741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Профильное весомее</a:t>
            </a:r>
          </a:p>
        </p:txBody>
      </p:sp>
      <p:sp>
        <p:nvSpPr>
          <p:cNvPr id="1462066786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601636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Профильная дисциплина весит вдвое больше прочих. Разряд берём из реестра.</a:t>
            </a:r>
          </a:p>
        </p:txBody>
      </p:sp>
      <p:sp>
        <p:nvSpPr>
          <p:cNvPr id="544683013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5150663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ПОБЕДЫ ФСП ТОЛЬКО ПОДНИМАЮТ</a:t>
            </a:r>
          </a:p>
        </p:txBody>
      </p:sp>
      <p:graphicFrame>
        <p:nvGraphicFramePr>
          <p:cNvPr id="2114268553" name="Chart 2114268552"/>
          <p:cNvGraphicFramePr>
            <a:graphicFrameLocks noGrp="1"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14268554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6B6C75"/>
                </a:solidFill>
                <a:latin typeface="Courier New"/>
              </a:rPr>
              <a:t>▸ симуляция · проверка: </a:t>
            </a:r>
            <a:r>
              <a:rPr lang="ru-RU" sz="1000" b="0">
                <a:solidFill>
                  <a:srgbClr val="6B6C75"/>
                </a:solidFill>
                <a:latin typeface="Courier New"/>
              </a:rPr>
              <a:t>cd backend &amp;&amp; python -m app.validation.fsp_axis --seeds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170299" name="Скругленный прямоугольник 1"/>
          <p:cNvSpPr/>
          <p:nvPr/>
        </p:nvSpPr>
        <p:spPr bwMode="auto">
          <a:xfrm>
            <a:off x="347472" y="320040"/>
            <a:ext cx="4323179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23353889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7310069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13089988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35439305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65116116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4433313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4534698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buNone/>
              <a:defRPr/>
            </a:pPr>
            <a:r>
              <a:rPr lang="ru-RU" sz="2000" b="1">
                <a:solidFill>
                  <a:srgbClr val="520978"/>
                </a:solidFill>
              </a:rPr>
              <a:t>Работодатель пишет первым и сразу называет зарплату</a:t>
            </a:r>
          </a:p>
          <a:p>
            <a:pPr marL="0" indent="0" algn="l">
              <a:buNone/>
              <a:defRPr/>
            </a:pPr>
            <a:r>
              <a:rPr lang="ru-RU" sz="1400" b="0">
                <a:solidFill>
                  <a:srgbClr val="1C1D22"/>
                </a:solidFill>
              </a:rPr>
              <a:t>До ответа кандидат видит компанию, вакансию и вилку. Работодатель видит категорию и подтверждения, но не имя.</a:t>
            </a:r>
          </a:p>
          <a:p>
            <a:pPr marL="0" indent="0" algn="l">
              <a:buNone/>
              <a:defRPr/>
            </a:pPr>
            <a:r>
              <a:rPr lang="ru-RU" sz="1400" b="0">
                <a:solidFill>
                  <a:srgbClr val="1C1D22"/>
                </a:solidFill>
              </a:rPr>
              <a:t>Имя и контакты открываются, только когда кандидат нажал «Принять» или сам откликнулся. Решение о найме всегда принимает человек.</a:t>
            </a:r>
          </a:p>
        </p:txBody>
      </p:sp>
      <p:sp>
        <p:nvSpPr>
          <p:cNvPr id="33748750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Контакты всех пользователей зашифрованы (AES-256-GCM), просмотры в журнале</a:t>
            </a:r>
          </a:p>
        </p:txBody>
      </p:sp>
      <p:sp>
        <p:nvSpPr>
          <p:cNvPr id="335737264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Вилка обязательна: до вычета НДФЛ, не ниже МРОТ 2026 (27 093 ₽)</a:t>
            </a:r>
          </a:p>
        </p:txBody>
      </p:sp>
      <p:sp>
        <p:nvSpPr>
          <p:cNvPr id="768172420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10 приглашений в сутки, после проверки ИНН или домена до 50</a:t>
            </a:r>
          </a:p>
        </p:txBody>
      </p:sp>
      <p:sp>
        <p:nvSpPr>
          <p:cNvPr id="465562956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Отдельные согласия по 152-ФЗ, именная страница только с 18 лет</a:t>
            </a:r>
          </a:p>
        </p:txBody>
      </p:sp>
      <p:sp>
        <p:nvSpPr>
          <p:cNvPr id="230220049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 15 лет только через согласие законного представителя</a:t>
            </a:r>
          </a:p>
        </p:txBody>
      </p:sp>
      <p:sp>
        <p:nvSpPr>
          <p:cNvPr id="1094740302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32735438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04885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КОНТАКТ ПОСЛЕ СОГЛАСИЯ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235861" name="Скругленный прямоугольник 22"/>
          <p:cNvSpPr/>
          <p:nvPr/>
        </p:nvSpPr>
        <p:spPr bwMode="auto">
          <a:xfrm>
            <a:off x="347472" y="320040"/>
            <a:ext cx="3912691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4307696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357839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Вакансии и отклики</a:t>
            </a:r>
          </a:p>
        </p:txBody>
      </p:sp>
      <p:sp>
        <p:nvSpPr>
          <p:cNvPr id="133554182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Кандидат без приглашений может проявить инициативу сам</a:t>
            </a:r>
          </a:p>
        </p:txBody>
      </p:sp>
      <p:sp>
        <p:nvSpPr>
          <p:cNvPr id="37686000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Задания от компаний</a:t>
            </a:r>
          </a:p>
        </p:txBody>
      </p:sp>
      <p:sp>
        <p:nvSpPr>
          <p:cNvPr id="175818725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Короткие задачи и «задача недели» с оценкой работодателя</a:t>
            </a:r>
          </a:p>
        </p:txBody>
      </p:sp>
      <p:sp>
        <p:nvSpPr>
          <p:cNvPr id="195114146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Код в песочнице</a:t>
            </a:r>
          </a:p>
        </p:txBody>
      </p:sp>
      <p:sp>
        <p:nvSpPr>
          <p:cNvPr id="139299174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Python, JavaScript и SQL в отдельном контейнере без сети</a:t>
            </a:r>
          </a:p>
        </p:txBody>
      </p:sp>
      <p:sp>
        <p:nvSpPr>
          <p:cNvPr id="107438887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Защита от фейков</a:t>
            </a:r>
          </a:p>
        </p:txBody>
      </p:sp>
      <p:sp>
        <p:nvSpPr>
          <p:cNvPr id="53609738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Проверка ИНН, жалоба с паузой компании, лимит приглашений</a:t>
            </a:r>
          </a:p>
        </p:txBody>
      </p:sp>
      <p:sp>
        <p:nvSpPr>
          <p:cNvPr id="1426414635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Паспорт навыков</a:t>
            </a:r>
          </a:p>
        </p:txBody>
      </p:sp>
      <p:sp>
        <p:nvSpPr>
          <p:cNvPr id="1824928307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Ссылка и QR-код с подтверждённым грейдом и протоколами ФСП</a:t>
            </a:r>
          </a:p>
        </p:txBody>
      </p:sp>
      <p:sp>
        <p:nvSpPr>
          <p:cNvPr id="1127017889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ATS и собеседования</a:t>
            </a:r>
          </a:p>
        </p:txBody>
      </p:sp>
      <p:sp>
        <p:nvSpPr>
          <p:cNvPr id="801514199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Выгрузка в ATS через вебхуки, запись на собеседование по слотам</a:t>
            </a:r>
          </a:p>
        </p:txBody>
      </p:sp>
      <p:sp>
        <p:nvSpPr>
          <p:cNvPr id="179556831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638371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СВЕРХ ОБЯЗАТЕЛЬНОГО</a:t>
            </a:r>
          </a:p>
        </p:txBody>
      </p:sp>
      <p:sp>
        <p:nvSpPr>
          <p:cNvPr id="21668749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7875293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68758571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46040874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74791226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1846661691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1951141462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8A83D1"/>
                </a:solidFill>
                <a:latin typeface="Arial"/>
              </a:rPr>
              <a:t>01 · ДОПОЛНИТЕЛЬНЫЙ ФУНКЦИОНАЛ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033949" name="Скругленный прямоугольник 11"/>
          <p:cNvSpPr/>
          <p:nvPr/>
        </p:nvSpPr>
        <p:spPr bwMode="auto"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82246706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18969020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44716804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0447060" name="Скругленный прямоугольник 9"/>
          <p:cNvSpPr/>
          <p:nvPr/>
        </p:nvSpPr>
        <p:spPr bwMode="auto">
          <a:xfrm>
            <a:off x="347472" y="320040"/>
            <a:ext cx="4363620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6288309" name="Рисунок 1" descr="base-candidate-390-dark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b="2090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662340554" name="Рисунок 2" descr="base-menu-390-dark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b="2090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1096836554" name="Рисунок 3" descr="candidate-test-390.pn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b="2090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1533596577" name="Рисунок 4" descr="employer-search-390.pn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b="44910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14395672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20</a:t>
            </a:fld>
            <a:endParaRPr lang="ru-RU"/>
          </a:p>
        </p:txBody>
      </p:sp>
      <p:sp>
        <p:nvSpPr>
          <p:cNvPr id="24052349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Кабинет кандидата</a:t>
            </a:r>
          </a:p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Категория и готовность профиля, тёмная тема</a:t>
            </a:r>
          </a:p>
        </p:txBody>
      </p:sp>
      <p:sp>
        <p:nvSpPr>
          <p:cNvPr id="218215703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Меню</a:t>
            </a:r>
          </a:p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Все разделы открываются одним касанием</a:t>
            </a:r>
          </a:p>
        </p:txBody>
      </p:sp>
      <p:sp>
        <p:nvSpPr>
          <p:cNvPr id="2067559137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Тест</a:t>
            </a:r>
          </a:p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Числовой ответ вводится с экранной клавиатуры</a:t>
            </a:r>
          </a:p>
        </p:txBody>
      </p:sp>
      <p:sp>
        <p:nvSpPr>
          <p:cNvPr id="108324873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Поиск работодателя</a:t>
            </a:r>
          </a:p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Подборка и фильтры на узком экране</a:t>
            </a:r>
          </a:p>
        </p:txBody>
      </p:sp>
      <p:grpSp>
        <p:nvGrpSpPr>
          <p:cNvPr id="506442643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218599789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652888981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966804164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605595292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089300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С ТЕЛЕФОНА ТОЖЕ УДОБНО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50618" name="Скругленный прямоугольник 9"/>
          <p:cNvSpPr/>
          <p:nvPr/>
        </p:nvSpPr>
        <p:spPr bwMode="auto">
          <a:xfrm>
            <a:off x="347472" y="320040"/>
            <a:ext cx="3028255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40927953" name="Скругленный прямоугольник 22"/>
          <p:cNvSpPr/>
          <p:nvPr/>
        </p:nvSpPr>
        <p:spPr bwMode="auto">
          <a:xfrm>
            <a:off x="3288425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4441699" name="Скругленный прямоугольник 23"/>
          <p:cNvSpPr/>
          <p:nvPr/>
        </p:nvSpPr>
        <p:spPr bwMode="auto">
          <a:xfrm>
            <a:off x="6230774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5827162" name="Скругленный прямоугольник 24"/>
          <p:cNvSpPr/>
          <p:nvPr/>
        </p:nvSpPr>
        <p:spPr bwMode="auto">
          <a:xfrm>
            <a:off x="9173123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1171314" name="Скругленный прямоугольник 26"/>
          <p:cNvSpPr/>
          <p:nvPr/>
        </p:nvSpPr>
        <p:spPr bwMode="auto">
          <a:xfrm>
            <a:off x="346076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926741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4797211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423159"/>
            <a:ext cx="2284071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Подтверждённый грейд вместо резюме</a:t>
            </a:r>
          </a:p>
        </p:txBody>
      </p:sp>
      <p:sp>
        <p:nvSpPr>
          <p:cNvPr id="25581840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2918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Участники ФСП, студенты ИТ-вузов и разработчики любого грейда. Приглашения приходят с зарплатой.</a:t>
            </a:r>
          </a:p>
        </p:txBody>
      </p:sp>
      <p:sp>
        <p:nvSpPr>
          <p:cNvPr id="129364344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423159"/>
            <a:ext cx="2337416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Нужные люди без разбора откликов</a:t>
            </a:r>
          </a:p>
        </p:txBody>
      </p:sp>
      <p:sp>
        <p:nvSpPr>
          <p:cNvPr id="246762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291839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ИТ-компании и ИТ-отделы. Короткая подборка с объяснением и приглашение прямо из карточки.</a:t>
            </a:r>
          </a:p>
        </p:txBody>
      </p:sp>
      <p:sp>
        <p:nvSpPr>
          <p:cNvPr id="13699795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423159"/>
            <a:ext cx="2268537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Карьерная ценность соревнований</a:t>
            </a:r>
          </a:p>
        </p:txBody>
      </p:sp>
      <p:sp>
        <p:nvSpPr>
          <p:cNvPr id="178215100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291840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Победа на соревновании становится строкой в профиле, которую видит работодатель.</a:t>
            </a:r>
          </a:p>
        </p:txBody>
      </p:sp>
      <p:sp>
        <p:nvSpPr>
          <p:cNvPr id="183667140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423159"/>
            <a:ext cx="2263553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Где берём пользователей</a:t>
            </a:r>
          </a:p>
        </p:txBody>
      </p:sp>
      <p:sp>
        <p:nvSpPr>
          <p:cNvPr id="123244517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291840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Соревнования и сообщество ФСП, вход через ФСП ID, вузы и партнёры Федерации.</a:t>
            </a:r>
          </a:p>
        </p:txBody>
      </p:sp>
      <p:sp>
        <p:nvSpPr>
          <p:cNvPr id="1221947720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2753935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КОМУ ЭТО НУЖНО</a:t>
            </a:r>
          </a:p>
        </p:txBody>
      </p:sp>
      <p:sp>
        <p:nvSpPr>
          <p:cNvPr id="1559471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FF0053"/>
                </a:solidFill>
              </a:rPr>
              <a:t>Кандидат</a:t>
            </a:r>
          </a:p>
        </p:txBody>
      </p:sp>
      <p:sp>
        <p:nvSpPr>
          <p:cNvPr id="72243754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FF0053"/>
                </a:solidFill>
              </a:rPr>
              <a:t>Работодатель</a:t>
            </a:r>
          </a:p>
        </p:txBody>
      </p:sp>
      <p:sp>
        <p:nvSpPr>
          <p:cNvPr id="148014629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FF0053"/>
                </a:solidFill>
              </a:rPr>
              <a:t>Федерация</a:t>
            </a:r>
          </a:p>
        </p:txBody>
      </p:sp>
      <p:sp>
        <p:nvSpPr>
          <p:cNvPr id="13301233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FF0053"/>
                </a:solidFill>
              </a:rPr>
              <a:t>Каналы</a:t>
            </a:r>
          </a:p>
        </p:txBody>
      </p:sp>
      <p:sp>
        <p:nvSpPr>
          <p:cNvPr id="2140927954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02 · МАРКЕТИНГОВАЯ ЧАСТЬ</a:t>
            </a:r>
          </a:p>
        </p:txBody>
      </p:sp>
      <p:sp>
        <p:nvSpPr>
          <p:cNvPr id="2140927955" name="Вывод"/>
          <p:cNvSpPr/>
          <p:nvPr/>
        </p:nvSpPr>
        <p:spPr>
          <a:xfrm>
            <a:off x="347472" y="5029200"/>
            <a:ext cx="11494008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0927956" name="TextBox 2140927955"/>
          <p:cNvSpPr txBox="1"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  <a:latin typeface="Arial"/>
              </a:rPr>
              <a:t>Канал привлечения уже есть. Участник входит через ФСП ID и приносит с собой результаты соревнований.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50618" name="Скругленный прямоугольник 9"/>
          <p:cNvSpPr/>
          <p:nvPr/>
        </p:nvSpPr>
        <p:spPr bwMode="auto">
          <a:xfrm>
            <a:off x="347472" y="320040"/>
            <a:ext cx="4553009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40927953" name="Скругленный прямоугольник 22"/>
          <p:cNvSpPr/>
          <p:nvPr/>
        </p:nvSpPr>
        <p:spPr bwMode="auto">
          <a:xfrm>
            <a:off x="3288425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4441699" name="Скругленный прямоугольник 23"/>
          <p:cNvSpPr/>
          <p:nvPr/>
        </p:nvSpPr>
        <p:spPr bwMode="auto">
          <a:xfrm>
            <a:off x="6230774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5827162" name="Скругленный прямоугольник 24"/>
          <p:cNvSpPr/>
          <p:nvPr/>
        </p:nvSpPr>
        <p:spPr bwMode="auto">
          <a:xfrm>
            <a:off x="9173123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1171314" name="Скругленный прямоугольник 26"/>
          <p:cNvSpPr/>
          <p:nvPr/>
        </p:nvSpPr>
        <p:spPr bwMode="auto">
          <a:xfrm>
            <a:off x="346076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926741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4797211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423159"/>
            <a:ext cx="2284071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больше подходящих в десятке (P@10)</a:t>
            </a:r>
          </a:p>
        </p:txBody>
      </p:sp>
      <p:sp>
        <p:nvSpPr>
          <p:cNvPr id="25581840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2918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0,632 против 0,559 у поиска по резюме.</a:t>
            </a:r>
          </a:p>
        </p:txBody>
      </p:sp>
      <p:sp>
        <p:nvSpPr>
          <p:cNvPr id="129364344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423159"/>
            <a:ext cx="2337416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кандидатов слабее нужного грейда</a:t>
            </a:r>
          </a:p>
        </p:txBody>
      </p:sp>
      <p:sp>
        <p:nvSpPr>
          <p:cNvPr id="246762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291839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13,6 % против 30,9 % в первой десятке.</a:t>
            </a:r>
          </a:p>
        </p:txBody>
      </p:sp>
      <p:sp>
        <p:nvSpPr>
          <p:cNvPr id="13699795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423159"/>
            <a:ext cx="2268537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завысивших грейд в десятке</a:t>
            </a:r>
          </a:p>
        </p:txBody>
      </p:sp>
      <p:sp>
        <p:nvSpPr>
          <p:cNvPr id="178215100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291840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22,1 % против 28,1 % у поиска по резюме.</a:t>
            </a:r>
          </a:p>
        </p:txBody>
      </p:sp>
      <p:sp>
        <p:nvSpPr>
          <p:cNvPr id="183667140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423159"/>
            <a:ext cx="2263553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поиск под нагрузкой</a:t>
            </a:r>
          </a:p>
        </p:txBody>
      </p:sp>
      <p:sp>
        <p:nvSpPr>
          <p:cNvPr id="123244517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291840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Время для 95 % запросов, 40 пользователей одновременно.</a:t>
            </a:r>
          </a:p>
        </p:txBody>
      </p:sp>
      <p:sp>
        <p:nvSpPr>
          <p:cNvPr id="1221947720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27868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ЭФФЕКТ ДЛЯ РАБОТОДАТЕЛЯ</a:t>
            </a:r>
          </a:p>
        </p:txBody>
      </p:sp>
      <p:sp>
        <p:nvSpPr>
          <p:cNvPr id="1559471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+13 %</a:t>
            </a:r>
          </a:p>
        </p:txBody>
      </p:sp>
      <p:sp>
        <p:nvSpPr>
          <p:cNvPr id="72243754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−56 %</a:t>
            </a:r>
          </a:p>
        </p:txBody>
      </p:sp>
      <p:sp>
        <p:nvSpPr>
          <p:cNvPr id="148014629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−21 %</a:t>
            </a:r>
          </a:p>
        </p:txBody>
      </p:sp>
      <p:sp>
        <p:nvSpPr>
          <p:cNvPr id="13301233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69 мс</a:t>
            </a:r>
          </a:p>
        </p:txBody>
      </p:sp>
      <p:sp>
        <p:nvSpPr>
          <p:cNvPr id="2140927954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03 · БИЗНЕСОВАЯ СОСТАВЛЯЮЩАЯ</a:t>
            </a:r>
          </a:p>
        </p:txBody>
      </p:sp>
      <p:sp>
        <p:nvSpPr>
          <p:cNvPr id="2140927955" name="Вывод"/>
          <p:cNvSpPr/>
          <p:nvPr/>
        </p:nvSpPr>
        <p:spPr>
          <a:xfrm>
            <a:off x="347472" y="5029200"/>
            <a:ext cx="11494008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0927956" name="TextBox 2140927955"/>
          <p:cNvSpPr txBox="1"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  <a:latin typeface="Arial"/>
              </a:rPr>
              <a:t>Кандидатам бесплатно всегда. Компании платят подписку по уровню доверия, выгрузка в ATS входит в старшие тарифы. Контакты не продаём.</a:t>
            </a:r>
          </a:p>
        </p:txBody>
      </p:sp>
      <p:sp>
        <p:nvSpPr>
          <p:cNvPr id="2140927957" name="Симуляция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0">
                <a:solidFill>
                  <a:srgbClr val="C9C3F0"/>
                </a:solidFill>
                <a:latin typeface="Arial"/>
              </a:rPr>
              <a:t>Метрики теста и подбора посчитаны на смоделированных кандидатах со скрытой правдой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883608" name="Плашка заголовка"/>
          <p:cNvSpPr/>
          <p:nvPr/>
        </p:nvSpPr>
        <p:spPr>
          <a:xfrm>
            <a:off x="347472" y="320040"/>
            <a:ext cx="3095307" cy="62179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688805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3088357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932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2820987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ГОТОВО К ПИЛОТУ</a:t>
            </a:r>
          </a:p>
        </p:txBody>
      </p:sp>
      <p:sp>
        <p:nvSpPr>
          <p:cNvPr id="1230883580" name="TextBox 1230883579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04 · ТЕХНИЧЕСКАЯ ПРОРАБОТКА</a:t>
            </a:r>
          </a:p>
        </p:txBody>
      </p:sp>
      <p:sp>
        <p:nvSpPr>
          <p:cNvPr id="1230883581" name="Rounded Rectangle 1230883580"/>
          <p:cNvSpPr/>
          <p:nvPr/>
        </p:nvSpPr>
        <p:spPr>
          <a:xfrm>
            <a:off x="640080" y="160020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82" name="TextBox 1230883581"/>
          <p:cNvSpPr txBox="1"/>
          <p:nvPr/>
        </p:nvSpPr>
        <p:spPr>
          <a:xfrm>
            <a:off x="777240" y="1691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Браузер</a:t>
            </a:r>
          </a:p>
        </p:txBody>
      </p:sp>
      <p:sp>
        <p:nvSpPr>
          <p:cNvPr id="1230883583" name="TextBox 1230883582"/>
          <p:cNvSpPr txBox="1"/>
          <p:nvPr/>
        </p:nvSpPr>
        <p:spPr>
          <a:xfrm>
            <a:off x="777240" y="203911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React и TypeScript, дизайн по брендбуку ФСП, экраны от 390 px</a:t>
            </a:r>
          </a:p>
        </p:txBody>
      </p:sp>
      <p:sp>
        <p:nvSpPr>
          <p:cNvPr id="1230883584" name="Rounded Rectangle 1230883583"/>
          <p:cNvSpPr/>
          <p:nvPr/>
        </p:nvSpPr>
        <p:spPr>
          <a:xfrm>
            <a:off x="640080" y="310896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85" name="TextBox 1230883584"/>
          <p:cNvSpPr txBox="1"/>
          <p:nvPr/>
        </p:nvSpPr>
        <p:spPr>
          <a:xfrm>
            <a:off x="777240" y="3200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Caddy</a:t>
            </a:r>
          </a:p>
        </p:txBody>
      </p:sp>
      <p:sp>
        <p:nvSpPr>
          <p:cNvPr id="1230883586" name="TextBox 1230883585"/>
          <p:cNvSpPr txBox="1"/>
          <p:nvPr/>
        </p:nvSpPr>
        <p:spPr>
          <a:xfrm>
            <a:off x="777240" y="35478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Шифрование TLS, заголовки безопасности, статика</a:t>
            </a:r>
          </a:p>
        </p:txBody>
      </p:sp>
      <p:sp>
        <p:nvSpPr>
          <p:cNvPr id="1230883587" name="Rounded Rectangle 1230883586"/>
          <p:cNvSpPr/>
          <p:nvPr/>
        </p:nvSpPr>
        <p:spPr>
          <a:xfrm>
            <a:off x="640080" y="461772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88" name="TextBox 1230883587"/>
          <p:cNvSpPr txBox="1"/>
          <p:nvPr/>
        </p:nvSpPr>
        <p:spPr>
          <a:xfrm>
            <a:off x="777240" y="470915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ФСП ID</a:t>
            </a:r>
          </a:p>
        </p:txBody>
      </p:sp>
      <p:sp>
        <p:nvSpPr>
          <p:cNvPr id="1230883589" name="TextBox 1230883588"/>
          <p:cNvSpPr txBox="1"/>
          <p:nvPr/>
        </p:nvSpPr>
        <p:spPr>
          <a:xfrm>
            <a:off x="777240" y="5056631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OpenID Connect с PKCE, как в Keycloak. Протоколы — подписанные удостоверения</a:t>
            </a:r>
          </a:p>
        </p:txBody>
      </p:sp>
      <p:sp>
        <p:nvSpPr>
          <p:cNvPr id="1230883590" name="Rounded Rectangle 1230883589"/>
          <p:cNvSpPr/>
          <p:nvPr/>
        </p:nvSpPr>
        <p:spPr>
          <a:xfrm>
            <a:off x="3703320" y="1920240"/>
            <a:ext cx="3291840" cy="3611880"/>
          </a:xfrm>
          <a:prstGeom prst="roundRect">
            <a:avLst>
              <a:gd name="adj" fmla="val 1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91" name="TextBox 1230883590"/>
          <p:cNvSpPr txBox="1"/>
          <p:nvPr/>
        </p:nvSpPr>
        <p:spPr>
          <a:xfrm>
            <a:off x="3840480" y="2011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230883592" name="TextBox 1230883591"/>
          <p:cNvSpPr txBox="1"/>
          <p:nvPr/>
        </p:nvSpPr>
        <p:spPr>
          <a:xfrm>
            <a:off x="3840480" y="2359152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Подбор с разложимой оценкой
Адаптивный тест IRT 3PL
Приглашения, согласия, 152-ФЗ
Защита от CSRF, пароли Argon2id
OpenAPI 3.1 и вебхуки</a:t>
            </a:r>
          </a:p>
        </p:txBody>
      </p:sp>
      <p:sp>
        <p:nvSpPr>
          <p:cNvPr id="1230883593" name="Rounded Rectangle 1230883592"/>
          <p:cNvSpPr/>
          <p:nvPr/>
        </p:nvSpPr>
        <p:spPr>
          <a:xfrm>
            <a:off x="7589520" y="1600200"/>
            <a:ext cx="3931920" cy="1234440"/>
          </a:xfrm>
          <a:prstGeom prst="roundRect">
            <a:avLst>
              <a:gd name="adj" fmla="val 10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94" name="TextBox 1230883593"/>
          <p:cNvSpPr txBox="1"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PostgreSQL 16 + pgvector</a:t>
            </a:r>
          </a:p>
        </p:txBody>
      </p:sp>
      <p:sp>
        <p:nvSpPr>
          <p:cNvPr id="1230883595" name="TextBox 1230883594"/>
          <p:cNvSpPr txBox="1"/>
          <p:nvPr/>
        </p:nvSpPr>
        <p:spPr>
          <a:xfrm>
            <a:off x="7726680" y="2039112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Доступ к строкам ограничен политиками базы, миграции Alembic</a:t>
            </a:r>
          </a:p>
        </p:txBody>
      </p:sp>
      <p:sp>
        <p:nvSpPr>
          <p:cNvPr id="1230883596" name="Rounded Rectangle 1230883595"/>
          <p:cNvSpPr/>
          <p:nvPr/>
        </p:nvSpPr>
        <p:spPr>
          <a:xfrm>
            <a:off x="7589520" y="3108960"/>
            <a:ext cx="3931920" cy="1234440"/>
          </a:xfrm>
          <a:prstGeom prst="roundRect">
            <a:avLst>
              <a:gd name="adj" fmla="val 10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597" name="TextBox 1230883596"/>
          <p:cNvSpPr txBox="1"/>
          <p:nvPr/>
        </p:nvSpPr>
        <p:spPr>
          <a:xfrm>
            <a:off x="7726680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Redis · Celery</a:t>
            </a:r>
          </a:p>
        </p:txBody>
      </p:sp>
      <p:sp>
        <p:nvSpPr>
          <p:cNvPr id="1230883598" name="TextBox 1230883597"/>
          <p:cNvSpPr txBox="1"/>
          <p:nvPr/>
        </p:nvSpPr>
        <p:spPr>
          <a:xfrm>
            <a:off x="7726680" y="3547872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Кэш подборок, лимиты, ночной пересчёт баллов</a:t>
            </a:r>
          </a:p>
        </p:txBody>
      </p:sp>
      <p:sp>
        <p:nvSpPr>
          <p:cNvPr id="1230883599" name="Rounded Rectangle 1230883598"/>
          <p:cNvSpPr/>
          <p:nvPr/>
        </p:nvSpPr>
        <p:spPr>
          <a:xfrm>
            <a:off x="7589520" y="4617720"/>
            <a:ext cx="3931920" cy="1234440"/>
          </a:xfrm>
          <a:prstGeom prst="roundRect">
            <a:avLst>
              <a:gd name="adj" fmla="val 1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0883600" name="TextBox 1230883599"/>
          <p:cNvSpPr txBox="1"/>
          <p:nvPr/>
        </p:nvSpPr>
        <p:spPr>
          <a:xfrm>
            <a:off x="7726680" y="470915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FFFFFF"/>
                </a:solidFill>
                <a:latin typeface="Arial"/>
              </a:rPr>
              <a:t>Песочница кода</a:t>
            </a:r>
          </a:p>
        </p:txBody>
      </p:sp>
      <p:sp>
        <p:nvSpPr>
          <p:cNvPr id="1230883601" name="TextBox 1230883600"/>
          <p:cNvSpPr txBox="1"/>
          <p:nvPr/>
        </p:nvSpPr>
        <p:spPr>
          <a:xfrm>
            <a:off x="7726680" y="5056631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FFFFFF"/>
                </a:solidFill>
                <a:latin typeface="Arial"/>
              </a:rPr>
              <a:t>Отдельный контейнер без сети для заданий с кодом</a:t>
            </a:r>
          </a:p>
        </p:txBody>
      </p:sp>
      <p:cxnSp>
        <p:nvCxnSpPr>
          <p:cNvPr id="1230883602" name="Connector 1230883601"/>
          <p:cNvCxnSpPr/>
          <p:nvPr/>
        </p:nvCxnSpPr>
        <p:spPr>
          <a:xfrm>
            <a:off x="3108960" y="2212848"/>
            <a:ext cx="594360" cy="530352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883603" name="Connector 1230883602"/>
          <p:cNvCxnSpPr/>
          <p:nvPr/>
        </p:nvCxnSpPr>
        <p:spPr>
          <a:xfrm>
            <a:off x="3108960" y="3721608"/>
            <a:ext cx="594360" cy="0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883604" name="Connector 1230883603"/>
          <p:cNvCxnSpPr/>
          <p:nvPr/>
        </p:nvCxnSpPr>
        <p:spPr>
          <a:xfrm flipV="1">
            <a:off x="3108960" y="4709160"/>
            <a:ext cx="594360" cy="521208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883605" name="Connector 1230883604"/>
          <p:cNvCxnSpPr/>
          <p:nvPr/>
        </p:nvCxnSpPr>
        <p:spPr>
          <a:xfrm flipV="1">
            <a:off x="6995160" y="2212848"/>
            <a:ext cx="594360" cy="530352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883606" name="Connector 1230883605"/>
          <p:cNvCxnSpPr/>
          <p:nvPr/>
        </p:nvCxnSpPr>
        <p:spPr>
          <a:xfrm>
            <a:off x="6995160" y="3721608"/>
            <a:ext cx="594360" cy="0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883607" name="Connector 1230883606"/>
          <p:cNvCxnSpPr/>
          <p:nvPr/>
        </p:nvCxnSpPr>
        <p:spPr>
          <a:xfrm>
            <a:off x="6995160" y="4709160"/>
            <a:ext cx="594360" cy="521208"/>
          </a:xfrm>
          <a:prstGeom prst="line">
            <a:avLst/>
          </a:prstGeom>
          <a:ln w="25400">
            <a:solidFill>
              <a:srgbClr val="8A83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868562" name="Плашка заголовка"/>
          <p:cNvSpPr/>
          <p:nvPr/>
        </p:nvSpPr>
        <p:spPr>
          <a:xfrm>
            <a:off x="347472" y="320040"/>
            <a:ext cx="5128716" cy="621792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667542" name="Заголовок 5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854396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ЧТО НАСТОЯЩЕЕ, ЧТО ИМИТАЦИЯ</a:t>
            </a:r>
          </a:p>
        </p:txBody>
      </p:sp>
      <p:sp>
        <p:nvSpPr>
          <p:cNvPr id="56423521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Подбор, тест, приглашения, согласия, журнал</a:t>
            </a:r>
          </a:p>
        </p:txBody>
      </p:sp>
      <p:sp>
        <p:nvSpPr>
          <p:cNvPr id="1400877271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ФСП ID и реестр протоколов</a:t>
            </a:r>
          </a:p>
        </p:txBody>
      </p:sp>
      <p:sp>
        <p:nvSpPr>
          <p:cNvPr id="1448718711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Связь с ATS</a:t>
            </a:r>
          </a:p>
        </p:txBody>
      </p:sp>
      <p:sp>
        <p:nvSpPr>
          <p:cNvPr id="1667884427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Проверка качества</a:t>
            </a:r>
          </a:p>
        </p:txBody>
      </p:sp>
      <p:sp>
        <p:nvSpPr>
          <p:cNvPr id="1791868554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Хранение данных</a:t>
            </a:r>
          </a:p>
        </p:txBody>
      </p:sp>
      <p:sp>
        <p:nvSpPr>
          <p:cNvPr id="104997468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683523616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510570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2899835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7133728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392896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91868555" name="TextBox 1791868554"/>
          <p:cNvSpPr txBox="1"/>
          <p:nvPr/>
        </p:nvSpPr>
        <p:spPr>
          <a:xfrm>
            <a:off x="521207" y="121615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>
                <a:solidFill>
                  <a:srgbClr val="6B6C75"/>
                </a:solidFill>
                <a:latin typeface="Arial"/>
              </a:rPr>
              <a:t>ЧАСТЬ СИСТЕМЫ</a:t>
            </a:r>
          </a:p>
        </p:txBody>
      </p:sp>
      <p:sp>
        <p:nvSpPr>
          <p:cNvPr id="1791868556" name="TextBox 1791868555"/>
          <p:cNvSpPr txBox="1"/>
          <p:nvPr/>
        </p:nvSpPr>
        <p:spPr>
          <a:xfrm>
            <a:off x="5806440" y="121615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>
                <a:solidFill>
                  <a:srgbClr val="FF0053"/>
                </a:solidFill>
                <a:latin typeface="Arial"/>
              </a:rPr>
              <a:t>КАК СЕЙЧАС</a:t>
            </a:r>
          </a:p>
        </p:txBody>
      </p:sp>
      <p:sp>
        <p:nvSpPr>
          <p:cNvPr id="1791868557" name="TextBox 1791868556"/>
          <p:cNvSpPr txBox="1"/>
          <p:nvPr/>
        </p:nvSpPr>
        <p:spPr>
          <a:xfrm>
            <a:off x="5806440" y="1691640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1C1D22"/>
                </a:solidFill>
                <a:latin typeface="Arial"/>
              </a:rPr>
              <a:t>Работают по-настоящему, на стенде и локально</a:t>
            </a:r>
          </a:p>
        </p:txBody>
      </p:sp>
      <p:sp>
        <p:nvSpPr>
          <p:cNvPr id="1791868558" name="TextBox 1791868557"/>
          <p:cNvSpPr txBox="1"/>
          <p:nvPr/>
        </p:nvSpPr>
        <p:spPr>
          <a:xfrm>
            <a:off x="5806440" y="2551176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1C1D22"/>
                </a:solidFill>
                <a:latin typeface="Arial"/>
              </a:rPr>
              <a:t>Имитация по тому же протоколу. Переход на Keycloak Федерации — пять настроек</a:t>
            </a:r>
          </a:p>
        </p:txBody>
      </p:sp>
      <p:sp>
        <p:nvSpPr>
          <p:cNvPr id="1791868559" name="TextBox 1791868558"/>
          <p:cNvSpPr txBox="1"/>
          <p:nvPr/>
        </p:nvSpPr>
        <p:spPr>
          <a:xfrm>
            <a:off x="5806440" y="3410712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1C1D22"/>
                </a:solidFill>
                <a:latin typeface="Arial"/>
              </a:rPr>
              <a:t>Подписанные вебхуки, API-ключи для ATS и выгрузка работают. Коннектор к Хантфлоу — первый шаг пилота</a:t>
            </a:r>
          </a:p>
        </p:txBody>
      </p:sp>
      <p:sp>
        <p:nvSpPr>
          <p:cNvPr id="1791868560" name="TextBox 1791868559"/>
          <p:cNvSpPr txBox="1"/>
          <p:nvPr/>
        </p:nvSpPr>
        <p:spPr>
          <a:xfrm>
            <a:off x="5806440" y="4270248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1C1D22"/>
                </a:solidFill>
                <a:latin typeface="Arial"/>
              </a:rPr>
              <a:t>Синтетика со скрытой правдой. Уверенные решения повторяются в 80,3 % случаев на отложенных выборках; калибруем до 85 % на пилоте</a:t>
            </a:r>
          </a:p>
        </p:txBody>
      </p:sp>
      <p:sp>
        <p:nvSpPr>
          <p:cNvPr id="1791868561" name="TextBox 1791868560"/>
          <p:cNvSpPr txBox="1"/>
          <p:nvPr/>
        </p:nvSpPr>
        <p:spPr>
          <a:xfrm>
            <a:off x="5806440" y="5120640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1C1D22"/>
                </a:solidFill>
                <a:latin typeface="Arial"/>
              </a:rPr>
              <a:t>Демо-стенд за рубежом, реальные данные туда не вводим. Рабочая установка у Федерации, в РФ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50618" name="Скругленный прямоугольник 9"/>
          <p:cNvSpPr/>
          <p:nvPr/>
        </p:nvSpPr>
        <p:spPr bwMode="auto">
          <a:xfrm>
            <a:off x="347472" y="320040"/>
            <a:ext cx="5153302" cy="621792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40927953" name="Скругленный прямоугольник 22"/>
          <p:cNvSpPr/>
          <p:nvPr/>
        </p:nvSpPr>
        <p:spPr bwMode="auto">
          <a:xfrm>
            <a:off x="3288425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4441699" name="Скругленный прямоугольник 23"/>
          <p:cNvSpPr/>
          <p:nvPr/>
        </p:nvSpPr>
        <p:spPr bwMode="auto">
          <a:xfrm>
            <a:off x="6230774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5827162" name="Скругленный прямоугольник 24"/>
          <p:cNvSpPr/>
          <p:nvPr/>
        </p:nvSpPr>
        <p:spPr bwMode="auto">
          <a:xfrm>
            <a:off x="9173123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1171314" name="Скругленный прямоугольник 26"/>
          <p:cNvSpPr/>
          <p:nvPr/>
        </p:nvSpPr>
        <p:spPr bwMode="auto">
          <a:xfrm>
            <a:off x="346076" y="1522006"/>
            <a:ext cx="2672801" cy="329184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926741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4797211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423159"/>
            <a:ext cx="2284071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тестов сервера</a:t>
            </a:r>
          </a:p>
        </p:txBody>
      </p:sp>
      <p:sp>
        <p:nvSpPr>
          <p:cNvPr id="25581840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2918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Покрытие кода 73,1 %. Ещё 177 тестов интерфейса и сквозных сценариев.</a:t>
            </a:r>
          </a:p>
        </p:txBody>
      </p:sp>
      <p:sp>
        <p:nvSpPr>
          <p:cNvPr id="1293643444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423159"/>
            <a:ext cx="2337416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запросов к чужим данным прошло</a:t>
            </a:r>
          </a:p>
        </p:txBody>
      </p:sp>
      <p:sp>
        <p:nvSpPr>
          <p:cNvPr id="246762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291839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Обход всех адресов API с чужим идентификатором: ни одного успешного ответа.</a:t>
            </a:r>
          </a:p>
        </p:txBody>
      </p:sp>
      <p:sp>
        <p:nvSpPr>
          <p:cNvPr id="13699795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423159"/>
            <a:ext cx="2268537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поиск под нагрузкой</a:t>
            </a:r>
          </a:p>
        </p:txBody>
      </p:sp>
      <p:sp>
        <p:nvSpPr>
          <p:cNvPr id="178215100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291840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40 пользователей одновременно, ни одной ошибки. Время для 95 % запросов.</a:t>
            </a:r>
          </a:p>
        </p:txBody>
      </p:sp>
      <p:sp>
        <p:nvSpPr>
          <p:cNvPr id="1836671408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423159"/>
            <a:ext cx="2263553" cy="8229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520978"/>
                </a:solidFill>
              </a:rPr>
              <a:t>нарушений доступности</a:t>
            </a:r>
          </a:p>
        </p:txBody>
      </p:sp>
      <p:sp>
        <p:nvSpPr>
          <p:cNvPr id="123244517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291840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Проверка axe по WCAG 2.2 AA. Lighthouse: доступность 100 баллов.</a:t>
            </a:r>
          </a:p>
        </p:txBody>
      </p:sp>
      <p:sp>
        <p:nvSpPr>
          <p:cNvPr id="1221947720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878982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ТЕСТЫ, НАГРУЗКА, ДОСТУПНОСТЬ</a:t>
            </a:r>
          </a:p>
        </p:txBody>
      </p:sp>
      <p:sp>
        <p:nvSpPr>
          <p:cNvPr id="1559471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1400+</a:t>
            </a:r>
          </a:p>
        </p:txBody>
      </p:sp>
      <p:sp>
        <p:nvSpPr>
          <p:cNvPr id="72243754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0 / 240</a:t>
            </a:r>
          </a:p>
        </p:txBody>
      </p:sp>
      <p:sp>
        <p:nvSpPr>
          <p:cNvPr id="148014629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69 мс</a:t>
            </a:r>
          </a:p>
        </p:txBody>
      </p:sp>
      <p:sp>
        <p:nvSpPr>
          <p:cNvPr id="1330123318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2377440" cy="685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FF0053"/>
                </a:solidFill>
              </a:rPr>
              <a:t>0</a:t>
            </a:r>
          </a:p>
        </p:txBody>
      </p:sp>
      <p:sp>
        <p:nvSpPr>
          <p:cNvPr id="2140927954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D9D3FF"/>
                </a:solidFill>
                <a:latin typeface="Arial"/>
              </a:rPr>
              <a:t>04 · ТЕХНИЧЕСКАЯ ПРОРАБОТКА</a:t>
            </a:r>
          </a:p>
        </p:txBody>
      </p:sp>
      <p:sp>
        <p:nvSpPr>
          <p:cNvPr id="2140927955" name="Вывод"/>
          <p:cNvSpPr/>
          <p:nvPr/>
        </p:nvSpPr>
        <p:spPr>
          <a:xfrm>
            <a:off x="347472" y="5029200"/>
            <a:ext cx="11494008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0927956" name="TextBox 2140927955"/>
          <p:cNvSpPr txBox="1"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  <a:latin typeface="Arial"/>
              </a:rPr>
              <a:t>Для каждой цифры продукта в README есть команда, которой её можно перепроверить.</a:t>
            </a:r>
          </a:p>
        </p:txBody>
      </p:sp>
      <p:sp>
        <p:nvSpPr>
          <p:cNvPr id="2140927957" name="Команда проверки"/>
          <p:cNvSpPr txBox="1"/>
          <p:nvPr/>
        </p:nvSpPr>
        <p:spPr>
          <a:xfrm>
            <a:off x="530352" y="63825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C9C3F0"/>
                </a:solidFill>
                <a:latin typeface="Courier New"/>
              </a:rPr>
              <a:t>▸ проверка: </a:t>
            </a:r>
            <a:r>
              <a:rPr lang="ru-RU" sz="1000" b="0">
                <a:solidFill>
                  <a:srgbClr val="C9C3F0"/>
                </a:solidFill>
                <a:latin typeface="Courier New"/>
              </a:rPr>
              <a:t>make load · python tests/smoke_api.py · python -m pytest tests/unit --cov=app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868562" name="Плашка заголовка"/>
          <p:cNvSpPr/>
          <p:nvPr/>
        </p:nvSpPr>
        <p:spPr>
          <a:xfrm>
            <a:off x="347472" y="320040"/>
            <a:ext cx="3662779" cy="621792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667542" name="Заголовок 5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338845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ЧЕМ МЫ ОТЛИЧАЕМСЯ</a:t>
            </a:r>
          </a:p>
        </p:txBody>
      </p:sp>
      <p:sp>
        <p:nvSpPr>
          <p:cNvPr id="56423521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Уровень пишет сам кандидат</a:t>
            </a:r>
          </a:p>
        </p:txBody>
      </p:sp>
      <p:sp>
        <p:nvSpPr>
          <p:cNvPr id="1400877271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Первым пишет кандидат, наугад</a:t>
            </a:r>
          </a:p>
        </p:txBody>
      </p:sp>
      <p:sp>
        <p:nvSpPr>
          <p:cNvPr id="1448718711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Зарплату узнают на собеседовании</a:t>
            </a:r>
          </a:p>
        </p:txBody>
      </p:sp>
      <p:sp>
        <p:nvSpPr>
          <p:cNvPr id="1667884427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Контакты продают из базы</a:t>
            </a:r>
          </a:p>
        </p:txBody>
      </p:sp>
      <p:sp>
        <p:nvSpPr>
          <p:cNvPr id="1791868554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 anchor="ctr"/>
          <a:lstStyle/>
          <a:p>
            <a:pPr marL="0" indent="0">
              <a:buNone/>
              <a:defRPr/>
            </a:pPr>
            <a:r>
              <a:rPr lang="ru-RU" sz="1400" b="0">
                <a:solidFill>
                  <a:srgbClr val="6B6C75"/>
                </a:solidFill>
              </a:rPr>
              <a:t>Непонятно, почему человек в выдаче</a:t>
            </a:r>
          </a:p>
        </p:txBody>
      </p:sp>
      <p:sp>
        <p:nvSpPr>
          <p:cNvPr id="104997468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26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683523616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510570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2899835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7133728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392896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91868555" name="TextBox 1791868554"/>
          <p:cNvSpPr txBox="1"/>
          <p:nvPr/>
        </p:nvSpPr>
        <p:spPr>
          <a:xfrm>
            <a:off x="521207" y="121615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>
                <a:solidFill>
                  <a:srgbClr val="6B6C75"/>
                </a:solidFill>
                <a:latin typeface="Arial"/>
              </a:rPr>
              <a:t>УНИВЕРСАЛЬНЫЕ ПЛОЩАДКИ</a:t>
            </a:r>
          </a:p>
        </p:txBody>
      </p:sp>
      <p:sp>
        <p:nvSpPr>
          <p:cNvPr id="1791868556" name="TextBox 1791868555"/>
          <p:cNvSpPr txBox="1"/>
          <p:nvPr/>
        </p:nvSpPr>
        <p:spPr>
          <a:xfrm>
            <a:off x="5806440" y="121615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>
                <a:solidFill>
                  <a:srgbClr val="FF0053"/>
                </a:solidFill>
                <a:latin typeface="Arial"/>
              </a:rPr>
              <a:t>ФСП ТАЛАНТ</a:t>
            </a:r>
          </a:p>
        </p:txBody>
      </p:sp>
      <p:sp>
        <p:nvSpPr>
          <p:cNvPr id="1791868557" name="TextBox 1791868556"/>
          <p:cNvSpPr txBox="1"/>
          <p:nvPr/>
        </p:nvSpPr>
        <p:spPr>
          <a:xfrm>
            <a:off x="5806440" y="1691640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1C1D22"/>
                </a:solidFill>
                <a:latin typeface="Arial"/>
              </a:rPr>
              <a:t>Уровень подтверждают тест и протоколы ФСП</a:t>
            </a:r>
          </a:p>
        </p:txBody>
      </p:sp>
      <p:sp>
        <p:nvSpPr>
          <p:cNvPr id="1791868558" name="TextBox 1791868557"/>
          <p:cNvSpPr txBox="1"/>
          <p:nvPr/>
        </p:nvSpPr>
        <p:spPr>
          <a:xfrm>
            <a:off x="5806440" y="2551176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1C1D22"/>
                </a:solidFill>
                <a:latin typeface="Arial"/>
              </a:rPr>
              <a:t>Первым пишет работодатель, конкретному человеку</a:t>
            </a:r>
          </a:p>
        </p:txBody>
      </p:sp>
      <p:sp>
        <p:nvSpPr>
          <p:cNvPr id="1791868559" name="TextBox 1791868558"/>
          <p:cNvSpPr txBox="1"/>
          <p:nvPr/>
        </p:nvSpPr>
        <p:spPr>
          <a:xfrm>
            <a:off x="5806440" y="3410712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1C1D22"/>
                </a:solidFill>
                <a:latin typeface="Arial"/>
              </a:rPr>
              <a:t>Зарплата видна сразу в приглашении</a:t>
            </a:r>
          </a:p>
        </p:txBody>
      </p:sp>
      <p:sp>
        <p:nvSpPr>
          <p:cNvPr id="1791868560" name="TextBox 1791868559"/>
          <p:cNvSpPr txBox="1"/>
          <p:nvPr/>
        </p:nvSpPr>
        <p:spPr>
          <a:xfrm>
            <a:off x="5806440" y="4270248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1C1D22"/>
                </a:solidFill>
                <a:latin typeface="Arial"/>
              </a:rPr>
              <a:t>Контакты открывает только сам кандидат</a:t>
            </a:r>
          </a:p>
        </p:txBody>
      </p:sp>
      <p:sp>
        <p:nvSpPr>
          <p:cNvPr id="1791868561" name="TextBox 1791868560"/>
          <p:cNvSpPr txBox="1"/>
          <p:nvPr/>
        </p:nvSpPr>
        <p:spPr>
          <a:xfrm>
            <a:off x="5806440" y="5120640"/>
            <a:ext cx="6035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1C1D22"/>
                </a:solidFill>
                <a:latin typeface="Arial"/>
              </a:rPr>
              <a:t>Каждое место разложено по факторам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235861" name="Скругленный прямоугольник 22"/>
          <p:cNvSpPr/>
          <p:nvPr/>
        </p:nvSpPr>
        <p:spPr bwMode="auto">
          <a:xfrm>
            <a:off x="347472" y="320040"/>
            <a:ext cx="3053199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4307696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357839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Пилот с ФСП</a:t>
            </a:r>
          </a:p>
        </p:txBody>
      </p:sp>
      <p:sp>
        <p:nvSpPr>
          <p:cNvPr id="133554182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150 участников, 6 недель, два эксперта проводят интервью, не видя результата теста</a:t>
            </a:r>
          </a:p>
        </p:txBody>
      </p:sp>
      <p:sp>
        <p:nvSpPr>
          <p:cNvPr id="37686000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Порог успеха</a:t>
            </a:r>
          </a:p>
        </p:txBody>
      </p:sp>
      <p:sp>
        <p:nvSpPr>
          <p:cNvPr id="175818725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Согласие теста с экспертами (взвешенная каппа) от 0,60, иначе пороги не публикуем</a:t>
            </a:r>
          </a:p>
        </p:txBody>
      </p:sp>
      <p:sp>
        <p:nvSpPr>
          <p:cNvPr id="195114146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Повтор до 85 %</a:t>
            </a:r>
          </a:p>
        </p:txBody>
      </p:sp>
      <p:sp>
        <p:nvSpPr>
          <p:cNvPr id="139299174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Сейчас 80,3 % у уверенных решений на отложенных выборках. Банк заданий пополняем: экспозиция 50–65 % → цель 40 %</a:t>
            </a:r>
          </a:p>
        </p:txBody>
      </p:sp>
      <p:sp>
        <p:nvSpPr>
          <p:cNvPr id="107438887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Метрики найма</a:t>
            </a:r>
          </a:p>
        </p:txBody>
      </p:sp>
      <p:sp>
        <p:nvSpPr>
          <p:cNvPr id="53609738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Время от потребности до принятого приглашения и доля принятых приглашений</a:t>
            </a:r>
          </a:p>
        </p:txBody>
      </p:sp>
      <p:sp>
        <p:nvSpPr>
          <p:cNvPr id="1426414635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Боевые системы</a:t>
            </a:r>
          </a:p>
        </p:txBody>
      </p:sp>
      <p:sp>
        <p:nvSpPr>
          <p:cNvPr id="1824928307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Keycloak Федерации, реестр протоколов, коннектор к ATS</a:t>
            </a:r>
          </a:p>
        </p:txBody>
      </p:sp>
      <p:sp>
        <p:nvSpPr>
          <p:cNvPr id="1127017889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700" b="1">
                <a:solidFill>
                  <a:srgbClr val="520978"/>
                </a:solidFill>
              </a:rPr>
              <a:t>Запуск в РФ</a:t>
            </a:r>
          </a:p>
        </p:txBody>
      </p:sp>
      <p:sp>
        <p:nvSpPr>
          <p:cNvPr id="801514199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4206240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0">
                <a:solidFill>
                  <a:srgbClr val="1C1D22"/>
                </a:solidFill>
              </a:rPr>
              <a:t>Установка на сервере Федерации, уведомление Роскомнадзора, модель угроз</a:t>
            </a:r>
          </a:p>
        </p:txBody>
      </p:sp>
      <p:sp>
        <p:nvSpPr>
          <p:cNvPr id="1795568319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2778879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ПОСЛЕ ХАКАТОНА</a:t>
            </a:r>
          </a:p>
        </p:txBody>
      </p:sp>
      <p:sp>
        <p:nvSpPr>
          <p:cNvPr id="21668749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7875293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68758571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46040874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74791226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1846661691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1005840" cy="594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0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1951141462" name="Раздел"/>
          <p:cNvSpPr txBox="1"/>
          <p:nvPr/>
        </p:nvSpPr>
        <p:spPr>
          <a:xfrm>
            <a:off x="548640" y="9875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8A83D1"/>
                </a:solidFill>
                <a:latin typeface="Arial"/>
              </a:rPr>
              <a:t>06 · ПЛАНЫ ПО РАЗВИТИЮ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728256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61837690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500643147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</a:rPr>
              <a:t>ПРОВЕРЬТЕ САМИ</a:t>
            </a:r>
          </a:p>
        </p:txBody>
      </p:sp>
      <p:sp>
        <p:nvSpPr>
          <p:cNvPr id="962272793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Стенд: </a:t>
            </a:r>
            <a:r>
              <a:rPr lang="ru-RU" sz="1300" b="0">
                <a:solidFill>
                  <a:srgbClr val="1C1D22"/>
                </a:solidFill>
              </a:rPr>
              <a:t>89-124-65-102.sslip.io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Зеркало: </a:t>
            </a:r>
            <a:r>
              <a:rPr lang="ru-RU" sz="1300" b="0">
                <a:solidFill>
                  <a:srgbClr val="1C1D22"/>
                </a:solidFill>
              </a:rPr>
              <a:t>v1081358.hosted-by-vdsina.com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Жюри: </a:t>
            </a:r>
            <a:r>
              <a:rPr lang="ru-RU" sz="1300" b="0">
                <a:solidFill>
                  <a:srgbClr val="1C1D22"/>
                </a:solidFill>
              </a:rPr>
              <a:t>jury1@demo.talent … jury10, пароль demo12345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Работодатель: </a:t>
            </a:r>
            <a:r>
              <a:rPr lang="ru-RU" sz="1300" b="0">
                <a:solidFill>
                  <a:srgbClr val="1C1D22"/>
                </a:solidFill>
              </a:rPr>
              <a:t>hr@sibcode.demo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Видео: </a:t>
            </a:r>
            <a:r>
              <a:rPr lang="ru-RU" sz="1300" b="0">
                <a:solidFill>
                  <a:srgbClr val="1C1D22"/>
                </a:solidFill>
              </a:rPr>
              <a:t>3 минуты, папка submission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Код: </a:t>
            </a:r>
            <a:r>
              <a:rPr lang="ru-RU" sz="1300" b="0">
                <a:solidFill>
                  <a:srgbClr val="1C1D22"/>
                </a:solidFill>
              </a:rPr>
              <a:t>github.com/KonkovDV/fsp-talent</a:t>
            </a: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1C1D22"/>
                </a:solidFill>
              </a:rPr>
              <a:t>Запуск: </a:t>
            </a:r>
            <a:r>
              <a:rPr lang="ru-RU" sz="1300" b="0">
                <a:solidFill>
                  <a:srgbClr val="1C1D22"/>
                </a:solidFill>
              </a:rPr>
              <a:t>docker compose up</a:t>
            </a:r>
          </a:p>
        </p:txBody>
      </p:sp>
      <p:pic>
        <p:nvPicPr>
          <p:cNvPr id="1561837691" name="Picture 1561837690" descr="candidate-jury-1440.png"/>
          <p:cNvPicPr>
            <a:picLocks noChangeAspect="1"/>
          </p:cNvPicPr>
          <p:nvPr/>
        </p:nvPicPr>
        <p:blipFill>
          <a:blip r:embed="rId4"/>
          <a:srcRect l="64" r="64"/>
          <a:stretch>
            <a:fillRect/>
          </a:stretch>
        </p:blipFill>
        <p:spPr>
          <a:xfrm>
            <a:off x="6172200" y="1600200"/>
            <a:ext cx="5669280" cy="3547872"/>
          </a:xfrm>
          <a:prstGeom prst="rect">
            <a:avLst/>
          </a:prstGeom>
          <a:ln w="12700">
            <a:solidFill>
              <a:srgbClr val="D9D6F0"/>
            </a:solidFill>
          </a:ln>
        </p:spPr>
      </p:pic>
      <p:pic>
        <p:nvPicPr>
          <p:cNvPr id="1561837692" name="Picture 1561837691" descr="qr_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06240"/>
            <a:ext cx="1737360" cy="1737360"/>
          </a:xfrm>
          <a:prstGeom prst="rect">
            <a:avLst/>
          </a:prstGeom>
        </p:spPr>
      </p:pic>
      <p:pic>
        <p:nvPicPr>
          <p:cNvPr id="1561837693" name="Picture 1561837692" descr="qr_ju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4206240"/>
            <a:ext cx="1737360" cy="1737360"/>
          </a:xfrm>
          <a:prstGeom prst="rect">
            <a:avLst/>
          </a:prstGeom>
        </p:spPr>
      </p:pic>
      <p:sp>
        <p:nvSpPr>
          <p:cNvPr id="1561837694" name="TextBox 1561837693"/>
          <p:cNvSpPr txBox="1"/>
          <p:nvPr/>
        </p:nvSpPr>
        <p:spPr>
          <a:xfrm>
            <a:off x="685800" y="596188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u-RU" sz="1200" b="1">
                <a:solidFill>
                  <a:srgbClr val="520978"/>
                </a:solidFill>
                <a:latin typeface="Arial"/>
              </a:rPr>
              <a:t>Стенд</a:t>
            </a:r>
          </a:p>
        </p:txBody>
      </p:sp>
      <p:sp>
        <p:nvSpPr>
          <p:cNvPr id="1561837695" name="TextBox 1561837694"/>
          <p:cNvSpPr txBox="1"/>
          <p:nvPr/>
        </p:nvSpPr>
        <p:spPr>
          <a:xfrm>
            <a:off x="3063240" y="596188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u-RU" sz="1200" b="1">
                <a:solidFill>
                  <a:srgbClr val="520978"/>
                </a:solidFill>
                <a:latin typeface="Arial"/>
              </a:rPr>
              <a:t>Режим жюри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78752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280160"/>
          </a:xfrm>
        </p:spPr>
        <p:txBody>
          <a:bodyPr/>
          <a:lstStyle/>
          <a:p>
            <a:pPr marL="268288" indent="0">
              <a:defRPr/>
            </a:pPr>
            <a:r>
              <a:rPr lang="ru-RU"/>
              <a:t>СПАСИБО!</a:t>
            </a:r>
          </a:p>
        </p:txBody>
      </p:sp>
      <p:sp>
        <p:nvSpPr>
          <p:cNvPr id="1436879255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202301"/>
            <a:ext cx="8930641" cy="1188720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 sz="1300" b="1"/>
              <a:t>Уровень подтверждает тест. Первым пишет работодатель.</a:t>
            </a:r>
          </a:p>
          <a:p>
            <a:pPr marL="271463" indent="-3175">
              <a:defRPr/>
            </a:pPr>
            <a:r>
              <a:rPr lang="ru-RU" sz="1300"/>
              <a:t>ФСП Талант — команда Дмитрия Конькова · github.com/KonkovDV/fsp-talent</a:t>
            </a:r>
          </a:p>
          <a:p>
            <a:pPr marL="271463" indent="-3175">
              <a:defRPr/>
            </a:pPr>
            <a:r>
              <a:rPr lang="ru-RU" sz="1300"/>
              <a:t>Дмитрий Коньков · +7 915 452-88-64 · konkov-dmitrij@yandex.ru</a:t>
            </a:r>
          </a:p>
          <a:p>
            <a:pPr marL="271463" indent="-3175">
              <a:defRPr/>
            </a:pPr>
            <a:r>
              <a:rPr lang="ru-RU" sz="1300"/>
              <a:t>Елена Конькова · konkovaelena@yandex.ru</a:t>
            </a:r>
          </a:p>
        </p:txBody>
      </p:sp>
      <p:sp>
        <p:nvSpPr>
          <p:cNvPr id="27708789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955825710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955825711" name="Rounded Rectangle 1955825710"/>
          <p:cNvSpPr/>
          <p:nvPr/>
        </p:nvSpPr>
        <p:spPr>
          <a:xfrm>
            <a:off x="9829800" y="3931920"/>
            <a:ext cx="17830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55825712" name="Picture 1955825711" descr="qr_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4023360"/>
            <a:ext cx="1600200" cy="1600200"/>
          </a:xfrm>
          <a:prstGeom prst="rect">
            <a:avLst/>
          </a:prstGeom>
        </p:spPr>
      </p:pic>
      <p:sp>
        <p:nvSpPr>
          <p:cNvPr id="1955825713" name="TextBox 1955825712"/>
          <p:cNvSpPr txBox="1"/>
          <p:nvPr/>
        </p:nvSpPr>
        <p:spPr>
          <a:xfrm>
            <a:off x="9829800" y="56509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ru-RU" sz="1200" b="1">
                <a:solidFill>
                  <a:srgbClr val="520978"/>
                </a:solidFill>
                <a:latin typeface="Arial"/>
              </a:rPr>
              <a:t>Стенд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251303" name="Скругленный прямоугольник 1"/>
          <p:cNvSpPr/>
          <p:nvPr/>
        </p:nvSpPr>
        <p:spPr bwMode="auto">
          <a:xfrm>
            <a:off x="347472" y="320040"/>
            <a:ext cx="4503935" cy="621792"/>
          </a:xfrm>
          <a:prstGeom prst="roundRect">
            <a:avLst>
              <a:gd name="adj" fmla="val 18706"/>
            </a:avLst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75377392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30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03753137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FF0053"/>
                </a:solidFill>
              </a:rPr>
              <a:t>Подбор — 35 %</a:t>
            </a:r>
          </a:p>
        </p:txBody>
      </p:sp>
      <p:sp>
        <p:nvSpPr>
          <p:cNvPr id="2116647948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812977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Потребность, категории, подборка с объяснением, приглашение с вилкой</a:t>
            </a:r>
          </a:p>
        </p:txBody>
      </p:sp>
      <p:sp>
        <p:nvSpPr>
          <p:cNvPr id="1358200415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520978"/>
                </a:solidFill>
              </a:rPr>
              <a:t>Тестирование — 25 %</a:t>
            </a:r>
          </a:p>
        </p:txBody>
      </p:sp>
      <p:sp>
        <p:nvSpPr>
          <p:cNvPr id="1029474092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81538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IRT 3PL, адаптивный выбор, 22 семейства заданий, карантин утечек</a:t>
            </a:r>
          </a:p>
        </p:txBody>
      </p:sp>
      <p:sp>
        <p:nvSpPr>
          <p:cNvPr id="94205580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8A83D1"/>
                </a:solidFill>
              </a:rPr>
              <a:t>Интерфейс и питч — 20 %</a:t>
            </a:r>
          </a:p>
        </p:txBody>
      </p:sp>
      <p:sp>
        <p:nvSpPr>
          <p:cNvPr id="1753296239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350099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Брендбук ФСП, мобильная версия, тёмная тема, режим жюри</a:t>
            </a:r>
          </a:p>
        </p:txBody>
      </p:sp>
      <p:sp>
        <p:nvSpPr>
          <p:cNvPr id="1697252349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1600" b="1">
                <a:solidFill>
                  <a:srgbClr val="D9568A"/>
                </a:solidFill>
              </a:rPr>
              <a:t>Техника, документы, доп. — 20 %</a:t>
            </a:r>
          </a:p>
        </p:txBody>
      </p:sp>
      <p:sp>
        <p:nvSpPr>
          <p:cNvPr id="883427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618661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200" b="0">
                <a:solidFill>
                  <a:srgbClr val="1C1D22"/>
                </a:solidFill>
              </a:rPr>
              <a:t>1400+ тестов сервера, OpenAPI, вакансии, задания, переписка</a:t>
            </a:r>
          </a:p>
        </p:txBody>
      </p:sp>
      <p:sp>
        <p:nvSpPr>
          <p:cNvPr id="473693040" name="Заголовок 13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229615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ПРИЛОЖЕНИЕ · КРИТЕРИИ ТЗ</a:t>
            </a:r>
          </a:p>
        </p:txBody>
      </p:sp>
      <p:graphicFrame>
        <p:nvGraphicFramePr>
          <p:cNvPr id="2116647949" name="Chart 2116647948"/>
          <p:cNvGraphicFramePr>
            <a:graphicFrameLocks noGrp="1"/>
          </p:cNvGraphicFramePr>
          <p:nvPr/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16647950" name="TextBox 2116647949"/>
          <p:cNvSpPr txBox="1"/>
          <p:nvPr/>
        </p:nvSpPr>
        <p:spPr>
          <a:xfrm>
            <a:off x="2273570" y="3141641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300" b="1">
                <a:solidFill>
                  <a:srgbClr val="520978"/>
                </a:solidFill>
                <a:latin typeface="Arial"/>
              </a:rPr>
              <a:t>38 проверок</a:t>
            </a:r>
          </a:p>
          <a:p>
            <a:pPr algn="ctr">
              <a:spcAft>
                <a:spcPts val="0"/>
              </a:spcAft>
            </a:pPr>
            <a:r>
              <a:rPr lang="ru-RU" sz="1300" b="1">
                <a:solidFill>
                  <a:srgbClr val="520978"/>
                </a:solidFill>
                <a:latin typeface="Arial"/>
              </a:rPr>
              <a:t>требований ТЗ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883582" name="Плашка заголовка"/>
          <p:cNvSpPr/>
          <p:nvPr/>
        </p:nvSpPr>
        <p:spPr>
          <a:xfrm>
            <a:off x="347472" y="320040"/>
            <a:ext cx="4602400" cy="621792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688805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3088357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932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530352" y="320040"/>
            <a:ext cx="4328080" cy="621792"/>
          </a:xfrm>
        </p:spPr>
        <p:txBody>
          <a:bodyPr wrap="none" lIns="0" tIns="0" rIns="0" bIns="0" anchor="ctr"/>
          <a:lstStyle/>
          <a:p>
            <a:pPr>
              <a:defRPr/>
            </a:pPr>
            <a:r>
              <a:rPr lang="ru-RU" sz="2000" b="1">
                <a:solidFill>
                  <a:srgbClr val="FFFFFF"/>
                </a:solidFill>
                <a:latin typeface="Arial"/>
              </a:rPr>
              <a:t>ПРИЛОЖЕНИЕ · СВОД МЕТРИК</a:t>
            </a:r>
          </a:p>
        </p:txBody>
      </p:sp>
      <p:graphicFrame>
        <p:nvGraphicFramePr>
          <p:cNvPr id="1230883580" name="Table 1230883579"/>
          <p:cNvGraphicFramePr>
            <a:graphicFrameLocks noGrp="1"/>
          </p:cNvGraphicFramePr>
          <p:nvPr/>
        </p:nvGraphicFramePr>
        <p:xfrm>
          <a:off x="640080" y="16002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109728" marR="109728" marT="36576" marB="36576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ФСП Талант</a:t>
                      </a:r>
                    </a:p>
                  </a:txBody>
                  <a:tcPr marL="109728" marR="109728" marT="36576" marB="36576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База для сравнения</a:t>
                      </a:r>
                    </a:p>
                  </a:txBody>
                  <a:tcPr marL="109728" marR="109728" marT="36576" marB="36576" anchor="ctr"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Ключи заданий проверены запуском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1875 из 1875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Атака «20 сессий», сдают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5,7 % [4,8–6,7]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честно 5,3 % [4,5–6,3], 2400 человек, 6 зёрен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Решение «сдал или не сдал» вдали от границы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91,7 %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линейная форма из 14 заданий: 74,4 %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Различение соседних грейдов, AUC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0,92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пары от 0,90 до 0,93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Согласие двух полных путей, взвешенная каппа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все 6 зёрен 0,85–0,86; старый порядок шкалы 0,76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Подходящих в первой десятке, P@10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0,632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поиск по резюме: 0,559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Порядок внутри категории, Спирмен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0,410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поиск по резюме: 0,011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Слабее нужного грейда в первой десятке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13,6 %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поиск по резюме: 30,9 %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Слепая разметка 200 пар, nDCG@10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0,928 [0,895–0,957]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по резюме 0,866, случайно 0,788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3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Ось ФСП, Спирмен со скрытой силой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Arial"/>
                        </a:rPr>
                        <a:t>0,768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Arial"/>
                        </a:rPr>
                        <a:t>среднее место: 0,681</a:t>
                      </a:r>
                    </a:p>
                  </a:txBody>
                  <a:tcPr marL="109728" marR="109728" marT="36576" marB="36576" anchor="ctr">
                    <a:solidFill>
                      <a:srgbClr val="F3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30883581" name="Сноска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1C1D22"/>
                </a:solidFill>
                <a:latin typeface="Arial"/>
              </a:rPr>
              <a:t>Все строки посчитаны на смоделированных кандидатах. Разметку 200 пар делали два независимых автоматических оценщика. Команды проверки лежат в README.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4290</Words>
  <Application>Microsoft Office PowerPoint</Application>
  <PresentationFormat>Широкоэкранный</PresentationFormat>
  <Paragraphs>510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Courier New</vt:lpstr>
      <vt:lpstr>Wingdings</vt:lpstr>
      <vt:lpstr>Для Академия инноваторов 16_9</vt:lpstr>
      <vt:lpstr>ФСП ТАЛАНТ</vt:lpstr>
      <vt:lpstr>ФСП ТАЛАНТ</vt:lpstr>
      <vt:lpstr>КОМАНДА</vt:lpstr>
      <vt:lpstr>ИСТОРИЯ КОМАНДЫ</vt:lpstr>
      <vt:lpstr>КОРОТКО О РЕШЕНИИ</vt:lpstr>
      <vt:lpstr>Презентация PowerPoint</vt:lpstr>
      <vt:lpstr>НА ВАКАНСИЮ ВДВОЕ БОЛЬШЕ РЕЗЮМЕ</vt:lpstr>
      <vt:lpstr>ЧТО МЫ МЕНЯЕМ</vt:lpstr>
      <vt:lpstr>ДЛЯ РЕКРУТЕРА: ЧЕТЫРЕ ШАГА</vt:lpstr>
      <vt:lpstr>ПУТЬ КАНДИДАТА</vt:lpstr>
      <vt:lpstr>ВЫУЧЕННЫЙ ОТВЕТ НЕ ПОМОЖЕТ</vt:lpstr>
      <vt:lpstr>ТЕСТ ТОЧНО РАЗЛИЧАЕТ ГРЕЙДЫ</vt:lpstr>
      <vt:lpstr>АДАПТИВНОСТЬ ОКУПАЕТСЯ</vt:lpstr>
      <vt:lpstr>В ТОПЕ ТЕ, КТО НУЖЕН</vt:lpstr>
      <vt:lpstr>КАК МЫ ПРОВЕРЯЕМ</vt:lpstr>
      <vt:lpstr>ЭКРАНЫ СО СТЕНДА</vt:lpstr>
      <vt:lpstr>ПОБЕДЫ ФСП ТОЛЬКО ПОДНИМАЮТ</vt:lpstr>
      <vt:lpstr>КОНТАКТ ПОСЛЕ СОГЛАСИЯ</vt:lpstr>
      <vt:lpstr>СВЕРХ ОБЯЗАТЕЛЬНОГО</vt:lpstr>
      <vt:lpstr>С ТЕЛЕФОНА ТОЖЕ УДОБНО</vt:lpstr>
      <vt:lpstr>КОМУ ЭТО НУЖНО</vt:lpstr>
      <vt:lpstr>ЭФФЕКТ ДЛЯ РАБОТОДАТЕЛЯ</vt:lpstr>
      <vt:lpstr>ГОТОВО К ПИЛОТУ</vt:lpstr>
      <vt:lpstr>ЧТО НАСТОЯЩЕЕ, ЧТО ИМИТАЦИЯ</vt:lpstr>
      <vt:lpstr>ТЕСТЫ, НАГРУЗКА, ДОСТУПНОСТЬ</vt:lpstr>
      <vt:lpstr>ЧЕМ МЫ ОТЛИЧАЕМСЯ</vt:lpstr>
      <vt:lpstr>ПОСЛЕ ХАКАТОНА</vt:lpstr>
      <vt:lpstr>ПРОВЕРЬТЕ САМИ</vt:lpstr>
      <vt:lpstr>СПАСИБО!</vt:lpstr>
      <vt:lpstr>ПРИЛОЖЕНИЕ · КРИТЕРИИ ТЗ</vt:lpstr>
      <vt:lpstr>ПРИЛОЖЕНИЕ · СВОД МЕТРИК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ФСП Талант — питч ЛЦТ 2026</dc:title>
  <dc:creator>Команда «ФСП Талант»</dc:creator>
  <cp:lastModifiedBy>Ivan Ivanov</cp:lastModifiedBy>
  <cp:revision>100</cp:revision>
  <dcterms:created xsi:type="dcterms:W3CDTF">2023-05-15T07:36:23Z</dcterms:created>
  <dcterms:modified xsi:type="dcterms:W3CDTF">2026-10-11T19:47:57Z</dcterms:modified>
</cp:coreProperties>
</file>